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ink/ink9.xml" ContentType="application/inkml+xml"/>
  <Override PartName="/ppt/ink/ink10.xml" ContentType="application/inkml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1" r:id="rId6"/>
    <p:sldId id="270" r:id="rId7"/>
    <p:sldId id="262" r:id="rId8"/>
    <p:sldId id="271" r:id="rId9"/>
    <p:sldId id="308" r:id="rId10"/>
    <p:sldId id="274" r:id="rId11"/>
    <p:sldId id="272" r:id="rId12"/>
    <p:sldId id="275" r:id="rId13"/>
    <p:sldId id="273" r:id="rId14"/>
    <p:sldId id="282" r:id="rId15"/>
    <p:sldId id="277" r:id="rId16"/>
    <p:sldId id="279" r:id="rId17"/>
    <p:sldId id="280" r:id="rId18"/>
    <p:sldId id="281" r:id="rId19"/>
    <p:sldId id="283" r:id="rId20"/>
    <p:sldId id="284" r:id="rId21"/>
    <p:sldId id="285" r:id="rId22"/>
    <p:sldId id="286" r:id="rId23"/>
    <p:sldId id="287" r:id="rId24"/>
    <p:sldId id="288" r:id="rId25"/>
    <p:sldId id="289" r:id="rId26"/>
    <p:sldId id="290" r:id="rId27"/>
    <p:sldId id="291" r:id="rId28"/>
    <p:sldId id="293" r:id="rId29"/>
    <p:sldId id="292" r:id="rId30"/>
    <p:sldId id="297" r:id="rId31"/>
    <p:sldId id="264" r:id="rId32"/>
    <p:sldId id="295" r:id="rId33"/>
    <p:sldId id="265" r:id="rId34"/>
    <p:sldId id="266" r:id="rId35"/>
    <p:sldId id="294" r:id="rId36"/>
    <p:sldId id="296" r:id="rId37"/>
    <p:sldId id="298" r:id="rId38"/>
    <p:sldId id="301" r:id="rId39"/>
    <p:sldId id="299" r:id="rId40"/>
    <p:sldId id="300" r:id="rId41"/>
    <p:sldId id="302" r:id="rId42"/>
    <p:sldId id="267" r:id="rId43"/>
    <p:sldId id="268" r:id="rId44"/>
    <p:sldId id="303" r:id="rId45"/>
    <p:sldId id="304" r:id="rId46"/>
    <p:sldId id="305" r:id="rId47"/>
    <p:sldId id="306" r:id="rId48"/>
    <p:sldId id="307" r:id="rId49"/>
    <p:sldId id="269" r:id="rId50"/>
  </p:sldIdLst>
  <p:sldSz cx="9144000" cy="6858000" type="screen4x3"/>
  <p:notesSz cx="6858000" cy="9144000"/>
  <p:embeddedFontLst>
    <p:embeddedFont>
      <p:font typeface="Aptos Narrow" panose="020B0004020202020204" pitchFamily="34" charset="0"/>
      <p:regular r:id="rId52"/>
      <p:bold r:id="rId53"/>
      <p:italic r:id="rId54"/>
      <p:boldItalic r:id="rId55"/>
    </p:embeddedFont>
    <p:embeddedFont>
      <p:font typeface="Helvetica Neue" panose="020B0604020202020204" charset="0"/>
      <p:regular r:id="rId56"/>
      <p:bold r:id="rId57"/>
      <p:italic r:id="rId58"/>
      <p:boldItalic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2626"/>
    <a:srgbClr val="292929"/>
    <a:srgbClr val="35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Estilo Mé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38" y="72"/>
      </p:cViewPr>
      <p:guideLst>
        <p:guide orient="horz" pos="2160"/>
        <p:guide pos="2880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4.fntdata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2.fntdata"/><Relationship Id="rId58" Type="http://schemas.openxmlformats.org/officeDocument/2006/relationships/font" Target="fonts/font7.fntdata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3.fntdata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6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1.fntdata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f3499cbe4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g13f3499cbe4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g13f3499cbe4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15c6bb4ace9_0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15c6bb4ace9_0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g15c6bb4ace9_0_1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3f4f86f171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3f4f86f171_0_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g13f4f86f171_0_3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15c6bb4b051_5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15c6bb4b051_5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15c6bb4b051_5_37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>
          <a:extLst>
            <a:ext uri="{FF2B5EF4-FFF2-40B4-BE49-F238E27FC236}">
              <a16:creationId xmlns:a16="http://schemas.microsoft.com/office/drawing/2014/main" id="{52499E11-8DA7-BBA4-AD19-0BC00FE8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15c6bb4b051_5_376:notes">
            <a:extLst>
              <a:ext uri="{FF2B5EF4-FFF2-40B4-BE49-F238E27FC236}">
                <a16:creationId xmlns:a16="http://schemas.microsoft.com/office/drawing/2014/main" id="{4C3DE513-7775-BC9D-ABD9-A8FA2C526A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15c6bb4b051_5_376:notes">
            <a:extLst>
              <a:ext uri="{FF2B5EF4-FFF2-40B4-BE49-F238E27FC236}">
                <a16:creationId xmlns:a16="http://schemas.microsoft.com/office/drawing/2014/main" id="{8D27FBC6-8538-78BF-3A1E-EFFA78471A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15c6bb4b051_5_376:notes">
            <a:extLst>
              <a:ext uri="{FF2B5EF4-FFF2-40B4-BE49-F238E27FC236}">
                <a16:creationId xmlns:a16="http://schemas.microsoft.com/office/drawing/2014/main" id="{C961FAA7-F40B-E496-E9DE-0D0833121F2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95424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15c6bb4ace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15c6bb4ace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g15c6bb4ace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EBD61264-A81D-BE8B-FB62-5D95FFA48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B1F0307F-604A-281C-8203-9F571F9E4C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9F18C239-128B-4BDB-17A5-CB33B75A62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FD714619-6106-CEF5-C2AD-8788BD9145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064514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C26B1BE1-E03F-A66D-15E5-A0C89B6C8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AF8FE6F1-EF27-145B-3B6B-55D7884C91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5B728654-744E-6DE2-BD26-ECA5256B19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96CB9CFE-88D7-AB22-141F-BF868A5A94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365317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>
          <a:extLst>
            <a:ext uri="{FF2B5EF4-FFF2-40B4-BE49-F238E27FC236}">
              <a16:creationId xmlns:a16="http://schemas.microsoft.com/office/drawing/2014/main" id="{DF61ED7C-0237-A27A-663E-DC0720D21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15c6bb4ace9_0_0:notes">
            <a:extLst>
              <a:ext uri="{FF2B5EF4-FFF2-40B4-BE49-F238E27FC236}">
                <a16:creationId xmlns:a16="http://schemas.microsoft.com/office/drawing/2014/main" id="{44F209B2-BBA7-607D-6FBD-CDF9CF698E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15c6bb4ace9_0_0:notes">
            <a:extLst>
              <a:ext uri="{FF2B5EF4-FFF2-40B4-BE49-F238E27FC236}">
                <a16:creationId xmlns:a16="http://schemas.microsoft.com/office/drawing/2014/main" id="{E4740051-B852-C721-8240-BFFFF3F891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g15c6bb4ace9_0_0:notes">
            <a:extLst>
              <a:ext uri="{FF2B5EF4-FFF2-40B4-BE49-F238E27FC236}">
                <a16:creationId xmlns:a16="http://schemas.microsoft.com/office/drawing/2014/main" id="{8E05E082-BC44-95E1-5CFF-78BC0DBE55F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03481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25305A00-5231-E5CE-C4A0-C1E7B226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0378557D-F940-DEDB-E1AD-AAF26E9D0B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D3764C4D-555C-70CE-36CB-AE4F44BBD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9B694E2A-5551-14F9-3102-C0F8B80ADAF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1020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938BD292-184B-34D1-0F6C-B406931A7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45E30FC5-FDA5-07ED-28FF-755040CD7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6073CCD6-B376-7687-8DD8-C581FD287E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975E95D7-0A62-1E69-65A7-762FB48EC4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07462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E4FC97F1-0A0B-4E9D-5328-34E7B8AFD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7746699-420B-4384-2542-60A80CE405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D11FFDF4-9C12-D6E7-48EA-4FEE9E1452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2DB079C6-928C-F56B-EC0F-7AE1C22CC5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68137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87870213-FD2D-22BE-B46A-AA086194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174DE42-0774-4C73-A50A-9852C30623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766DD74F-CFC1-B91B-DBD3-C9A949508D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265B531A-4F88-1AE3-4138-0098E2C02E1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161325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8A8681BD-35A2-4645-AC2E-832C34865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FD16E3FE-B1BC-9AB9-C268-8261B63F23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A5310CE3-F9C8-39AD-4E95-0FEE138019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B9AFDCD1-DB0A-5EE6-7D27-DAE29540A0F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490435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4064BABC-9566-31F2-D584-D06FC9B3B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80642355-CB4C-0E41-6FB6-B5E874929A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2B4E7229-35C2-3209-27CE-C4F8A7738D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73126341-AE51-DD91-14A1-8F5FD31DD65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52663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DF0C3866-3FC1-F334-8A01-F5FCE5199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6C1C7B53-1D40-D58D-290F-0A295932A1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761302B8-E124-7918-72D8-F00A76812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CE8EE470-425F-3561-734A-948BBF8BE0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50051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B1B7A0D0-DD83-48E9-B122-E8B05EE5D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5594A0A7-B4E5-B763-4D92-27B846FB08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1C486686-8800-035F-D7DA-5B68C8656B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1D814F8D-F492-1CAA-8721-49FFC3B321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827673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A4FA8CEC-4395-E15C-5FD1-F469B7795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CA4B18B9-7597-3EE0-E99E-AB7A03FB0A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F914CDC5-C37A-945C-5748-B2AB67A5DC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159D1614-C31F-262B-DDAA-3F44F634F50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195612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C61F778D-E488-7080-D6CC-0E63008FB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6C7B7D4-3251-BC27-18B4-CAD3DB49CF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E19B4BC4-0ACF-DC98-840F-9F5E7CA170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A2BF840F-11BB-3465-8829-81871B993E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851445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35A8A1CD-BA6B-F91A-C434-94043C15E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FCBDDFE4-65C2-1EED-3A77-C3A69DCE9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37E9B4CF-CFDE-1382-40B4-AF3DECB87D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0907AA7F-2088-C583-871C-FE758154BE1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625849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E82746D6-7C99-D24A-9996-FCD1D5829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32D6E11C-56B5-3335-B448-9183FE1024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78D9AC90-A151-452B-7B1E-933D5E1D04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E0191384-7BAC-03A0-B423-A30CC28DDD2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748529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5499D1BC-FC79-F544-C0A5-87B6B6069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622673E0-EA37-AFBA-B34C-0628291F35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FDF00248-08CE-899E-4E48-9D0B9A3FEC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CA039167-C545-7629-4271-CBCCA4146CE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71661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86A71B6B-7038-3CE7-EBB3-16E2A907E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AEDBAAAB-B859-B579-94BB-EF752A0F17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5C030E4C-63B3-A0B2-FE31-43F5FAFD06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88D4B6ED-2293-5532-A24E-3104805F35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031196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C9C0ED85-502F-5069-2623-E65FF6790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5ED88BA5-1B11-C80D-C066-184DFC5BC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9D8D4FFC-F3BF-1A3E-904A-1051D40F13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1F13B49B-3E9D-9B31-C5BF-FB2325C93F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4295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DD29F37D-0ABF-1927-F87B-651C60530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319DE620-E217-CA0C-EB9B-36B98F3C6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0A07A3C3-E9BD-09AA-8342-384AE1F455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69A2270A-1256-FE95-8E7A-1AD16962E0F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742327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38A61749-ACB8-31F1-03B9-84D5F07B3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5A4E9A6-FDEC-C4FD-34F0-37CB98B01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39B69AF2-0D8A-E0C0-8244-AC3B801292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57FBE5AB-A0D3-B148-3799-38C482E83B9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747259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CEDC215F-7B2D-9E6A-0521-FD6BF46A7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B5B4FDD-545B-46F7-8065-8315DD03D4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A0C0B59A-39AF-E919-08CB-9E0119B1B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B38B8C54-8F4A-B38D-18DB-2A699F56B0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25276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D298B6F3-6672-4637-DBD9-F88F6BCFD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73261160-4532-87DF-DF3B-8AF54BE29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7C880DF7-E8C3-9A65-B995-1A3A7B4CA1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9A82D07B-A121-3152-A902-F45171F13A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4871487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B58BB80F-9DF7-5937-C95A-C668F6D25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5E061A61-281F-81FF-3AFD-C216AF8150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7F59708F-CE76-D6FF-59DA-3EB92FB9D7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7302DF97-98A5-7445-ACB8-91306D1EBFC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1438486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1df028f5a1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1df028f5a1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1df028f5a1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3D0223B7-2654-3F76-43BA-E523B9551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18E2CA3F-553B-0995-5185-A341AD8A42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C7CDAACB-B865-47C5-7656-C58C0F40D2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C8551C77-7DD9-EA97-24A1-B105F82505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2325372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1df028f5a1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1df028f5a16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g1df028f5a16_0_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2BBB3565-8E8A-29BE-054D-A267DE83E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87771836-477B-B913-771A-0FC9FD44C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CD060337-21CD-051A-A70E-92F2575CD7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36965519-72F3-5496-C4A3-21E8FA5CD6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5415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5A57C89-067B-1BD3-4537-E2BF89236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1df028f5a16_0_0:notes">
            <a:extLst>
              <a:ext uri="{FF2B5EF4-FFF2-40B4-BE49-F238E27FC236}">
                <a16:creationId xmlns:a16="http://schemas.microsoft.com/office/drawing/2014/main" id="{1700029A-656C-8E57-D780-67120DEF54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1df028f5a16_0_0:notes">
            <a:extLst>
              <a:ext uri="{FF2B5EF4-FFF2-40B4-BE49-F238E27FC236}">
                <a16:creationId xmlns:a16="http://schemas.microsoft.com/office/drawing/2014/main" id="{405E5811-6682-8A93-8228-1A59D68169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1df028f5a16_0_0:notes">
            <a:extLst>
              <a:ext uri="{FF2B5EF4-FFF2-40B4-BE49-F238E27FC236}">
                <a16:creationId xmlns:a16="http://schemas.microsoft.com/office/drawing/2014/main" id="{F8C113E1-C6EE-034F-B194-E04558360B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3512668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151046F1-AF43-E7C7-FF0F-D4031B7DC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831ACBDF-155C-0F3A-7037-70D1D5068F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524E6468-FD94-1EC3-5306-A8DFAC198C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D390506C-FE34-DD00-A281-538D6F0E2A7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5504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6C212676-85A9-C65C-78A0-0C70E0B25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D1C5D590-8261-CD94-2467-4E6E543A4E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4433897B-67B4-CE87-A790-2F493D609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E0BE6356-1D55-6622-0A23-46AC23FEC5B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919909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54C5DD5D-FD64-23B2-79D7-C68A4D9EA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51872935-3F5D-FD2F-97BF-3B6DD6194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D7762211-A5A7-62EE-6B8A-7725BF4450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557E146C-72FA-37B6-CF8D-3E82DB24CC6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929242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B4F51A9B-ACFD-F407-3396-F5C65B47B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E21DF239-E279-F67A-CF2D-73583FFD85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A5AF8564-D608-2587-2664-E82A3A481F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98716FA3-6AC4-581F-DB34-E28765BE42B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1048244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30059AFE-A24C-D9EA-F98D-5C367B0F9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B86D5111-5A6C-371F-A780-B40AD19690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4F2AC15B-200C-367A-0738-91EE1BBEE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3308D17F-6EE8-8DA9-4090-CCD2CE6D04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4278003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3f4f86f171_0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3f4f86f171_0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13f4f86f171_0_35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5c6bb4b051_5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5c6bb4b051_5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15c6bb4b051_5_17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>
          <a:extLst>
            <a:ext uri="{FF2B5EF4-FFF2-40B4-BE49-F238E27FC236}">
              <a16:creationId xmlns:a16="http://schemas.microsoft.com/office/drawing/2014/main" id="{DABB682E-4914-595B-FFBF-702D82D9B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5c6bb4b051_5_173:notes">
            <a:extLst>
              <a:ext uri="{FF2B5EF4-FFF2-40B4-BE49-F238E27FC236}">
                <a16:creationId xmlns:a16="http://schemas.microsoft.com/office/drawing/2014/main" id="{4DAA0FCC-489A-2CFE-611C-BA31635CCD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5c6bb4b051_5_173:notes">
            <a:extLst>
              <a:ext uri="{FF2B5EF4-FFF2-40B4-BE49-F238E27FC236}">
                <a16:creationId xmlns:a16="http://schemas.microsoft.com/office/drawing/2014/main" id="{AAA3878E-77BC-EC42-1398-85A716193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15c6bb4b051_5_173:notes">
            <a:extLst>
              <a:ext uri="{FF2B5EF4-FFF2-40B4-BE49-F238E27FC236}">
                <a16:creationId xmlns:a16="http://schemas.microsoft.com/office/drawing/2014/main" id="{D8D7356D-1223-8002-139C-8B8D746B12E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3361465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>
          <a:extLst>
            <a:ext uri="{FF2B5EF4-FFF2-40B4-BE49-F238E27FC236}">
              <a16:creationId xmlns:a16="http://schemas.microsoft.com/office/drawing/2014/main" id="{8BC76785-169C-93D7-B922-D3FF9A9F8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5c6bb4b051_5_173:notes">
            <a:extLst>
              <a:ext uri="{FF2B5EF4-FFF2-40B4-BE49-F238E27FC236}">
                <a16:creationId xmlns:a16="http://schemas.microsoft.com/office/drawing/2014/main" id="{9C8EE50E-80A4-45D8-E186-57D90449E1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5c6bb4b051_5_173:notes">
            <a:extLst>
              <a:ext uri="{FF2B5EF4-FFF2-40B4-BE49-F238E27FC236}">
                <a16:creationId xmlns:a16="http://schemas.microsoft.com/office/drawing/2014/main" id="{FD386E2C-7DBC-1ECA-D19B-95E7CBB0AC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15c6bb4b051_5_173:notes">
            <a:extLst>
              <a:ext uri="{FF2B5EF4-FFF2-40B4-BE49-F238E27FC236}">
                <a16:creationId xmlns:a16="http://schemas.microsoft.com/office/drawing/2014/main" id="{C56E15B1-0312-B6D4-BBD8-D1B6748C50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6358950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>
          <a:extLst>
            <a:ext uri="{FF2B5EF4-FFF2-40B4-BE49-F238E27FC236}">
              <a16:creationId xmlns:a16="http://schemas.microsoft.com/office/drawing/2014/main" id="{D3C54FAC-09A4-B78F-DC32-35322ACAF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5c6bb4b051_5_173:notes">
            <a:extLst>
              <a:ext uri="{FF2B5EF4-FFF2-40B4-BE49-F238E27FC236}">
                <a16:creationId xmlns:a16="http://schemas.microsoft.com/office/drawing/2014/main" id="{CE9A4C8C-B1E0-CA35-378B-91B2B6768F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5c6bb4b051_5_173:notes">
            <a:extLst>
              <a:ext uri="{FF2B5EF4-FFF2-40B4-BE49-F238E27FC236}">
                <a16:creationId xmlns:a16="http://schemas.microsoft.com/office/drawing/2014/main" id="{673BD481-97D1-DA12-12A9-1720A3F30D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15c6bb4b051_5_173:notes">
            <a:extLst>
              <a:ext uri="{FF2B5EF4-FFF2-40B4-BE49-F238E27FC236}">
                <a16:creationId xmlns:a16="http://schemas.microsoft.com/office/drawing/2014/main" id="{C05626E7-D60A-DF36-AFB9-9F8742FCE18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771735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>
          <a:extLst>
            <a:ext uri="{FF2B5EF4-FFF2-40B4-BE49-F238E27FC236}">
              <a16:creationId xmlns:a16="http://schemas.microsoft.com/office/drawing/2014/main" id="{35430C85-C9F3-95F4-8BC7-B136C9232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5c6bb4b051_5_173:notes">
            <a:extLst>
              <a:ext uri="{FF2B5EF4-FFF2-40B4-BE49-F238E27FC236}">
                <a16:creationId xmlns:a16="http://schemas.microsoft.com/office/drawing/2014/main" id="{740302B5-FC67-6A80-7269-97EDA005D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5c6bb4b051_5_173:notes">
            <a:extLst>
              <a:ext uri="{FF2B5EF4-FFF2-40B4-BE49-F238E27FC236}">
                <a16:creationId xmlns:a16="http://schemas.microsoft.com/office/drawing/2014/main" id="{E7011031-ADDA-156B-C9F7-519B51C60C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15c6bb4b051_5_173:notes">
            <a:extLst>
              <a:ext uri="{FF2B5EF4-FFF2-40B4-BE49-F238E27FC236}">
                <a16:creationId xmlns:a16="http://schemas.microsoft.com/office/drawing/2014/main" id="{55C0DF8B-0B81-9003-A5F7-D45D3B013A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686062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>
          <a:extLst>
            <a:ext uri="{FF2B5EF4-FFF2-40B4-BE49-F238E27FC236}">
              <a16:creationId xmlns:a16="http://schemas.microsoft.com/office/drawing/2014/main" id="{65B5336F-4AA5-41F0-9417-169EBA19A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5c6bb4b051_5_173:notes">
            <a:extLst>
              <a:ext uri="{FF2B5EF4-FFF2-40B4-BE49-F238E27FC236}">
                <a16:creationId xmlns:a16="http://schemas.microsoft.com/office/drawing/2014/main" id="{50751F4D-D445-0C52-5BF4-C35CCB681F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5c6bb4b051_5_173:notes">
            <a:extLst>
              <a:ext uri="{FF2B5EF4-FFF2-40B4-BE49-F238E27FC236}">
                <a16:creationId xmlns:a16="http://schemas.microsoft.com/office/drawing/2014/main" id="{05342C2A-8B8C-F0DD-C1A2-C6953DF181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15c6bb4b051_5_173:notes">
            <a:extLst>
              <a:ext uri="{FF2B5EF4-FFF2-40B4-BE49-F238E27FC236}">
                <a16:creationId xmlns:a16="http://schemas.microsoft.com/office/drawing/2014/main" id="{8FF37FAB-6759-5355-FE1A-76512D75086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155195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5c6bb4ace9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5c6bb4ace9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3" name="Google Shape;323;g15c6bb4ace9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4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4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2308949" y="-251550"/>
            <a:ext cx="45261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is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4732349" y="2171688"/>
            <a:ext cx="58515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541350" y="190488"/>
            <a:ext cx="585150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1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11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5" Type="http://schemas.openxmlformats.org/officeDocument/2006/relationships/image" Target="../media/image11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5.xml"/><Relationship Id="rId5" Type="http://schemas.openxmlformats.org/officeDocument/2006/relationships/image" Target="../media/image11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customXml" Target="../ink/ink8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7.xml"/><Relationship Id="rId5" Type="http://schemas.openxmlformats.org/officeDocument/2006/relationships/image" Target="../media/image11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9.xml"/><Relationship Id="rId5" Type="http://schemas.openxmlformats.org/officeDocument/2006/relationships/image" Target="../media/image11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20.jpeg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jpeg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/>
        </p:nvSpPr>
        <p:spPr>
          <a:xfrm>
            <a:off x="29840" y="4293096"/>
            <a:ext cx="9144000" cy="21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b="1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Aluno:</a:t>
            </a: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Maxwell Rodrigues da Silva</a:t>
            </a:r>
            <a:b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600" b="1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Orientador:</a:t>
            </a: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Prof. Dr. Marcelo </a:t>
            </a:r>
            <a:r>
              <a:rPr lang="pt-BR" sz="1600" dirty="0" err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Götz</a:t>
            </a:r>
            <a:endParaRPr sz="16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br>
              <a:rPr lang="pt-BR" sz="18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sz="18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b="1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Banca Examinadora:</a:t>
            </a:r>
            <a:endParaRPr sz="1600" b="1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Prof. Dr. Marcelo </a:t>
            </a:r>
            <a:r>
              <a:rPr lang="pt-BR" sz="1600" dirty="0" err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Götz</a:t>
            </a:r>
            <a:endParaRPr sz="16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Prof. Dr. Rafael Laranja</a:t>
            </a:r>
            <a:endParaRPr sz="16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Prof. Dr. Aurélio Salton</a:t>
            </a:r>
            <a:endParaRPr sz="16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br>
              <a:rPr lang="pt-BR" sz="1800" i="0" u="none" strike="noStrike" cap="none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br>
              <a:rPr lang="pt-BR" sz="1800" i="0" u="none" strike="noStrike" cap="none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sz="1800" i="0" u="none" strike="noStrike" cap="none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i="0" u="none" strike="noStrike" cap="none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endParaRPr sz="2200" i="0" u="none" strike="noStrike" cap="none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489511" y="1601623"/>
            <a:ext cx="8164978" cy="2154300"/>
          </a:xfrm>
          <a:prstGeom prst="roundRect">
            <a:avLst>
              <a:gd name="adj" fmla="val 16667"/>
            </a:avLst>
          </a:prstGeom>
          <a:solidFill>
            <a:srgbClr val="17365D"/>
          </a:solidFill>
          <a:ln>
            <a:noFill/>
          </a:ln>
          <a:effectLst>
            <a:outerShdw blurRad="177800" dist="1524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1736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0" y="-25"/>
            <a:ext cx="9144000" cy="9963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489511" y="1828737"/>
            <a:ext cx="8164978" cy="1781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pt-BR" sz="3800" b="1" dirty="0">
                <a:solidFill>
                  <a:srgbClr val="F2F2F2"/>
                </a:solidFill>
                <a:latin typeface="Helvetica Neue"/>
              </a:rPr>
              <a:t>APLICAÇÃO E AVALIAÇÃO DE MACHINE LEARNING EM DISPOSITIVOS EMBARCADOS</a:t>
            </a:r>
            <a:endParaRPr lang="pt-BR" sz="3800" b="1" dirty="0">
              <a:solidFill>
                <a:srgbClr val="F2F2F2"/>
              </a:solidFill>
              <a:latin typeface="Helvetica Neue"/>
              <a:sym typeface="Helvetica Neue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0" y="0"/>
            <a:ext cx="91440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4" name="Google Shape;9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3"/>
          <p:cNvSpPr txBox="1"/>
          <p:nvPr/>
        </p:nvSpPr>
        <p:spPr>
          <a:xfrm>
            <a:off x="3259393" y="5753962"/>
            <a:ext cx="2625213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Dezembro de 2025</a:t>
            </a:r>
            <a:endParaRPr sz="1600" b="1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7" name="Google Shape;97;p13"/>
          <p:cNvSpPr/>
          <p:nvPr/>
        </p:nvSpPr>
        <p:spPr>
          <a:xfrm>
            <a:off x="0" y="6510475"/>
            <a:ext cx="9144000" cy="3474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18;p14">
            <a:extLst>
              <a:ext uri="{FF2B5EF4-FFF2-40B4-BE49-F238E27FC236}">
                <a16:creationId xmlns:a16="http://schemas.microsoft.com/office/drawing/2014/main" id="{D76678DF-A369-7165-53A3-645E9AE03EF0}"/>
              </a:ext>
            </a:extLst>
          </p:cNvPr>
          <p:cNvSpPr txBox="1"/>
          <p:nvPr/>
        </p:nvSpPr>
        <p:spPr>
          <a:xfrm>
            <a:off x="1526699" y="94273"/>
            <a:ext cx="6090600" cy="721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UNIVERSIDADE FEDERAL DO RIO GRANDE DO SUL</a:t>
            </a:r>
          </a:p>
          <a:p>
            <a:pPr algn="ctr"/>
            <a:r>
              <a:rPr lang="pt-BR" b="1" dirty="0">
                <a:solidFill>
                  <a:schemeClr val="bg1"/>
                </a:solidFill>
              </a:rPr>
              <a:t>ESCOLA DE ENGENHARIA</a:t>
            </a:r>
          </a:p>
          <a:p>
            <a:pPr algn="ctr"/>
            <a:r>
              <a:rPr lang="pt-BR" b="1" dirty="0">
                <a:solidFill>
                  <a:schemeClr val="bg1"/>
                </a:solidFill>
              </a:rPr>
              <a:t>ENGENHARIA DE CONTROLE E AUTOMAÇÃO</a:t>
            </a:r>
            <a:endParaRPr sz="3000" b="1" i="1" u="none" strike="noStrike" cap="none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2479025" y="2126860"/>
            <a:ext cx="4470412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2479024" y="2707349"/>
            <a:ext cx="4470413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2479025" y="3270360"/>
            <a:ext cx="4470414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2479025" y="3845670"/>
            <a:ext cx="4470412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2479024" y="4418280"/>
            <a:ext cx="4470411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2479024" y="1558960"/>
            <a:ext cx="4470415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9" name="Google Shape;109;p14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1" name="Google Shape;11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8209300" y="6555575"/>
            <a:ext cx="934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Sumário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2479025" y="1557125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2848925" y="1527275"/>
            <a:ext cx="399383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just">
              <a:buNone/>
              <a:defRPr sz="18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</a:defRPr>
            </a:lvl1pPr>
          </a:lstStyle>
          <a:p>
            <a:r>
              <a:rPr lang="pt-BR" dirty="0"/>
              <a:t>Introdução: Motivações e Objetivos</a:t>
            </a:r>
            <a:endParaRPr dirty="0">
              <a:sym typeface="Helvetica Neue"/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2479025" y="2128875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2848925" y="2099025"/>
            <a:ext cx="2613091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just">
              <a:buNone/>
              <a:defRPr sz="18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</a:defRPr>
            </a:lvl1pPr>
          </a:lstStyle>
          <a:p>
            <a:r>
              <a:rPr lang="pt-BR" dirty="0"/>
              <a:t>Problema e hipótese</a:t>
            </a:r>
            <a:endParaRPr dirty="0">
              <a:sym typeface="Helvetica Neue"/>
            </a:endParaRPr>
          </a:p>
        </p:txBody>
      </p:sp>
      <p:sp>
        <p:nvSpPr>
          <p:cNvPr id="123" name="Google Shape;123;p14"/>
          <p:cNvSpPr/>
          <p:nvPr/>
        </p:nvSpPr>
        <p:spPr>
          <a:xfrm>
            <a:off x="2479025" y="2700625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4" name="Google Shape;124;p14"/>
          <p:cNvSpPr txBox="1"/>
          <p:nvPr/>
        </p:nvSpPr>
        <p:spPr>
          <a:xfrm>
            <a:off x="2848925" y="2670775"/>
            <a:ext cx="2235139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just"/>
            <a:r>
              <a:rPr lang="pt-BR" sz="1800" b="1" dirty="0">
                <a:solidFill>
                  <a:srgbClr val="F2F2F2"/>
                </a:solidFill>
                <a:latin typeface="Helvetica Neue"/>
              </a:rPr>
              <a:t>Metodologia</a:t>
            </a:r>
            <a:r>
              <a:rPr lang="pt-BR" sz="1800" dirty="0"/>
              <a:t> </a:t>
            </a:r>
            <a:endParaRPr sz="18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5" name="Google Shape;125;p14"/>
          <p:cNvSpPr/>
          <p:nvPr/>
        </p:nvSpPr>
        <p:spPr>
          <a:xfrm>
            <a:off x="2479025" y="3272375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6" name="Google Shape;126;p14"/>
          <p:cNvSpPr txBox="1"/>
          <p:nvPr/>
        </p:nvSpPr>
        <p:spPr>
          <a:xfrm>
            <a:off x="2848925" y="3242525"/>
            <a:ext cx="410051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just">
              <a:defRPr sz="1800" b="1">
                <a:solidFill>
                  <a:srgbClr val="F2F2F2"/>
                </a:solidFill>
                <a:latin typeface="Helvetica Neue"/>
              </a:defRPr>
            </a:lvl1pPr>
          </a:lstStyle>
          <a:p>
            <a:r>
              <a:rPr lang="pt-BR" dirty="0"/>
              <a:t>Estudo de Caso: Categorização de lixo</a:t>
            </a:r>
            <a:endParaRPr dirty="0">
              <a:sym typeface="Helvetica Neue"/>
            </a:endParaRPr>
          </a:p>
        </p:txBody>
      </p:sp>
      <p:sp>
        <p:nvSpPr>
          <p:cNvPr id="127" name="Google Shape;127;p14"/>
          <p:cNvSpPr/>
          <p:nvPr/>
        </p:nvSpPr>
        <p:spPr>
          <a:xfrm>
            <a:off x="2479025" y="3844125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5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8" name="Google Shape;128;p14"/>
          <p:cNvSpPr txBox="1"/>
          <p:nvPr/>
        </p:nvSpPr>
        <p:spPr>
          <a:xfrm>
            <a:off x="2848925" y="3814275"/>
            <a:ext cx="2930083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just">
              <a:defRPr sz="1800" b="1">
                <a:solidFill>
                  <a:srgbClr val="F2F2F2"/>
                </a:solidFill>
                <a:latin typeface="Helvetica Neue"/>
              </a:defRPr>
            </a:lvl1pPr>
          </a:lstStyle>
          <a:p>
            <a:r>
              <a:rPr lang="pt-BR" dirty="0"/>
              <a:t>Modelo e Quantização</a:t>
            </a:r>
            <a:endParaRPr dirty="0">
              <a:sym typeface="Helvetica Neue"/>
            </a:endParaRPr>
          </a:p>
        </p:txBody>
      </p:sp>
      <p:sp>
        <p:nvSpPr>
          <p:cNvPr id="129" name="Google Shape;129;p14"/>
          <p:cNvSpPr/>
          <p:nvPr/>
        </p:nvSpPr>
        <p:spPr>
          <a:xfrm>
            <a:off x="2479025" y="4415875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6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0" name="Google Shape;130;p14"/>
          <p:cNvSpPr txBox="1"/>
          <p:nvPr/>
        </p:nvSpPr>
        <p:spPr>
          <a:xfrm>
            <a:off x="2848925" y="4386025"/>
            <a:ext cx="410051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just">
              <a:defRPr sz="1800" b="1">
                <a:solidFill>
                  <a:srgbClr val="F2F2F2"/>
                </a:solidFill>
                <a:latin typeface="Helvetica Neue"/>
              </a:defRPr>
            </a:lvl1pPr>
          </a:lstStyle>
          <a:p>
            <a:r>
              <a:rPr lang="pt-BR" dirty="0"/>
              <a:t>Implementação no Dispositivo</a:t>
            </a:r>
            <a:endParaRPr dirty="0">
              <a:sym typeface="Helvetica Neue"/>
            </a:endParaRPr>
          </a:p>
        </p:txBody>
      </p:sp>
      <p:sp>
        <p:nvSpPr>
          <p:cNvPr id="4" name="Google Shape;107;p14">
            <a:extLst>
              <a:ext uri="{FF2B5EF4-FFF2-40B4-BE49-F238E27FC236}">
                <a16:creationId xmlns:a16="http://schemas.microsoft.com/office/drawing/2014/main" id="{81093208-8156-A73E-579E-BE5E5A73AA75}"/>
              </a:ext>
            </a:extLst>
          </p:cNvPr>
          <p:cNvSpPr/>
          <p:nvPr/>
        </p:nvSpPr>
        <p:spPr>
          <a:xfrm>
            <a:off x="2479025" y="4967681"/>
            <a:ext cx="4470410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5" name="Google Shape;129;p14">
            <a:extLst>
              <a:ext uri="{FF2B5EF4-FFF2-40B4-BE49-F238E27FC236}">
                <a16:creationId xmlns:a16="http://schemas.microsoft.com/office/drawing/2014/main" id="{AA2389B9-92A1-5735-0C4E-5969D6F141B1}"/>
              </a:ext>
            </a:extLst>
          </p:cNvPr>
          <p:cNvSpPr/>
          <p:nvPr/>
        </p:nvSpPr>
        <p:spPr>
          <a:xfrm>
            <a:off x="2479025" y="4965276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7</a:t>
            </a:r>
            <a:endParaRPr sz="16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Google Shape;130;p14">
            <a:extLst>
              <a:ext uri="{FF2B5EF4-FFF2-40B4-BE49-F238E27FC236}">
                <a16:creationId xmlns:a16="http://schemas.microsoft.com/office/drawing/2014/main" id="{2042CBC7-CA8E-8E1A-14BA-E06E96867641}"/>
              </a:ext>
            </a:extLst>
          </p:cNvPr>
          <p:cNvSpPr txBox="1"/>
          <p:nvPr/>
        </p:nvSpPr>
        <p:spPr>
          <a:xfrm>
            <a:off x="2874125" y="4940444"/>
            <a:ext cx="2783779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just">
              <a:defRPr sz="1800" b="1">
                <a:solidFill>
                  <a:srgbClr val="F2F2F2"/>
                </a:solidFill>
                <a:latin typeface="Helvetica Neue"/>
              </a:defRPr>
            </a:lvl1pPr>
          </a:lstStyle>
          <a:p>
            <a:r>
              <a:rPr lang="pt-BR" dirty="0"/>
              <a:t>Resultados e Conclusões</a:t>
            </a:r>
            <a:endParaRPr dirty="0">
              <a:sym typeface="Helvetica Neue"/>
            </a:endParaRPr>
          </a:p>
        </p:txBody>
      </p:sp>
      <p:sp>
        <p:nvSpPr>
          <p:cNvPr id="7" name="Google Shape;225;p19">
            <a:extLst>
              <a:ext uri="{FF2B5EF4-FFF2-40B4-BE49-F238E27FC236}">
                <a16:creationId xmlns:a16="http://schemas.microsoft.com/office/drawing/2014/main" id="{509511DA-686D-FA3C-D694-AE37EA399ACC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Hipótese</a:t>
            </a:r>
            <a:endParaRPr sz="1000" b="1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5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9" name="Google Shape;13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5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5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5" name="Google Shape;145;p15"/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3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6" name="Google Shape;146;p15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25ECDFC-D18F-4798-E2F0-5945955895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9749" y="1660079"/>
            <a:ext cx="6364669" cy="46115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número de dispositivos IoT cresce continuamente e muitas aplicações exigem decisões em tempo real. </a:t>
            </a:r>
            <a:r>
              <a:rPr kumimoji="0" lang="pt-BR" altLang="pt-B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(Sinha, 2024)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Soluções baseadas em nuvem apresentam latência significativa e dependem de conectividade estável, o que limita aplicações críticas. </a:t>
            </a:r>
            <a:r>
              <a:rPr kumimoji="0" lang="pt-BR" altLang="pt-B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(Zen et al., 2022)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pt-BR" altLang="pt-B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TinyML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permite processamento local no próprio dispositivo, reduzindo a latência em 35–40% e aumentando a eficiência. </a:t>
            </a:r>
            <a:r>
              <a:rPr kumimoji="0" lang="pt-BR" altLang="pt-B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pt-BR" altLang="pt-BR" sz="18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Saraswathi</a:t>
            </a:r>
            <a:r>
              <a:rPr kumimoji="0" lang="pt-BR" altLang="pt-B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2025)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9" name="Google Shape;159;p16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0" name="Google Shape;160;p16"/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i="0" u="none" strike="noStrike" cap="none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2" name="Google Shape;162;p16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8DA2993-B45A-645D-67AA-33C8693DBE73}"/>
              </a:ext>
            </a:extLst>
          </p:cNvPr>
          <p:cNvSpPr txBox="1"/>
          <p:nvPr/>
        </p:nvSpPr>
        <p:spPr>
          <a:xfrm>
            <a:off x="1493784" y="1103566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Motivações</a:t>
            </a:r>
            <a:endParaRPr lang="pt-BR" sz="2800" b="1" dirty="0"/>
          </a:p>
        </p:txBody>
      </p:sp>
      <p:pic>
        <p:nvPicPr>
          <p:cNvPr id="9" name="Gráfico 8" descr="Tendência ascendente com preenchimento sólido">
            <a:extLst>
              <a:ext uri="{FF2B5EF4-FFF2-40B4-BE49-F238E27FC236}">
                <a16:creationId xmlns:a16="http://schemas.microsoft.com/office/drawing/2014/main" id="{347CEAC4-A302-4003-AA78-EECB16D536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93784" y="1908173"/>
            <a:ext cx="914400" cy="914400"/>
          </a:xfrm>
          <a:prstGeom prst="rect">
            <a:avLst/>
          </a:prstGeom>
        </p:spPr>
      </p:pic>
      <p:pic>
        <p:nvPicPr>
          <p:cNvPr id="11" name="Gráfico 10" descr="Baixar da nuvem com preenchimento sólido">
            <a:extLst>
              <a:ext uri="{FF2B5EF4-FFF2-40B4-BE49-F238E27FC236}">
                <a16:creationId xmlns:a16="http://schemas.microsoft.com/office/drawing/2014/main" id="{0ACB48A0-433F-75AF-DB0C-C073950055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3784" y="3578228"/>
            <a:ext cx="914400" cy="914400"/>
          </a:xfrm>
          <a:prstGeom prst="rect">
            <a:avLst/>
          </a:prstGeom>
        </p:spPr>
      </p:pic>
      <p:pic>
        <p:nvPicPr>
          <p:cNvPr id="13" name="Gráfico 12" descr="Processador com preenchimento sólido">
            <a:extLst>
              <a:ext uri="{FF2B5EF4-FFF2-40B4-BE49-F238E27FC236}">
                <a16:creationId xmlns:a16="http://schemas.microsoft.com/office/drawing/2014/main" id="{0DF90D24-490D-F684-82C0-E1BEAC241AB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93784" y="5248283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6" name="Google Shape;18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8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8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1" name="Google Shape;191;p18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2" name="Google Shape;192;p18"/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5/xx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3" name="Google Shape;193;p18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Objetivos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194" name="Google Shape;194;p18"/>
          <p:cNvGrpSpPr/>
          <p:nvPr/>
        </p:nvGrpSpPr>
        <p:grpSpPr>
          <a:xfrm>
            <a:off x="2479025" y="2702050"/>
            <a:ext cx="5899175" cy="871500"/>
            <a:chOff x="2479025" y="2702050"/>
            <a:chExt cx="5899175" cy="871500"/>
          </a:xfrm>
        </p:grpSpPr>
        <p:sp>
          <p:nvSpPr>
            <p:cNvPr id="195" name="Google Shape;195;p18"/>
            <p:cNvSpPr/>
            <p:nvPr/>
          </p:nvSpPr>
          <p:spPr>
            <a:xfrm>
              <a:off x="2641300" y="2761150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2848925" y="2797900"/>
              <a:ext cx="54624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dirty="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Levantar e analisar as plataformas de hardware para projetos </a:t>
              </a:r>
              <a:r>
                <a:rPr lang="pt-BR" sz="1800" dirty="0" err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TinyML</a:t>
              </a:r>
              <a:r>
                <a:rPr lang="pt-BR" sz="1800" dirty="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 sz="1800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97" name="Google Shape;197;p18"/>
            <p:cNvSpPr/>
            <p:nvPr/>
          </p:nvSpPr>
          <p:spPr>
            <a:xfrm>
              <a:off x="2479025" y="2702050"/>
              <a:ext cx="395100" cy="402000"/>
            </a:xfrm>
            <a:prstGeom prst="rect">
              <a:avLst/>
            </a:prstGeom>
            <a:solidFill>
              <a:srgbClr val="20365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2</a:t>
              </a:r>
              <a:endParaRPr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98" name="Google Shape;198;p18"/>
          <p:cNvGrpSpPr/>
          <p:nvPr/>
        </p:nvGrpSpPr>
        <p:grpSpPr>
          <a:xfrm>
            <a:off x="2479025" y="1557125"/>
            <a:ext cx="5899175" cy="871500"/>
            <a:chOff x="2479025" y="1557125"/>
            <a:chExt cx="5899175" cy="871500"/>
          </a:xfrm>
        </p:grpSpPr>
        <p:sp>
          <p:nvSpPr>
            <p:cNvPr id="199" name="Google Shape;199;p18"/>
            <p:cNvSpPr/>
            <p:nvPr/>
          </p:nvSpPr>
          <p:spPr>
            <a:xfrm>
              <a:off x="2641300" y="1616225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0" name="Google Shape;200;p18"/>
            <p:cNvSpPr/>
            <p:nvPr/>
          </p:nvSpPr>
          <p:spPr>
            <a:xfrm>
              <a:off x="2479025" y="1557125"/>
              <a:ext cx="395100" cy="402000"/>
            </a:xfrm>
            <a:prstGeom prst="rect">
              <a:avLst/>
            </a:prstGeom>
            <a:solidFill>
              <a:srgbClr val="20365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1</a:t>
              </a:r>
              <a:endParaRPr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01" name="Google Shape;201;p18"/>
            <p:cNvSpPr txBox="1"/>
            <p:nvPr/>
          </p:nvSpPr>
          <p:spPr>
            <a:xfrm>
              <a:off x="2848925" y="1674350"/>
              <a:ext cx="54624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0" indent="0" algn="just">
                <a:buNone/>
                <a:defRPr sz="180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</a:defRPr>
              </a:lvl1pPr>
            </a:lstStyle>
            <a:p>
              <a:r>
                <a:rPr lang="pt-BR" dirty="0"/>
                <a:t>Pesquisar e avaliar as ferramentas de desenvolvimento </a:t>
              </a:r>
              <a:r>
                <a:rPr lang="pt-BR" dirty="0" err="1"/>
                <a:t>TinyML</a:t>
              </a:r>
              <a:r>
                <a:rPr lang="pt-BR" dirty="0"/>
                <a:t> disponíveis.</a:t>
              </a:r>
              <a:endParaRPr dirty="0">
                <a:sym typeface="Helvetica Neue"/>
              </a:endParaRPr>
            </a:p>
          </p:txBody>
        </p:sp>
      </p:grpSp>
      <p:grpSp>
        <p:nvGrpSpPr>
          <p:cNvPr id="202" name="Google Shape;202;p18"/>
          <p:cNvGrpSpPr/>
          <p:nvPr/>
        </p:nvGrpSpPr>
        <p:grpSpPr>
          <a:xfrm>
            <a:off x="2479025" y="3906075"/>
            <a:ext cx="5899175" cy="871500"/>
            <a:chOff x="2479025" y="3906075"/>
            <a:chExt cx="5899175" cy="871500"/>
          </a:xfrm>
        </p:grpSpPr>
        <p:sp>
          <p:nvSpPr>
            <p:cNvPr id="203" name="Google Shape;203;p18"/>
            <p:cNvSpPr/>
            <p:nvPr/>
          </p:nvSpPr>
          <p:spPr>
            <a:xfrm>
              <a:off x="2641300" y="3965175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4" name="Google Shape;204;p18"/>
            <p:cNvSpPr/>
            <p:nvPr/>
          </p:nvSpPr>
          <p:spPr>
            <a:xfrm>
              <a:off x="2479025" y="3906075"/>
              <a:ext cx="395100" cy="402000"/>
            </a:xfrm>
            <a:prstGeom prst="rect">
              <a:avLst/>
            </a:prstGeom>
            <a:solidFill>
              <a:srgbClr val="20365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3</a:t>
              </a:r>
              <a:endParaRPr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05" name="Google Shape;205;p18"/>
            <p:cNvSpPr txBox="1"/>
            <p:nvPr/>
          </p:nvSpPr>
          <p:spPr>
            <a:xfrm>
              <a:off x="2848925" y="4001925"/>
              <a:ext cx="54624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dirty="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Elaborar um fluxo de trabalho ponta-a-ponta para soluções </a:t>
              </a:r>
              <a:r>
                <a:rPr lang="pt-BR" sz="1800" dirty="0" err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TinyML</a:t>
              </a:r>
              <a:r>
                <a:rPr lang="pt-BR" sz="1800" dirty="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 sz="1800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06" name="Google Shape;206;p18"/>
          <p:cNvGrpSpPr/>
          <p:nvPr/>
        </p:nvGrpSpPr>
        <p:grpSpPr>
          <a:xfrm>
            <a:off x="2479025" y="5169200"/>
            <a:ext cx="5899175" cy="871500"/>
            <a:chOff x="2479025" y="5169200"/>
            <a:chExt cx="5899175" cy="871500"/>
          </a:xfrm>
        </p:grpSpPr>
        <p:sp>
          <p:nvSpPr>
            <p:cNvPr id="207" name="Google Shape;207;p18"/>
            <p:cNvSpPr/>
            <p:nvPr/>
          </p:nvSpPr>
          <p:spPr>
            <a:xfrm>
              <a:off x="2641300" y="5228300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8" name="Google Shape;208;p18"/>
            <p:cNvSpPr/>
            <p:nvPr/>
          </p:nvSpPr>
          <p:spPr>
            <a:xfrm>
              <a:off x="2479025" y="5169200"/>
              <a:ext cx="395100" cy="402000"/>
            </a:xfrm>
            <a:prstGeom prst="rect">
              <a:avLst/>
            </a:prstGeom>
            <a:solidFill>
              <a:srgbClr val="20365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4</a:t>
              </a:r>
              <a:endParaRPr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09" name="Google Shape;209;p18"/>
            <p:cNvSpPr txBox="1"/>
            <p:nvPr/>
          </p:nvSpPr>
          <p:spPr>
            <a:xfrm>
              <a:off x="2848925" y="5265050"/>
              <a:ext cx="54624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dirty="0">
                  <a:solidFill>
                    <a:srgbClr val="F2F2F2"/>
                  </a:solidFill>
                  <a:effectLst/>
                  <a:latin typeface="Helvetica Neue" panose="020B0604020202020204" charset="0"/>
                </a:rPr>
                <a:t>Estudo de caso: desenvolvimento de modelo </a:t>
              </a:r>
              <a:r>
                <a:rPr lang="pt-BR" sz="1800" dirty="0" err="1">
                  <a:solidFill>
                    <a:srgbClr val="F2F2F2"/>
                  </a:solidFill>
                  <a:effectLst/>
                  <a:latin typeface="Helvetica Neue" panose="020B0604020202020204" charset="0"/>
                </a:rPr>
                <a:t>TinyML</a:t>
              </a:r>
              <a:r>
                <a:rPr lang="pt-BR" sz="1800" dirty="0">
                  <a:solidFill>
                    <a:srgbClr val="F2F2F2"/>
                  </a:solidFill>
                  <a:effectLst/>
                  <a:latin typeface="Helvetica Neue" panose="020B0604020202020204" charset="0"/>
                </a:rPr>
                <a:t> para classificação de resíduos.</a:t>
              </a:r>
              <a:endParaRPr lang="pt-BR" sz="1800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10" name="Google Shape;210;p18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Objetivos</a:t>
            </a:r>
            <a:endParaRPr sz="10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>
          <a:extLst>
            <a:ext uri="{FF2B5EF4-FFF2-40B4-BE49-F238E27FC236}">
              <a16:creationId xmlns:a16="http://schemas.microsoft.com/office/drawing/2014/main" id="{072DAA5A-934B-3E24-9F89-2FD57B416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>
            <a:extLst>
              <a:ext uri="{FF2B5EF4-FFF2-40B4-BE49-F238E27FC236}">
                <a16:creationId xmlns:a16="http://schemas.microsoft.com/office/drawing/2014/main" id="{2E5C838F-9172-E201-E080-99F5DC506D7C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8">
            <a:extLst>
              <a:ext uri="{FF2B5EF4-FFF2-40B4-BE49-F238E27FC236}">
                <a16:creationId xmlns:a16="http://schemas.microsoft.com/office/drawing/2014/main" id="{31A887BF-1DA4-8578-C4A5-2E4D734F16C7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6" name="Google Shape;186;p18">
            <a:extLst>
              <a:ext uri="{FF2B5EF4-FFF2-40B4-BE49-F238E27FC236}">
                <a16:creationId xmlns:a16="http://schemas.microsoft.com/office/drawing/2014/main" id="{F189420F-4A46-46A4-51D9-CFCE64A9F84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>
            <a:extLst>
              <a:ext uri="{FF2B5EF4-FFF2-40B4-BE49-F238E27FC236}">
                <a16:creationId xmlns:a16="http://schemas.microsoft.com/office/drawing/2014/main" id="{5C659FF4-C68B-27C2-D52B-0BC2015E88D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8">
            <a:extLst>
              <a:ext uri="{FF2B5EF4-FFF2-40B4-BE49-F238E27FC236}">
                <a16:creationId xmlns:a16="http://schemas.microsoft.com/office/drawing/2014/main" id="{F519B14E-E6A3-4FC7-2748-AAAF4D06B898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8">
            <a:extLst>
              <a:ext uri="{FF2B5EF4-FFF2-40B4-BE49-F238E27FC236}">
                <a16:creationId xmlns:a16="http://schemas.microsoft.com/office/drawing/2014/main" id="{C0640E94-D97B-6745-C8EA-761AB4B7CFFF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8">
            <a:extLst>
              <a:ext uri="{FF2B5EF4-FFF2-40B4-BE49-F238E27FC236}">
                <a16:creationId xmlns:a16="http://schemas.microsoft.com/office/drawing/2014/main" id="{66CD1441-7BCF-7827-4356-C2A05BF49B3E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1" name="Google Shape;191;p18">
            <a:extLst>
              <a:ext uri="{FF2B5EF4-FFF2-40B4-BE49-F238E27FC236}">
                <a16:creationId xmlns:a16="http://schemas.microsoft.com/office/drawing/2014/main" id="{D46A954D-3D4B-2AA5-0BDC-56F454F30DB6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2" name="Google Shape;192;p18">
            <a:extLst>
              <a:ext uri="{FF2B5EF4-FFF2-40B4-BE49-F238E27FC236}">
                <a16:creationId xmlns:a16="http://schemas.microsoft.com/office/drawing/2014/main" id="{B5C49509-2965-0EEB-FEA0-07AF82381F62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5/xx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3" name="Google Shape;193;p18">
            <a:extLst>
              <a:ext uri="{FF2B5EF4-FFF2-40B4-BE49-F238E27FC236}">
                <a16:creationId xmlns:a16="http://schemas.microsoft.com/office/drawing/2014/main" id="{483D000A-1374-5656-4397-4C7BFB0ADF3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Objetivos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198" name="Google Shape;198;p18">
            <a:extLst>
              <a:ext uri="{FF2B5EF4-FFF2-40B4-BE49-F238E27FC236}">
                <a16:creationId xmlns:a16="http://schemas.microsoft.com/office/drawing/2014/main" id="{3126E194-601D-62D2-CFD4-B14B295E317D}"/>
              </a:ext>
            </a:extLst>
          </p:cNvPr>
          <p:cNvGrpSpPr/>
          <p:nvPr/>
        </p:nvGrpSpPr>
        <p:grpSpPr>
          <a:xfrm>
            <a:off x="2340651" y="1960511"/>
            <a:ext cx="5736900" cy="1447476"/>
            <a:chOff x="2641300" y="1615231"/>
            <a:chExt cx="5736900" cy="813394"/>
          </a:xfrm>
        </p:grpSpPr>
        <p:sp>
          <p:nvSpPr>
            <p:cNvPr id="199" name="Google Shape;199;p18">
              <a:extLst>
                <a:ext uri="{FF2B5EF4-FFF2-40B4-BE49-F238E27FC236}">
                  <a16:creationId xmlns:a16="http://schemas.microsoft.com/office/drawing/2014/main" id="{711D2D31-A970-CE63-2CBE-5CE68E478414}"/>
                </a:ext>
              </a:extLst>
            </p:cNvPr>
            <p:cNvSpPr/>
            <p:nvPr/>
          </p:nvSpPr>
          <p:spPr>
            <a:xfrm>
              <a:off x="2641300" y="1616225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1" name="Google Shape;201;p18">
              <a:extLst>
                <a:ext uri="{FF2B5EF4-FFF2-40B4-BE49-F238E27FC236}">
                  <a16:creationId xmlns:a16="http://schemas.microsoft.com/office/drawing/2014/main" id="{37938839-FF5C-54EA-FC75-A66FF0A01216}"/>
                </a:ext>
              </a:extLst>
            </p:cNvPr>
            <p:cNvSpPr txBox="1"/>
            <p:nvPr/>
          </p:nvSpPr>
          <p:spPr>
            <a:xfrm>
              <a:off x="2729400" y="1615231"/>
              <a:ext cx="5462400" cy="7955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0" indent="0" algn="just">
                <a:buNone/>
                <a:defRPr sz="180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</a:defRPr>
              </a:lvl1pPr>
            </a:lstStyle>
            <a:p>
              <a:r>
                <a:rPr lang="pt-BR" sz="2000" b="1" i="1" dirty="0"/>
                <a:t>Avaliar a viabilidade de aplicar soluções baseadas em aprendizado de máquina a sistemas embarcados com recursos computacionais limitados.</a:t>
              </a:r>
              <a:endParaRPr sz="2000" b="1" i="1" dirty="0">
                <a:sym typeface="Helvetica Neue"/>
              </a:endParaRPr>
            </a:p>
          </p:txBody>
        </p:sp>
      </p:grpSp>
      <p:sp>
        <p:nvSpPr>
          <p:cNvPr id="210" name="Google Shape;210;p18">
            <a:extLst>
              <a:ext uri="{FF2B5EF4-FFF2-40B4-BE49-F238E27FC236}">
                <a16:creationId xmlns:a16="http://schemas.microsoft.com/office/drawing/2014/main" id="{CF845F95-D253-9127-8C60-177D6A565510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Objetivos</a:t>
            </a:r>
            <a:endParaRPr sz="1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34ED1736-9AEE-03D2-A384-6CACBA6DBF1A}"/>
              </a:ext>
            </a:extLst>
          </p:cNvPr>
          <p:cNvSpPr txBox="1"/>
          <p:nvPr/>
        </p:nvSpPr>
        <p:spPr>
          <a:xfrm>
            <a:off x="1493784" y="1268898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Objetivo Geral</a:t>
            </a:r>
            <a:endParaRPr lang="pt-BR" sz="2800" b="1" dirty="0"/>
          </a:p>
        </p:txBody>
      </p:sp>
    </p:spTree>
    <p:extLst>
      <p:ext uri="{BB962C8B-B14F-4D97-AF65-F5344CB8AC3E}">
        <p14:creationId xmlns:p14="http://schemas.microsoft.com/office/powerpoint/2010/main" val="31304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9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9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8" name="Google Shape;21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9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9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3" name="Google Shape;223;p19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4" name="Google Shape;224;p19"/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Problema e hipótese</a:t>
            </a:r>
            <a:endParaRPr sz="30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5" name="Google Shape;225;p19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EA2C0028-C9A5-9E16-92AA-4E11E0BE7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F361F5B7-4525-FDBE-1C16-3C05DF6D73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6239" y="1909590"/>
            <a:ext cx="5518884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pt-BR" sz="1800" dirty="0"/>
              <a:t>Muitos dispositivos IoT dependem de processamento na nuvem, o que </a:t>
            </a:r>
            <a:r>
              <a:rPr lang="pt-BR" sz="1800" b="1" dirty="0"/>
              <a:t>gera latência significativa</a:t>
            </a:r>
            <a:r>
              <a:rPr lang="pt-BR" sz="1800" dirty="0"/>
              <a:t> e limita aplicações que exigem </a:t>
            </a:r>
            <a:r>
              <a:rPr lang="pt-BR" sz="1800" b="1" dirty="0"/>
              <a:t>resposta em tempo real</a:t>
            </a:r>
            <a:r>
              <a:rPr lang="pt-BR" sz="1800" dirty="0"/>
              <a:t>.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38933019-4594-5F99-CFE3-0C30913DB98C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FBF2B0CD-C642-52B3-9442-7D8962F71A31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FFA0C71D-2B36-3C47-7A5A-5F51EDFEFD3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2622983D-F703-3691-7F07-13AB2E18144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74C026CF-E730-0A86-E70A-8A87442F9193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6">
            <a:extLst>
              <a:ext uri="{FF2B5EF4-FFF2-40B4-BE49-F238E27FC236}">
                <a16:creationId xmlns:a16="http://schemas.microsoft.com/office/drawing/2014/main" id="{ABFA590C-4D9B-CFF1-3909-64C870F08D76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6">
            <a:extLst>
              <a:ext uri="{FF2B5EF4-FFF2-40B4-BE49-F238E27FC236}">
                <a16:creationId xmlns:a16="http://schemas.microsoft.com/office/drawing/2014/main" id="{E207CC7C-FC98-8338-6FDF-C118A7E7C4F4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CFC0C924-5358-1CD4-FED7-F450B8527615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0" name="Google Shape;160;p16">
            <a:extLst>
              <a:ext uri="{FF2B5EF4-FFF2-40B4-BE49-F238E27FC236}">
                <a16:creationId xmlns:a16="http://schemas.microsoft.com/office/drawing/2014/main" id="{531EFFAE-8E5D-7285-6E82-48C9718EE871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4CE4F70-D2A0-4CD0-5387-9A53F4C24F7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Problema e hipótese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0380472-72A2-A814-1730-A2B516A1C530}"/>
              </a:ext>
            </a:extLst>
          </p:cNvPr>
          <p:cNvSpPr txBox="1"/>
          <p:nvPr/>
        </p:nvSpPr>
        <p:spPr>
          <a:xfrm>
            <a:off x="1493784" y="1103566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Problema</a:t>
            </a:r>
            <a:endParaRPr lang="pt-BR" sz="2800" b="1" dirty="0"/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7CEADE6A-6395-C06B-2AF2-1D0DCCDACB79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Problema</a:t>
            </a:r>
            <a:endParaRPr sz="1000" b="1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Hipótese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" name="Imagem 3" descr="Circuito eletrônico azul">
            <a:extLst>
              <a:ext uri="{FF2B5EF4-FFF2-40B4-BE49-F238E27FC236}">
                <a16:creationId xmlns:a16="http://schemas.microsoft.com/office/drawing/2014/main" id="{90C4A633-8D42-34AD-B418-0FC31DB625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975" r="23296" b="3015"/>
          <a:stretch>
            <a:fillRect/>
          </a:stretch>
        </p:blipFill>
        <p:spPr>
          <a:xfrm>
            <a:off x="1683357" y="3956979"/>
            <a:ext cx="1098610" cy="1946865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3F88745-6E7B-D579-4348-59611173C9FF}"/>
              </a:ext>
            </a:extLst>
          </p:cNvPr>
          <p:cNvSpPr txBox="1"/>
          <p:nvPr/>
        </p:nvSpPr>
        <p:spPr>
          <a:xfrm>
            <a:off x="1493784" y="5970799"/>
            <a:ext cx="7350089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Figura 1: ESP-32</a:t>
            </a:r>
          </a:p>
          <a:p>
            <a:r>
              <a:rPr lang="pt-BR" sz="900" dirty="0"/>
              <a:t>Fonte: https://br.mouser.com/ProductDetail/Espressif-Systems/ESP32-DevKitC-S1?qs=%252BEew9%252B0nqrCxC7WFWvXX3A%3D%3D</a:t>
            </a:r>
          </a:p>
        </p:txBody>
      </p:sp>
      <p:pic>
        <p:nvPicPr>
          <p:cNvPr id="10" name="Imagem 9" descr="Diagrama">
            <a:extLst>
              <a:ext uri="{FF2B5EF4-FFF2-40B4-BE49-F238E27FC236}">
                <a16:creationId xmlns:a16="http://schemas.microsoft.com/office/drawing/2014/main" id="{32D46B92-004C-DDA3-C761-74BE3A204CF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496" t="4456" r="7896" b="4606"/>
          <a:stretch>
            <a:fillRect/>
          </a:stretch>
        </p:blipFill>
        <p:spPr>
          <a:xfrm>
            <a:off x="7298635" y="1838632"/>
            <a:ext cx="1650493" cy="1773988"/>
          </a:xfrm>
          <a:prstGeom prst="rect">
            <a:avLst/>
          </a:prstGeom>
        </p:spPr>
      </p:pic>
      <p:sp>
        <p:nvSpPr>
          <p:cNvPr id="12" name="Rectangle 4">
            <a:extLst>
              <a:ext uri="{FF2B5EF4-FFF2-40B4-BE49-F238E27FC236}">
                <a16:creationId xmlns:a16="http://schemas.microsoft.com/office/drawing/2014/main" id="{4815273C-D2F5-1224-26A8-CEF4DA7DD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7816" y="4206230"/>
            <a:ext cx="5518884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</a:pPr>
            <a:r>
              <a:rPr lang="pt-BR" sz="1800" dirty="0"/>
              <a:t>Muitos dispositivos têm </a:t>
            </a:r>
            <a:r>
              <a:rPr lang="pt-BR" sz="1800" b="1" dirty="0"/>
              <a:t>recursos computacionais reduzidos</a:t>
            </a:r>
            <a:r>
              <a:rPr lang="pt-BR" sz="1800" dirty="0"/>
              <a:t>, dificultando o uso de modelos tradicionais de IA.</a:t>
            </a:r>
            <a:endParaRPr lang="pt-BR" sz="1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1207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A510E625-03F8-D723-047E-9F8939FD3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7AD64DF1-60A2-7CE2-17C5-018481C26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6239" y="1909590"/>
            <a:ext cx="5518884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pt-BR" sz="1800" dirty="0"/>
              <a:t>Muitos dispositivos IoT dependem de processamento na nuvem, o que </a:t>
            </a:r>
            <a:r>
              <a:rPr lang="pt-BR" sz="1800" b="1" dirty="0"/>
              <a:t>gera latência significativa</a:t>
            </a:r>
            <a:r>
              <a:rPr lang="pt-BR" sz="1800" dirty="0"/>
              <a:t> e limita aplicações que exigem </a:t>
            </a:r>
            <a:r>
              <a:rPr lang="pt-BR" sz="1800" b="1" dirty="0"/>
              <a:t>resposta em tempo real</a:t>
            </a:r>
            <a:r>
              <a:rPr lang="pt-BR" sz="1800" dirty="0"/>
              <a:t>.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CED9A97B-A323-C156-3A3D-0B9B5B137121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CA8D76CA-6796-063F-9C64-EA594AB167ED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82C65E2D-F602-81CE-F7E4-571767E4136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D2D853B7-30BF-0513-0F51-FE6265E3B95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6750B07E-2E2E-C4BC-732C-7EB48DBD989E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6">
            <a:extLst>
              <a:ext uri="{FF2B5EF4-FFF2-40B4-BE49-F238E27FC236}">
                <a16:creationId xmlns:a16="http://schemas.microsoft.com/office/drawing/2014/main" id="{EADA1342-C723-8853-9137-D8E705E4E806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6">
            <a:extLst>
              <a:ext uri="{FF2B5EF4-FFF2-40B4-BE49-F238E27FC236}">
                <a16:creationId xmlns:a16="http://schemas.microsoft.com/office/drawing/2014/main" id="{B22FE191-4738-F8D0-AE75-D2CAD0CC1A5C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FF81F5B3-87AE-CB27-A553-AE09234A30CE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0" name="Google Shape;160;p16">
            <a:extLst>
              <a:ext uri="{FF2B5EF4-FFF2-40B4-BE49-F238E27FC236}">
                <a16:creationId xmlns:a16="http://schemas.microsoft.com/office/drawing/2014/main" id="{C2D91AD7-2966-3138-B680-FC7D1F164B29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BA078D01-085D-9630-4958-FB302BF51D08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Problema e hipótese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8A59A96-8468-0D4A-A065-68450557552C}"/>
              </a:ext>
            </a:extLst>
          </p:cNvPr>
          <p:cNvSpPr txBox="1"/>
          <p:nvPr/>
        </p:nvSpPr>
        <p:spPr>
          <a:xfrm>
            <a:off x="1493784" y="1103566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Hipótese</a:t>
            </a:r>
            <a:endParaRPr lang="pt-BR" sz="2800" b="1" dirty="0"/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049824C2-B3FB-5A13-33F6-32B16EF7A9B0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Problema</a:t>
            </a:r>
            <a:endParaRPr sz="1000" b="1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Hipótese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" name="Imagem 3" descr="Circuito eletrônico azul">
            <a:extLst>
              <a:ext uri="{FF2B5EF4-FFF2-40B4-BE49-F238E27FC236}">
                <a16:creationId xmlns:a16="http://schemas.microsoft.com/office/drawing/2014/main" id="{F168CB8E-D16C-9F23-5F90-EA63B75111B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975" r="23296" b="3015"/>
          <a:stretch>
            <a:fillRect/>
          </a:stretch>
        </p:blipFill>
        <p:spPr>
          <a:xfrm>
            <a:off x="1683357" y="3956979"/>
            <a:ext cx="1098610" cy="1946865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03F1F0B0-66F4-0D42-BA1B-4A877684C1DF}"/>
              </a:ext>
            </a:extLst>
          </p:cNvPr>
          <p:cNvSpPr txBox="1"/>
          <p:nvPr/>
        </p:nvSpPr>
        <p:spPr>
          <a:xfrm>
            <a:off x="1493784" y="5970799"/>
            <a:ext cx="7350089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Figura 1: ESP-32</a:t>
            </a:r>
          </a:p>
          <a:p>
            <a:r>
              <a:rPr lang="pt-BR" sz="900" dirty="0"/>
              <a:t>Fonte: https://br.mouser.com/ProductDetail/Espressif-Systems/ESP32-DevKitC-S1?qs=%252BEew9%252B0nqrCxC7WFWvXX3A%3D%3D</a:t>
            </a:r>
          </a:p>
        </p:txBody>
      </p:sp>
      <p:pic>
        <p:nvPicPr>
          <p:cNvPr id="10" name="Imagem 9" descr="Diagrama">
            <a:extLst>
              <a:ext uri="{FF2B5EF4-FFF2-40B4-BE49-F238E27FC236}">
                <a16:creationId xmlns:a16="http://schemas.microsoft.com/office/drawing/2014/main" id="{DD133CE9-8969-0862-8DE3-B2158244B46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496" t="4456" r="7896" b="4606"/>
          <a:stretch>
            <a:fillRect/>
          </a:stretch>
        </p:blipFill>
        <p:spPr>
          <a:xfrm>
            <a:off x="7298635" y="1838632"/>
            <a:ext cx="1650493" cy="1773988"/>
          </a:xfrm>
          <a:prstGeom prst="rect">
            <a:avLst/>
          </a:prstGeom>
        </p:spPr>
      </p:pic>
      <p:sp>
        <p:nvSpPr>
          <p:cNvPr id="12" name="Rectangle 4">
            <a:extLst>
              <a:ext uri="{FF2B5EF4-FFF2-40B4-BE49-F238E27FC236}">
                <a16:creationId xmlns:a16="http://schemas.microsoft.com/office/drawing/2014/main" id="{E39FBBCD-3A32-26FF-7A64-99FB37EFAD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7816" y="4206230"/>
            <a:ext cx="5518884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</a:pPr>
            <a:r>
              <a:rPr lang="pt-BR" sz="1800" dirty="0"/>
              <a:t>Muitos dispositivos têm </a:t>
            </a:r>
            <a:r>
              <a:rPr lang="pt-BR" sz="1800" b="1" dirty="0"/>
              <a:t>recursos computacionais reduzidos</a:t>
            </a:r>
            <a:r>
              <a:rPr lang="pt-BR" sz="1800" dirty="0"/>
              <a:t>, dificultando o uso de modelos tradicionais de IA.</a:t>
            </a:r>
            <a:endParaRPr lang="pt-BR" sz="1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157482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>
          <a:extLst>
            <a:ext uri="{FF2B5EF4-FFF2-40B4-BE49-F238E27FC236}">
              <a16:creationId xmlns:a16="http://schemas.microsoft.com/office/drawing/2014/main" id="{1A28A3E8-57E1-D3C4-1E18-5167263E1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9">
            <a:extLst>
              <a:ext uri="{FF2B5EF4-FFF2-40B4-BE49-F238E27FC236}">
                <a16:creationId xmlns:a16="http://schemas.microsoft.com/office/drawing/2014/main" id="{BCBCA0BF-EE11-C5FD-43C3-92AFF9914D5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9">
            <a:extLst>
              <a:ext uri="{FF2B5EF4-FFF2-40B4-BE49-F238E27FC236}">
                <a16:creationId xmlns:a16="http://schemas.microsoft.com/office/drawing/2014/main" id="{B81C8EB0-6E94-ABC1-2427-7E583A63B98F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8" name="Google Shape;218;p19">
            <a:extLst>
              <a:ext uri="{FF2B5EF4-FFF2-40B4-BE49-F238E27FC236}">
                <a16:creationId xmlns:a16="http://schemas.microsoft.com/office/drawing/2014/main" id="{5812DEE3-EBF0-5AC4-40DD-35A2CCFC3F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19">
            <a:extLst>
              <a:ext uri="{FF2B5EF4-FFF2-40B4-BE49-F238E27FC236}">
                <a16:creationId xmlns:a16="http://schemas.microsoft.com/office/drawing/2014/main" id="{FAD4749F-86AA-C00E-0CF9-2673EA7948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>
            <a:extLst>
              <a:ext uri="{FF2B5EF4-FFF2-40B4-BE49-F238E27FC236}">
                <a16:creationId xmlns:a16="http://schemas.microsoft.com/office/drawing/2014/main" id="{0EE76C00-DAD1-15A4-674B-9E48D9BD7F2F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9">
            <a:extLst>
              <a:ext uri="{FF2B5EF4-FFF2-40B4-BE49-F238E27FC236}">
                <a16:creationId xmlns:a16="http://schemas.microsoft.com/office/drawing/2014/main" id="{46E69321-148F-1181-7762-8B13D80E7D3E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9">
            <a:extLst>
              <a:ext uri="{FF2B5EF4-FFF2-40B4-BE49-F238E27FC236}">
                <a16:creationId xmlns:a16="http://schemas.microsoft.com/office/drawing/2014/main" id="{AB86AE42-EBC2-2C32-4EEF-C9F934DA4D44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3" name="Google Shape;223;p19">
            <a:extLst>
              <a:ext uri="{FF2B5EF4-FFF2-40B4-BE49-F238E27FC236}">
                <a16:creationId xmlns:a16="http://schemas.microsoft.com/office/drawing/2014/main" id="{12318ED2-1389-70C9-D67B-4E83E033B681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4" name="Google Shape;224;p19">
            <a:extLst>
              <a:ext uri="{FF2B5EF4-FFF2-40B4-BE49-F238E27FC236}">
                <a16:creationId xmlns:a16="http://schemas.microsoft.com/office/drawing/2014/main" id="{2B2B9283-513E-1060-4B88-7D7EDEF15CDF}"/>
              </a:ext>
            </a:extLst>
          </p:cNvPr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5" name="Google Shape;225;p19">
            <a:extLst>
              <a:ext uri="{FF2B5EF4-FFF2-40B4-BE49-F238E27FC236}">
                <a16:creationId xmlns:a16="http://schemas.microsoft.com/office/drawing/2014/main" id="{04E237F3-5789-53A7-DB4A-FB4BD01CDFE4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047052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25B9C66A-B560-0C20-EEFD-12A5D861E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31D81FD7-8D4A-BCB8-F4EF-186B5A1F282B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66FD721F-F7EB-1105-A88F-210195AC6ACB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E5B9003D-9260-A060-F282-1A126BB2ACF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0D0653BD-E957-45DB-5299-8790BE5121D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9207283B-31A0-4A71-191E-51E8ABC95146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44A33BC1-A6AE-D49B-48D2-DA9C3E71F8CB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D3377F3-4496-7B19-53F8-DF83CE413F4F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2F05756C-1173-FCBD-9E7F-0B20BFFC6A55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E997F8E3-1F54-656C-A002-8B03E60A60FB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4FE4EED7-C4A9-A390-D3FD-EAAF58BB4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501A3DEF-D44E-77C8-AFEB-1A92AD87A317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DA53DF16-5C29-1FD3-75EC-D56576DFD183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DA53DF16-5C29-1FD3-75EC-D56576DFD183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D031F205-91F4-72E3-E15E-0754D38E9253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D031F205-91F4-72E3-E15E-0754D38E9253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4DF063B1-F387-A1CF-2C65-20346225C3B5}"/>
              </a:ext>
            </a:extLst>
          </p:cNvPr>
          <p:cNvSpPr/>
          <p:nvPr/>
        </p:nvSpPr>
        <p:spPr>
          <a:xfrm>
            <a:off x="2536723" y="2379406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</p:spTree>
    <p:extLst>
      <p:ext uri="{BB962C8B-B14F-4D97-AF65-F5344CB8AC3E}">
        <p14:creationId xmlns:p14="http://schemas.microsoft.com/office/powerpoint/2010/main" val="3008691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E4631DD4-269B-B51E-53E6-018BFA75B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E1BDD28E-955F-4A2E-B0D2-BA2C7AF809BE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1F98CA76-D1B8-BEBD-0595-A975787F8FC7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5E9E2F10-4959-A974-96A8-AA958F08FB9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85F26D0D-059E-BD41-E4CA-73FE4E14D0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FA7057F9-4696-8B56-A3C1-817504B0066A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12533F2E-79A0-9A47-B413-E72F2A4C763F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CDF15C2B-D85D-DF9D-E7B0-9C2DCE5B7B25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i="0" u="none" strike="noStrike" cap="none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Coleta de dados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7A083B8-1B68-3E1F-12AC-849D9CB6CDBF}"/>
              </a:ext>
            </a:extLst>
          </p:cNvPr>
          <p:cNvSpPr txBox="1"/>
          <p:nvPr/>
        </p:nvSpPr>
        <p:spPr>
          <a:xfrm>
            <a:off x="1457850" y="1137589"/>
            <a:ext cx="7277100" cy="3780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sz="1800" b="1" dirty="0" err="1"/>
              <a:t>Dataset</a:t>
            </a:r>
            <a:r>
              <a:rPr lang="pt-BR" sz="1800" b="1" dirty="0"/>
              <a:t> público — </a:t>
            </a:r>
            <a:r>
              <a:rPr lang="pt-BR" sz="1800" b="1" i="1" dirty="0" err="1">
                <a:solidFill>
                  <a:srgbClr val="00B050"/>
                </a:solidFill>
              </a:rPr>
              <a:t>RealWaste</a:t>
            </a:r>
            <a:endParaRPr lang="pt-BR" sz="1800" b="1" i="1" dirty="0">
              <a:solidFill>
                <a:srgbClr val="00B050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dirty="0"/>
              <a:t>4.752 imagens reais de resíduos coletadas em </a:t>
            </a:r>
            <a:r>
              <a:rPr lang="pt-BR" sz="1800" b="1" dirty="0"/>
              <a:t>aterros sanitários</a:t>
            </a:r>
            <a:r>
              <a:rPr lang="pt-BR" sz="18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b="1" dirty="0"/>
              <a:t>9 categorias </a:t>
            </a:r>
            <a:r>
              <a:rPr lang="pt-BR" sz="1800" dirty="0"/>
              <a:t>principais (metal, plástico, papel, vidro, têxteis, etc.).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dirty="0"/>
              <a:t>Resolução original: </a:t>
            </a:r>
            <a:r>
              <a:rPr lang="pt-BR" sz="1800" b="1" dirty="0"/>
              <a:t>522×522 </a:t>
            </a:r>
            <a:r>
              <a:rPr lang="pt-BR" sz="1800" b="1" dirty="0" err="1"/>
              <a:t>px</a:t>
            </a:r>
            <a:r>
              <a:rPr lang="pt-BR" sz="18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dirty="0"/>
              <a:t>Dados variados e adequados para </a:t>
            </a:r>
            <a:r>
              <a:rPr lang="pt-BR" sz="1800" b="1" dirty="0"/>
              <a:t>generalização do modelo</a:t>
            </a:r>
            <a:r>
              <a:rPr lang="pt-BR" sz="18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800" dirty="0"/>
          </a:p>
          <a:p>
            <a:pPr>
              <a:lnSpc>
                <a:spcPct val="150000"/>
              </a:lnSpc>
              <a:buNone/>
            </a:pPr>
            <a:r>
              <a:rPr lang="pt-BR" sz="1800" b="1" dirty="0"/>
              <a:t>Fonte do repositório:</a:t>
            </a:r>
            <a:endParaRPr lang="pt-BR" sz="18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dirty="0"/>
              <a:t>UCI Machine Learning </a:t>
            </a:r>
            <a:r>
              <a:rPr lang="pt-BR" sz="1800" dirty="0" err="1"/>
              <a:t>Repository</a:t>
            </a:r>
            <a:r>
              <a:rPr lang="pt-BR" sz="1800" dirty="0"/>
              <a:t> — </a:t>
            </a:r>
            <a:r>
              <a:rPr lang="pt-BR" sz="1800" dirty="0" err="1"/>
              <a:t>RealWaste</a:t>
            </a:r>
            <a:r>
              <a:rPr lang="pt-BR" sz="1800" dirty="0"/>
              <a:t> </a:t>
            </a:r>
            <a:r>
              <a:rPr lang="pt-BR" sz="1800" dirty="0" err="1"/>
              <a:t>Dataset</a:t>
            </a:r>
            <a:r>
              <a:rPr lang="pt-BR" sz="1800" dirty="0"/>
              <a:t> </a:t>
            </a:r>
            <a:r>
              <a:rPr lang="pt-BR" sz="1800" i="1" dirty="0"/>
              <a:t>(Single; </a:t>
            </a:r>
            <a:r>
              <a:rPr lang="pt-BR" sz="1800" i="1" dirty="0" err="1"/>
              <a:t>Iranmanesh</a:t>
            </a:r>
            <a:r>
              <a:rPr lang="pt-BR" sz="1800" i="1" dirty="0"/>
              <a:t>; Raad, 2023a)</a:t>
            </a:r>
            <a:endParaRPr lang="pt-BR" sz="1800" dirty="0"/>
          </a:p>
        </p:txBody>
      </p:sp>
      <p:sp>
        <p:nvSpPr>
          <p:cNvPr id="3" name="Google Shape;225;p19">
            <a:extLst>
              <a:ext uri="{FF2B5EF4-FFF2-40B4-BE49-F238E27FC236}">
                <a16:creationId xmlns:a16="http://schemas.microsoft.com/office/drawing/2014/main" id="{F5AABCA4-11C7-F083-D4BD-8A7506146755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6998201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B13CD24D-7DBA-782B-7078-5C4755EAC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14D5CA15-F601-E7FA-27B2-7F7905ED6224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36A82390-9750-876B-32C9-ECE4C13F8FBD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68AC3BDA-80E8-9DF2-6299-4F26B97279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527E6EC2-E660-3932-759A-86D601F3B43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8FF1E8F9-6DA1-0478-F9B5-3F7B336B8314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D0C4D771-C672-50CE-E627-181ACC4E913E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FBC7E291-2B28-458D-7E30-1D650DDE326A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i="0" u="none" strike="noStrike" cap="none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Coleta de dados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2ADB06B-53E9-2F5C-7FB1-7546D0EE22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9819" y="1581281"/>
            <a:ext cx="5222262" cy="4818971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856193B8-FE39-1667-29D2-4B2C2B0A098B}"/>
              </a:ext>
            </a:extLst>
          </p:cNvPr>
          <p:cNvSpPr txBox="1"/>
          <p:nvPr/>
        </p:nvSpPr>
        <p:spPr>
          <a:xfrm>
            <a:off x="1493784" y="1103566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Exemplos do </a:t>
            </a:r>
            <a:r>
              <a:rPr lang="pt-BR" sz="2400" b="1" i="1" dirty="0" err="1"/>
              <a:t>RealWaste</a:t>
            </a:r>
            <a:endParaRPr lang="pt-BR" sz="2800" b="1" i="1" dirty="0"/>
          </a:p>
        </p:txBody>
      </p:sp>
      <p:sp>
        <p:nvSpPr>
          <p:cNvPr id="3" name="Google Shape;225;p19">
            <a:extLst>
              <a:ext uri="{FF2B5EF4-FFF2-40B4-BE49-F238E27FC236}">
                <a16:creationId xmlns:a16="http://schemas.microsoft.com/office/drawing/2014/main" id="{4E4F444B-15C5-B594-31EC-D9F9660E71BC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886144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649B327F-8723-C2A9-278F-108AC1367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EE4EBA2A-4114-A504-CF7D-3477872B6F59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D8D12EF5-0CC7-EF9D-F3BF-823CB2F098E4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606C4661-E6A2-0439-1B15-53C65BC3CE0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8623446E-7836-AE85-95F3-A87277ACC79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595709D3-AC30-6D70-B5BB-683576E9983F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55337982-9D43-A52D-03A1-1E55ACBC438A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2B6A140-3ED1-AEC3-7318-A25EC8AF8BF0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AF53B409-9EDA-3C0F-8194-C5CCA6E97EF2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FE1478D8-6EF1-2475-79FB-E1227828D512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440AFDC8-C926-E515-43B4-2F46CBCED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1504B3F4-8AA5-59AD-D3B5-E7D013BE2FEA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9C2149EA-BB05-9A75-9EFA-668DCFECC4A5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9C2149EA-BB05-9A75-9EFA-668DCFECC4A5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14C4434B-B8E9-3B28-5550-C938ECEE78B1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14C4434B-B8E9-3B28-5550-C938ECEE78B1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5B240F95-1C30-7706-B671-AE22C5404F8B}"/>
              </a:ext>
            </a:extLst>
          </p:cNvPr>
          <p:cNvSpPr/>
          <p:nvPr/>
        </p:nvSpPr>
        <p:spPr>
          <a:xfrm>
            <a:off x="2428568" y="3197941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</p:spTree>
    <p:extLst>
      <p:ext uri="{BB962C8B-B14F-4D97-AF65-F5344CB8AC3E}">
        <p14:creationId xmlns:p14="http://schemas.microsoft.com/office/powerpoint/2010/main" val="1481994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02306C4E-FB31-40A4-69C2-BE76A0E21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FF495C0C-E96A-E8F4-E0FF-A289981BF7C1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142B8810-EAFD-4F81-28C0-325A10B4C0A3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9F067B07-E7B4-000B-993D-790A668DADA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2E1A16F4-AFCB-94C8-E525-B0D62552C48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F3DD98B9-02CF-7F9E-BE14-BF9D303EB85A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1D7ADEC5-ACB4-5BDC-4514-3761A451A355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94B87FE-756D-154D-2A25-C4CE1BC8FFC3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i="0" u="none" strike="noStrike" cap="none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</a:t>
            </a: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-processamento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D6A5ACF-764D-8680-5AD2-F959E70B23E7}"/>
              </a:ext>
            </a:extLst>
          </p:cNvPr>
          <p:cNvSpPr txBox="1"/>
          <p:nvPr/>
        </p:nvSpPr>
        <p:spPr>
          <a:xfrm>
            <a:off x="1257900" y="908100"/>
            <a:ext cx="78861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 dirty="0"/>
              <a:t>1) Redimensionamento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522×522 </a:t>
            </a:r>
            <a:r>
              <a:rPr lang="pt-BR" sz="1800" dirty="0" err="1"/>
              <a:t>px</a:t>
            </a:r>
            <a:r>
              <a:rPr lang="pt-BR" sz="1800" dirty="0"/>
              <a:t> → 224×224 </a:t>
            </a:r>
            <a:r>
              <a:rPr lang="pt-BR" sz="1800" dirty="0" err="1"/>
              <a:t>px</a:t>
            </a:r>
            <a:br>
              <a:rPr lang="pt-BR" sz="1800" dirty="0"/>
            </a:br>
            <a:endParaRPr lang="pt-BR" sz="1800" dirty="0"/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2) Balanceamento das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A classe mais populosa tem </a:t>
            </a: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921 imagens</a:t>
            </a: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. Todas as demais foram aumentadas até atingir esse valor.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3) Aumento de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Rotação (±20°)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Deslocamentos horizontais/verticais (até 20%)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Cisalhamento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Zoom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Espelhamento horizontal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Variação de brilho (0,7–1,3)</a:t>
            </a:r>
            <a:br>
              <a:rPr lang="pt-BR" sz="18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4) Limite de variações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No máximo </a:t>
            </a: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10 variações por imagem base</a:t>
            </a: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 → evita redundância.</a:t>
            </a:r>
          </a:p>
        </p:txBody>
      </p:sp>
      <p:sp>
        <p:nvSpPr>
          <p:cNvPr id="3" name="Google Shape;225;p19">
            <a:extLst>
              <a:ext uri="{FF2B5EF4-FFF2-40B4-BE49-F238E27FC236}">
                <a16:creationId xmlns:a16="http://schemas.microsoft.com/office/drawing/2014/main" id="{4778FC90-4637-3328-9349-523C61393766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9584011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369B0AB1-00C8-1361-8882-8407418C4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8727A73A-CEAA-CDD5-2FF2-A00EB219238A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D806CE3D-831C-AC68-00A3-C48DBDC390CA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43098C3B-AF6B-9754-F7BF-A0A45FBF88D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8B019711-95CD-A521-2DA0-8ACA705322C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FF2A822B-EE27-99BF-B9A4-25C962ED2307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9D611FC0-84C6-9CBE-F84D-C5D4B257F017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66CEA713-1759-5881-FFEF-1FF0968E0DF2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Pré-processamento e aumento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2B2E8C8-9FD2-EDF6-0C83-0C9FA547FBBC}"/>
              </a:ext>
            </a:extLst>
          </p:cNvPr>
          <p:cNvSpPr txBox="1"/>
          <p:nvPr/>
        </p:nvSpPr>
        <p:spPr>
          <a:xfrm>
            <a:off x="1257900" y="908100"/>
            <a:ext cx="78861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 dirty="0"/>
              <a:t>1) Redimensionamento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522×522 </a:t>
            </a:r>
            <a:r>
              <a:rPr lang="pt-BR" sz="1800" dirty="0" err="1"/>
              <a:t>px</a:t>
            </a:r>
            <a:r>
              <a:rPr lang="pt-BR" sz="1800" dirty="0"/>
              <a:t> → 224×224 </a:t>
            </a:r>
            <a:r>
              <a:rPr lang="pt-BR" sz="1800" dirty="0" err="1"/>
              <a:t>px</a:t>
            </a:r>
            <a:br>
              <a:rPr lang="pt-BR" sz="1800" dirty="0"/>
            </a:br>
            <a:endParaRPr lang="pt-BR" sz="1800" dirty="0"/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2) Balanceamento das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A classe mais populosa tem </a:t>
            </a:r>
            <a:r>
              <a:rPr lang="pt-BR" sz="1800" b="1" dirty="0">
                <a:solidFill>
                  <a:schemeClr val="tx1"/>
                </a:solidFill>
              </a:rPr>
              <a:t>921 imagens</a:t>
            </a:r>
            <a:r>
              <a:rPr lang="pt-BR" sz="1800" dirty="0">
                <a:solidFill>
                  <a:schemeClr val="tx1"/>
                </a:solidFill>
              </a:rPr>
              <a:t>. Todas as demais foram aumentadas até atingir esse valor.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3) Aumento de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Rotação (±20°)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Deslocamentos horizontais/verticais (até 20%)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Cisalhamento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Zoom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Espelhamento horizontal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Variação de brilho (0,7–1,3)</a:t>
            </a:r>
            <a:br>
              <a:rPr lang="pt-BR" sz="18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4) Limite de variações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No máximo </a:t>
            </a: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10 variações por imagem base</a:t>
            </a: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 → evita redundância.</a:t>
            </a:r>
          </a:p>
        </p:txBody>
      </p:sp>
      <p:sp>
        <p:nvSpPr>
          <p:cNvPr id="3" name="Google Shape;225;p19">
            <a:extLst>
              <a:ext uri="{FF2B5EF4-FFF2-40B4-BE49-F238E27FC236}">
                <a16:creationId xmlns:a16="http://schemas.microsoft.com/office/drawing/2014/main" id="{D980B467-4AC8-6E42-FE52-6D6BBFE10BDD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163098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C09A308A-5772-46C7-D937-096567640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C56FB406-4557-24B0-6622-ED16E31AAFFE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0943A0B1-5997-7AA3-B3E3-B632D18EEA83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AB7B1CF1-6ED7-4D6A-73F5-FD47954E5F2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C3638CEE-9CD6-3FF0-D879-214A623A042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890C505F-E93A-2719-8BD2-8195984291AF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4D48DDDA-4847-686F-5343-38EEC6D54C35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50736733-B175-55C3-E841-63F5591B71E3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Pré-processamento e aumento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B04501C-D352-9536-6219-11C1A46096FF}"/>
              </a:ext>
            </a:extLst>
          </p:cNvPr>
          <p:cNvSpPr txBox="1"/>
          <p:nvPr/>
        </p:nvSpPr>
        <p:spPr>
          <a:xfrm>
            <a:off x="1257900" y="908100"/>
            <a:ext cx="78861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 dirty="0"/>
              <a:t>1) Redimensionamento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522×522 </a:t>
            </a:r>
            <a:r>
              <a:rPr lang="pt-BR" sz="1800" dirty="0" err="1"/>
              <a:t>px</a:t>
            </a:r>
            <a:r>
              <a:rPr lang="pt-BR" sz="1800" dirty="0"/>
              <a:t> → 224×224 </a:t>
            </a:r>
            <a:r>
              <a:rPr lang="pt-BR" sz="1800" dirty="0" err="1"/>
              <a:t>px</a:t>
            </a:r>
            <a:br>
              <a:rPr lang="pt-BR" sz="1800" dirty="0"/>
            </a:br>
            <a:endParaRPr lang="pt-BR" sz="1800" dirty="0"/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2) Balanceamento das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A classe mais populosa tem </a:t>
            </a:r>
            <a:r>
              <a:rPr lang="pt-BR" sz="1800" b="1" dirty="0">
                <a:solidFill>
                  <a:schemeClr val="tx1"/>
                </a:solidFill>
              </a:rPr>
              <a:t>921 imagens</a:t>
            </a:r>
            <a:r>
              <a:rPr lang="pt-BR" sz="1800" dirty="0">
                <a:solidFill>
                  <a:schemeClr val="tx1"/>
                </a:solidFill>
              </a:rPr>
              <a:t>. Todas as demais foram aumentadas até atingir esse valor.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3) Aumento de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Rotação (±20°)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Deslocamentos horizontais/verticais (até 20%)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Cisalhamento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Zoom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Espelhamento horizontal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Variação de brilho (0,7–1,3)</a:t>
            </a:r>
            <a:br>
              <a:rPr lang="pt-BR" sz="18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4) Limite de variações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No máximo </a:t>
            </a: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10 variações por imagem base</a:t>
            </a: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 → evita redundância.</a:t>
            </a:r>
          </a:p>
        </p:txBody>
      </p:sp>
      <p:sp>
        <p:nvSpPr>
          <p:cNvPr id="3" name="Google Shape;225;p19">
            <a:extLst>
              <a:ext uri="{FF2B5EF4-FFF2-40B4-BE49-F238E27FC236}">
                <a16:creationId xmlns:a16="http://schemas.microsoft.com/office/drawing/2014/main" id="{8D116B72-E865-6947-FC4E-EA62B0DBDD19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8567195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605DDC6E-A518-BA27-565E-7ED06432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88EF8C46-DC3C-BE10-F0AD-44FC42BAE5D8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3A5CF784-74C3-4E48-4960-C195595A1A96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90BDFC93-07E7-EF0C-1E75-E3C8995EBAC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CC57F31C-96E1-6478-6C86-53ACD59629C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250671EA-2566-402A-5CDC-3064790EA2F0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D5E34987-9E95-2A93-6F26-1D0640288311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137A53C3-1538-B044-BAF0-F8269C6B8CD2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Pré-processamento e aumento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569341-4046-DFDE-DE97-3D3BAB0951DB}"/>
              </a:ext>
            </a:extLst>
          </p:cNvPr>
          <p:cNvSpPr txBox="1"/>
          <p:nvPr/>
        </p:nvSpPr>
        <p:spPr>
          <a:xfrm>
            <a:off x="1257900" y="908100"/>
            <a:ext cx="78861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 dirty="0"/>
              <a:t>1) Redimensionamento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522×522 </a:t>
            </a:r>
            <a:r>
              <a:rPr lang="pt-BR" sz="1800" dirty="0" err="1"/>
              <a:t>px</a:t>
            </a:r>
            <a:r>
              <a:rPr lang="pt-BR" sz="1800" dirty="0"/>
              <a:t> → 224×224 </a:t>
            </a:r>
            <a:r>
              <a:rPr lang="pt-BR" sz="1800" dirty="0" err="1"/>
              <a:t>px</a:t>
            </a:r>
            <a:br>
              <a:rPr lang="pt-BR" sz="1800" dirty="0"/>
            </a:br>
            <a:endParaRPr lang="pt-BR" sz="1800" dirty="0"/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2) Balanceamento das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A classe mais populosa tem </a:t>
            </a:r>
            <a:r>
              <a:rPr lang="pt-BR" sz="1800" b="1" dirty="0">
                <a:solidFill>
                  <a:schemeClr val="tx1"/>
                </a:solidFill>
              </a:rPr>
              <a:t>921 imagens</a:t>
            </a:r>
            <a:r>
              <a:rPr lang="pt-BR" sz="1800" dirty="0">
                <a:solidFill>
                  <a:schemeClr val="tx1"/>
                </a:solidFill>
              </a:rPr>
              <a:t>. Todas as demais foram aumentadas até atingir esse valor.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3) Aumento de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Rotação (±20°)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Deslocamentos horizontais/verticais (até 20%)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Cisalhamento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Zoom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Espelhamento horizontal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Variação de brilho (0,7–1,3)</a:t>
            </a:r>
            <a:br>
              <a:rPr lang="pt-BR" sz="18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4) Limite de variações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No máximo </a:t>
            </a:r>
            <a:r>
              <a:rPr lang="pt-BR" sz="1800" b="1" dirty="0">
                <a:solidFill>
                  <a:schemeClr val="tx1"/>
                </a:solidFill>
              </a:rPr>
              <a:t>10 variações por imagem base</a:t>
            </a:r>
            <a:r>
              <a:rPr lang="pt-BR" sz="1800" dirty="0">
                <a:solidFill>
                  <a:schemeClr val="tx1"/>
                </a:solidFill>
              </a:rPr>
              <a:t> → evita redundância.</a:t>
            </a:r>
          </a:p>
        </p:txBody>
      </p:sp>
      <p:sp>
        <p:nvSpPr>
          <p:cNvPr id="3" name="Google Shape;225;p19">
            <a:extLst>
              <a:ext uri="{FF2B5EF4-FFF2-40B4-BE49-F238E27FC236}">
                <a16:creationId xmlns:a16="http://schemas.microsoft.com/office/drawing/2014/main" id="{6E889E21-0D5B-A959-B64D-2DA661449FD3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9526047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7097D250-329E-AFA6-F8A3-4CB6D63E7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EEBD6CF6-A910-092F-0998-AED2185F312D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4419DE92-7CD7-1C17-5613-7259E41CB02B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EC4302D7-C13A-F6CA-6F22-76245822B4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1B1D4DB0-51C3-2896-043D-4DA06A31205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45B9BC18-01A1-5EE7-EC02-41A6EA41ECBF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44912A90-BBAC-87D8-30FA-7D2659897643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B77D3B0B-1F20-2FC7-2293-09CD2281AB8C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735C3825-AB89-20E2-D646-E3F8514339B7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08817C34-C677-3397-D4B7-A6465FC307A2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14147A7A-D9F0-B1C8-629C-3C49A7E21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CE9463AB-8A09-2FEF-5808-4B29772E9857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B6A21800-4B77-F01F-B275-9A2C37718F57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B6A21800-4B77-F01F-B275-9A2C37718F57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8F804219-FC01-7FF1-CE7B-2A917B022C23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8F804219-FC01-7FF1-CE7B-2A917B022C23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73697BF1-E948-D8F9-7175-B27991788D8E}"/>
              </a:ext>
            </a:extLst>
          </p:cNvPr>
          <p:cNvSpPr/>
          <p:nvPr/>
        </p:nvSpPr>
        <p:spPr>
          <a:xfrm>
            <a:off x="2448233" y="4061088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</p:spTree>
    <p:extLst>
      <p:ext uri="{BB962C8B-B14F-4D97-AF65-F5344CB8AC3E}">
        <p14:creationId xmlns:p14="http://schemas.microsoft.com/office/powerpoint/2010/main" val="124829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CE5299C0-2222-0B04-7818-6E633E29B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15D7E81C-3EA7-EE45-408C-85DBA03C5044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FF9571C0-87E1-B489-C410-D24FAFAC71C2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D0F56EBF-A529-D510-14BB-37C0B413BC3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96D6CC6D-0BDE-5A7F-D111-597925B5608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A911051A-9B0A-651D-F958-479F8578F319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98720012-AC26-B853-3F16-1F476435BD3C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95835179-845F-E2AA-8CE3-6BF138AA9606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Pré-processamento e aumento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B99563E-9A02-A566-6F77-8FAA7579468E}"/>
              </a:ext>
            </a:extLst>
          </p:cNvPr>
          <p:cNvSpPr txBox="1"/>
          <p:nvPr/>
        </p:nvSpPr>
        <p:spPr>
          <a:xfrm>
            <a:off x="1257900" y="908100"/>
            <a:ext cx="7886100" cy="45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 algn="l" rtl="0">
              <a:lnSpc>
                <a:spcPct val="150000"/>
              </a:lnSpc>
              <a:buNone/>
            </a:pPr>
            <a:r>
              <a:rPr lang="pt-BR" sz="1800" b="1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Componentes da Arquitetura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A3D7F40D-1C01-5578-AE0B-8F746558594D}"/>
              </a:ext>
            </a:extLst>
          </p:cNvPr>
          <p:cNvSpPr/>
          <p:nvPr/>
        </p:nvSpPr>
        <p:spPr>
          <a:xfrm>
            <a:off x="5681839" y="2341845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MobileNetV2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F97FC1DB-2BC7-87DB-F755-F43C98F1E824}"/>
              </a:ext>
            </a:extLst>
          </p:cNvPr>
          <p:cNvSpPr/>
          <p:nvPr/>
        </p:nvSpPr>
        <p:spPr>
          <a:xfrm>
            <a:off x="5681839" y="4545848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b="1" dirty="0" err="1">
                <a:solidFill>
                  <a:schemeClr val="bg1"/>
                </a:solidFill>
              </a:rPr>
              <a:t>Dense</a:t>
            </a:r>
            <a:r>
              <a:rPr lang="pt-BR" b="1" dirty="0">
                <a:solidFill>
                  <a:schemeClr val="bg1"/>
                </a:solidFill>
              </a:rPr>
              <a:t> final (</a:t>
            </a:r>
            <a:r>
              <a:rPr lang="pt-BR" b="1" dirty="0" err="1">
                <a:solidFill>
                  <a:schemeClr val="bg1"/>
                </a:solidFill>
              </a:rPr>
              <a:t>Softmax</a:t>
            </a:r>
            <a:r>
              <a:rPr lang="pt-BR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1D05042-F327-2F17-4F11-1BE7F3537016}"/>
              </a:ext>
            </a:extLst>
          </p:cNvPr>
          <p:cNvSpPr/>
          <p:nvPr/>
        </p:nvSpPr>
        <p:spPr>
          <a:xfrm>
            <a:off x="5681839" y="3996564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b="1" dirty="0" err="1">
                <a:solidFill>
                  <a:schemeClr val="bg1"/>
                </a:solidFill>
              </a:rPr>
              <a:t>Dense</a:t>
            </a:r>
            <a:r>
              <a:rPr lang="pt-BR" b="1" dirty="0">
                <a:solidFill>
                  <a:schemeClr val="bg1"/>
                </a:solidFill>
              </a:rPr>
              <a:t> 128 (</a:t>
            </a:r>
            <a:r>
              <a:rPr lang="pt-BR" b="1" dirty="0" err="1">
                <a:solidFill>
                  <a:schemeClr val="bg1"/>
                </a:solidFill>
              </a:rPr>
              <a:t>ReLU</a:t>
            </a:r>
            <a:r>
              <a:rPr lang="pt-BR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0C15B98A-239E-D946-CE16-DA03C82F758E}"/>
              </a:ext>
            </a:extLst>
          </p:cNvPr>
          <p:cNvSpPr/>
          <p:nvPr/>
        </p:nvSpPr>
        <p:spPr>
          <a:xfrm>
            <a:off x="5681839" y="3444991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b="1" dirty="0" err="1">
                <a:solidFill>
                  <a:schemeClr val="bg1"/>
                </a:solidFill>
              </a:rPr>
              <a:t>Dropout</a:t>
            </a:r>
            <a:r>
              <a:rPr lang="pt-BR" b="1" dirty="0">
                <a:solidFill>
                  <a:schemeClr val="bg1"/>
                </a:solidFill>
              </a:rPr>
              <a:t> (0,2)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CCF1C49D-C832-FCAF-D547-F327DA68F3B9}"/>
              </a:ext>
            </a:extLst>
          </p:cNvPr>
          <p:cNvSpPr/>
          <p:nvPr/>
        </p:nvSpPr>
        <p:spPr>
          <a:xfrm>
            <a:off x="5681839" y="2893418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GlobalAveragePooling2D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7F59D9D5-E8D1-7C7F-7277-EB08DEBE1FD2}"/>
              </a:ext>
            </a:extLst>
          </p:cNvPr>
          <p:cNvSpPr/>
          <p:nvPr/>
        </p:nvSpPr>
        <p:spPr>
          <a:xfrm>
            <a:off x="6212621" y="5490178"/>
            <a:ext cx="289255" cy="55157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4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4B4F620-3552-82C8-5185-80BDFE369BB0}"/>
              </a:ext>
            </a:extLst>
          </p:cNvPr>
          <p:cNvSpPr/>
          <p:nvPr/>
        </p:nvSpPr>
        <p:spPr>
          <a:xfrm>
            <a:off x="6704372" y="5469636"/>
            <a:ext cx="289255" cy="55157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5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4DB322BC-9EBE-D23C-4726-88C636BDAF98}"/>
              </a:ext>
            </a:extLst>
          </p:cNvPr>
          <p:cNvSpPr/>
          <p:nvPr/>
        </p:nvSpPr>
        <p:spPr>
          <a:xfrm>
            <a:off x="7136429" y="5490176"/>
            <a:ext cx="289255" cy="55157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6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3A9C7AF-1C06-40B5-1004-FFEBB1AAA3B6}"/>
              </a:ext>
            </a:extLst>
          </p:cNvPr>
          <p:cNvSpPr/>
          <p:nvPr/>
        </p:nvSpPr>
        <p:spPr>
          <a:xfrm>
            <a:off x="7598333" y="5490177"/>
            <a:ext cx="289255" cy="55157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7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27B30D6D-6F63-BCA5-0619-C82EA402A424}"/>
              </a:ext>
            </a:extLst>
          </p:cNvPr>
          <p:cNvSpPr/>
          <p:nvPr/>
        </p:nvSpPr>
        <p:spPr>
          <a:xfrm>
            <a:off x="8060237" y="5490176"/>
            <a:ext cx="289255" cy="55157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8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5DB48106-DA25-699B-A06A-DDE957714C84}"/>
              </a:ext>
            </a:extLst>
          </p:cNvPr>
          <p:cNvSpPr/>
          <p:nvPr/>
        </p:nvSpPr>
        <p:spPr>
          <a:xfrm>
            <a:off x="8522141" y="5492951"/>
            <a:ext cx="289255" cy="55157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9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38C0668-3BD8-B84C-5532-7425F894ECDF}"/>
              </a:ext>
            </a:extLst>
          </p:cNvPr>
          <p:cNvSpPr/>
          <p:nvPr/>
        </p:nvSpPr>
        <p:spPr>
          <a:xfrm>
            <a:off x="4826909" y="5484630"/>
            <a:ext cx="289255" cy="55157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1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311CFD8E-C365-8315-A1EC-738E5FA1345C}"/>
              </a:ext>
            </a:extLst>
          </p:cNvPr>
          <p:cNvSpPr/>
          <p:nvPr/>
        </p:nvSpPr>
        <p:spPr>
          <a:xfrm>
            <a:off x="5288813" y="5484629"/>
            <a:ext cx="289255" cy="55157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2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E83B1F86-70CA-B02D-FE75-3D5111E39FA7}"/>
              </a:ext>
            </a:extLst>
          </p:cNvPr>
          <p:cNvSpPr/>
          <p:nvPr/>
        </p:nvSpPr>
        <p:spPr>
          <a:xfrm>
            <a:off x="5750717" y="5484628"/>
            <a:ext cx="289255" cy="55157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3</a:t>
            </a:r>
          </a:p>
        </p:txBody>
      </p: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4A322128-D1A7-49DB-9A48-6F3B75BAEF5E}"/>
              </a:ext>
            </a:extLst>
          </p:cNvPr>
          <p:cNvCxnSpPr>
            <a:cxnSpLocks/>
            <a:stCxn id="7" idx="2"/>
            <a:endCxn id="18" idx="0"/>
          </p:cNvCxnSpPr>
          <p:nvPr/>
        </p:nvCxnSpPr>
        <p:spPr>
          <a:xfrm flipH="1">
            <a:off x="4971537" y="5097421"/>
            <a:ext cx="1893584" cy="387209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01262E39-3A27-4F65-B63D-FDBFEC0399DC}"/>
              </a:ext>
            </a:extLst>
          </p:cNvPr>
          <p:cNvCxnSpPr>
            <a:cxnSpLocks/>
            <a:stCxn id="7" idx="2"/>
            <a:endCxn id="19" idx="0"/>
          </p:cNvCxnSpPr>
          <p:nvPr/>
        </p:nvCxnSpPr>
        <p:spPr>
          <a:xfrm flipH="1">
            <a:off x="5433441" y="5097421"/>
            <a:ext cx="1431680" cy="387208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8345C048-C650-910B-C026-13A2B6129548}"/>
              </a:ext>
            </a:extLst>
          </p:cNvPr>
          <p:cNvCxnSpPr>
            <a:cxnSpLocks/>
            <a:stCxn id="7" idx="2"/>
            <a:endCxn id="20" idx="0"/>
          </p:cNvCxnSpPr>
          <p:nvPr/>
        </p:nvCxnSpPr>
        <p:spPr>
          <a:xfrm flipH="1">
            <a:off x="5895345" y="5097421"/>
            <a:ext cx="969776" cy="387207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Conector de Seta Reta 24">
            <a:extLst>
              <a:ext uri="{FF2B5EF4-FFF2-40B4-BE49-F238E27FC236}">
                <a16:creationId xmlns:a16="http://schemas.microsoft.com/office/drawing/2014/main" id="{B58ADF49-5273-CA1C-D269-0F440F382460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flipH="1">
            <a:off x="6357249" y="5097421"/>
            <a:ext cx="507872" cy="392757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F92D31DA-DCBD-5253-BBEA-ABBEC2F16EFD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flipH="1">
            <a:off x="6849000" y="5097421"/>
            <a:ext cx="16121" cy="372215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Conector de Seta Reta 38">
            <a:extLst>
              <a:ext uri="{FF2B5EF4-FFF2-40B4-BE49-F238E27FC236}">
                <a16:creationId xmlns:a16="http://schemas.microsoft.com/office/drawing/2014/main" id="{0F6A74DE-0B40-810E-4DA2-1B19253F3718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>
            <a:off x="6865121" y="5097421"/>
            <a:ext cx="415936" cy="392755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F3DC45E4-3A10-CB07-7BD7-47360933FE36}"/>
              </a:ext>
            </a:extLst>
          </p:cNvPr>
          <p:cNvCxnSpPr>
            <a:cxnSpLocks/>
            <a:stCxn id="7" idx="2"/>
            <a:endCxn id="15" idx="0"/>
          </p:cNvCxnSpPr>
          <p:nvPr/>
        </p:nvCxnSpPr>
        <p:spPr>
          <a:xfrm>
            <a:off x="6865121" y="5097421"/>
            <a:ext cx="877840" cy="392756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Conector de Seta Reta 44">
            <a:extLst>
              <a:ext uri="{FF2B5EF4-FFF2-40B4-BE49-F238E27FC236}">
                <a16:creationId xmlns:a16="http://schemas.microsoft.com/office/drawing/2014/main" id="{A6AD9C2D-4C69-8F97-CF5A-9F7F026F8829}"/>
              </a:ext>
            </a:extLst>
          </p:cNvPr>
          <p:cNvCxnSpPr>
            <a:cxnSpLocks/>
            <a:stCxn id="7" idx="2"/>
            <a:endCxn id="16" idx="0"/>
          </p:cNvCxnSpPr>
          <p:nvPr/>
        </p:nvCxnSpPr>
        <p:spPr>
          <a:xfrm>
            <a:off x="6865121" y="5097421"/>
            <a:ext cx="1339744" cy="392755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EF5A2643-2063-7C78-2DBA-1420C3D63996}"/>
              </a:ext>
            </a:extLst>
          </p:cNvPr>
          <p:cNvCxnSpPr>
            <a:cxnSpLocks/>
            <a:stCxn id="7" idx="2"/>
            <a:endCxn id="17" idx="0"/>
          </p:cNvCxnSpPr>
          <p:nvPr/>
        </p:nvCxnSpPr>
        <p:spPr>
          <a:xfrm>
            <a:off x="6865121" y="5097421"/>
            <a:ext cx="1801648" cy="395530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52" name="Imagem 51" descr="Câmera fotográfica preta&#10;&#10;O conteúdo gerado por IA pode estar incorreto.">
            <a:extLst>
              <a:ext uri="{FF2B5EF4-FFF2-40B4-BE49-F238E27FC236}">
                <a16:creationId xmlns:a16="http://schemas.microsoft.com/office/drawing/2014/main" id="{76D589CE-6455-CD3E-8263-375EA7DC3B6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666" t="23683" r="13020" b="15224"/>
          <a:stretch>
            <a:fillRect/>
          </a:stretch>
        </p:blipFill>
        <p:spPr>
          <a:xfrm>
            <a:off x="3589135" y="2905912"/>
            <a:ext cx="1560188" cy="1217122"/>
          </a:xfrm>
          <a:prstGeom prst="rect">
            <a:avLst/>
          </a:prstGeom>
        </p:spPr>
      </p:pic>
      <p:pic>
        <p:nvPicPr>
          <p:cNvPr id="54" name="Imagem 53">
            <a:extLst>
              <a:ext uri="{FF2B5EF4-FFF2-40B4-BE49-F238E27FC236}">
                <a16:creationId xmlns:a16="http://schemas.microsoft.com/office/drawing/2014/main" id="{5D1D63E6-43EF-515A-6EF9-5CD278522D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9917" y="2320503"/>
            <a:ext cx="1798922" cy="1784177"/>
          </a:xfrm>
          <a:prstGeom prst="rect">
            <a:avLst/>
          </a:prstGeom>
        </p:spPr>
      </p:pic>
      <p:cxnSp>
        <p:nvCxnSpPr>
          <p:cNvPr id="56" name="Conector: Angulado 55">
            <a:extLst>
              <a:ext uri="{FF2B5EF4-FFF2-40B4-BE49-F238E27FC236}">
                <a16:creationId xmlns:a16="http://schemas.microsoft.com/office/drawing/2014/main" id="{2DDB3724-BF40-C160-AAFF-B939B8B10D62}"/>
              </a:ext>
            </a:extLst>
          </p:cNvPr>
          <p:cNvCxnSpPr>
            <a:cxnSpLocks/>
            <a:stCxn id="6" idx="0"/>
            <a:endCxn id="52" idx="3"/>
          </p:cNvCxnSpPr>
          <p:nvPr/>
        </p:nvCxnSpPr>
        <p:spPr>
          <a:xfrm rot="16200000" flipH="1" flipV="1">
            <a:off x="5420908" y="2070260"/>
            <a:ext cx="1172628" cy="1715798"/>
          </a:xfrm>
          <a:prstGeom prst="bentConnector4">
            <a:avLst>
              <a:gd name="adj1" fmla="val -19495"/>
              <a:gd name="adj2" fmla="val 84482"/>
            </a:avLst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Conector reto 60">
            <a:extLst>
              <a:ext uri="{FF2B5EF4-FFF2-40B4-BE49-F238E27FC236}">
                <a16:creationId xmlns:a16="http://schemas.microsoft.com/office/drawing/2014/main" id="{6FDD6DDA-610E-DC43-2869-2DD6759D4A41}"/>
              </a:ext>
            </a:extLst>
          </p:cNvPr>
          <p:cNvCxnSpPr/>
          <p:nvPr/>
        </p:nvCxnSpPr>
        <p:spPr>
          <a:xfrm flipH="1" flipV="1">
            <a:off x="2143432" y="2210747"/>
            <a:ext cx="2015613" cy="825909"/>
          </a:xfrm>
          <a:prstGeom prst="line">
            <a:avLst/>
          </a:prstGeom>
          <a:ln w="28575" cap="flat" cmpd="sng" algn="ctr">
            <a:solidFill>
              <a:srgbClr val="00B0F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2" name="Conector reto 61">
            <a:extLst>
              <a:ext uri="{FF2B5EF4-FFF2-40B4-BE49-F238E27FC236}">
                <a16:creationId xmlns:a16="http://schemas.microsoft.com/office/drawing/2014/main" id="{8A26EEED-15D9-3038-9DA9-F825404830E1}"/>
              </a:ext>
            </a:extLst>
          </p:cNvPr>
          <p:cNvCxnSpPr>
            <a:cxnSpLocks/>
          </p:cNvCxnSpPr>
          <p:nvPr/>
        </p:nvCxnSpPr>
        <p:spPr>
          <a:xfrm flipH="1">
            <a:off x="2155048" y="3357314"/>
            <a:ext cx="2015613" cy="825909"/>
          </a:xfrm>
          <a:prstGeom prst="line">
            <a:avLst/>
          </a:prstGeom>
          <a:ln w="28575" cap="flat" cmpd="sng" algn="ctr">
            <a:solidFill>
              <a:srgbClr val="00B0F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Google Shape;225;p19">
            <a:extLst>
              <a:ext uri="{FF2B5EF4-FFF2-40B4-BE49-F238E27FC236}">
                <a16:creationId xmlns:a16="http://schemas.microsoft.com/office/drawing/2014/main" id="{58C8CD46-E059-8A7C-D7F1-F4079F5ECEE4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3002992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AC22223B-5EC8-FBFE-1C02-702EC7FBC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F5173A08-81C4-FF72-CABD-4B4E96847FDB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193395D7-1AAA-534C-694D-84B3F5077D61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61C8525F-0C07-327F-DF06-2C25A71E858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54832CF4-FC7D-6FB1-3214-A6499240719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2EB17D46-41D3-C9AC-8BD8-FB97A56B2865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4D031C37-F7BF-3241-0A12-85E05A7524CD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FD5B177A-F9CA-198B-3397-C21A12420675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Configuração do Treino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83AE0A2-F5C7-4B4E-8E1A-BB65E22EAF60}"/>
              </a:ext>
            </a:extLst>
          </p:cNvPr>
          <p:cNvSpPr txBox="1"/>
          <p:nvPr/>
        </p:nvSpPr>
        <p:spPr>
          <a:xfrm>
            <a:off x="1257900" y="908100"/>
            <a:ext cx="7886100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/>
              <a:t>Divisão dos dados: </a:t>
            </a:r>
            <a:r>
              <a:rPr lang="pt-BR" sz="2000" b="1" dirty="0">
                <a:solidFill>
                  <a:srgbClr val="FF0000"/>
                </a:solidFill>
              </a:rPr>
              <a:t>80% treino </a:t>
            </a:r>
            <a:r>
              <a:rPr lang="pt-BR" sz="2000" b="1" dirty="0"/>
              <a:t>/ </a:t>
            </a:r>
            <a:r>
              <a:rPr lang="pt-BR" sz="2000" b="1" dirty="0">
                <a:solidFill>
                  <a:srgbClr val="00B0F0"/>
                </a:solidFill>
              </a:rPr>
              <a:t>20% validação</a:t>
            </a:r>
            <a:endParaRPr lang="pt-BR" sz="1600" dirty="0">
              <a:solidFill>
                <a:srgbClr val="00B0F0"/>
              </a:solidFill>
            </a:endParaRPr>
          </a:p>
          <a:p>
            <a:r>
              <a:rPr lang="pt-BR" sz="1600" dirty="0"/>
              <a:t>Lotes (</a:t>
            </a:r>
            <a:r>
              <a:rPr lang="pt-BR" sz="1600" b="1" dirty="0"/>
              <a:t>batch </a:t>
            </a:r>
            <a:r>
              <a:rPr lang="pt-BR" sz="1600" b="1" dirty="0" err="1"/>
              <a:t>size</a:t>
            </a:r>
            <a:r>
              <a:rPr lang="pt-BR" sz="1600" dirty="0"/>
              <a:t>): 64</a:t>
            </a:r>
          </a:p>
          <a:p>
            <a:r>
              <a:rPr lang="pt-BR" sz="1600" dirty="0"/>
              <a:t>Otimizador: </a:t>
            </a:r>
            <a:r>
              <a:rPr lang="pt-BR" sz="1600" b="1" dirty="0" err="1"/>
              <a:t>AdamW</a:t>
            </a:r>
            <a:endParaRPr lang="pt-BR" sz="1600" dirty="0"/>
          </a:p>
          <a:p>
            <a:r>
              <a:rPr lang="pt-BR" sz="1600" dirty="0"/>
              <a:t>Taxa de aprendizado inicial: </a:t>
            </a:r>
            <a:r>
              <a:rPr lang="pt-BR" sz="1600" b="1" dirty="0"/>
              <a:t>1e-4</a:t>
            </a:r>
            <a:endParaRPr lang="pt-BR" sz="1600" dirty="0"/>
          </a:p>
          <a:p>
            <a:r>
              <a:rPr lang="pt-BR" sz="1600" dirty="0"/>
              <a:t>Função de perda: </a:t>
            </a:r>
            <a:r>
              <a:rPr lang="pt-BR" sz="1600" b="1" dirty="0" err="1"/>
              <a:t>Sparse</a:t>
            </a:r>
            <a:r>
              <a:rPr lang="pt-BR" sz="1600" b="1" dirty="0"/>
              <a:t> </a:t>
            </a:r>
            <a:r>
              <a:rPr lang="pt-BR" sz="1600" b="1" dirty="0" err="1"/>
              <a:t>Categorical</a:t>
            </a:r>
            <a:r>
              <a:rPr lang="pt-BR" sz="1600" b="1" dirty="0"/>
              <a:t> </a:t>
            </a:r>
            <a:r>
              <a:rPr lang="pt-BR" sz="1600" b="1" dirty="0" err="1"/>
              <a:t>Crossentropy</a:t>
            </a:r>
            <a:endParaRPr lang="pt-BR" sz="1600" dirty="0"/>
          </a:p>
          <a:p>
            <a:r>
              <a:rPr lang="pt-BR" sz="1600" dirty="0"/>
              <a:t>Pesos por classe para compensar desequilíbrios</a:t>
            </a:r>
          </a:p>
          <a:p>
            <a:endParaRPr lang="pt-BR" sz="1600" dirty="0"/>
          </a:p>
          <a:p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Fases do Treinamento</a:t>
            </a:r>
          </a:p>
          <a:p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Pré-treino:</a:t>
            </a: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pPr lvl="1"/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Base congelada</a:t>
            </a:r>
          </a:p>
          <a:p>
            <a:pPr lvl="1"/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5 épocas para estabilizar as camadas superiores</a:t>
            </a:r>
          </a:p>
          <a:p>
            <a:pPr lvl="1"/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Ajuste fino:</a:t>
            </a: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pPr lvl="1"/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Descongeladas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as 80 últimas camadas</a:t>
            </a: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pPr lvl="1"/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Especialização progressiva da rede</a:t>
            </a:r>
          </a:p>
          <a:p>
            <a:pPr lvl="1"/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pt-BR" sz="1600" b="1" dirty="0" err="1">
                <a:solidFill>
                  <a:schemeClr val="bg1">
                    <a:lumMod val="75000"/>
                  </a:schemeClr>
                </a:solidFill>
              </a:rPr>
              <a:t>Callbacks</a:t>
            </a:r>
            <a:endParaRPr lang="pt-BR" sz="1600" b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pt-BR" sz="1600" b="1" dirty="0" err="1">
                <a:solidFill>
                  <a:schemeClr val="bg1">
                    <a:lumMod val="75000"/>
                  </a:schemeClr>
                </a:solidFill>
              </a:rPr>
              <a:t>EarlyStopping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: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 monitora </a:t>
            </a:r>
            <a:r>
              <a:rPr lang="pt-BR" sz="1600" i="1" dirty="0" err="1">
                <a:solidFill>
                  <a:schemeClr val="bg1">
                    <a:lumMod val="75000"/>
                  </a:schemeClr>
                </a:solidFill>
              </a:rPr>
              <a:t>val_loss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, </a:t>
            </a:r>
            <a:r>
              <a:rPr lang="pt-BR" sz="1600" dirty="0" err="1">
                <a:solidFill>
                  <a:schemeClr val="bg1">
                    <a:lumMod val="75000"/>
                  </a:schemeClr>
                </a:solidFill>
              </a:rPr>
              <a:t>patience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 = 10</a:t>
            </a:r>
          </a:p>
          <a:p>
            <a:r>
              <a:rPr lang="pt-BR" sz="1600" b="1" dirty="0" err="1">
                <a:solidFill>
                  <a:schemeClr val="bg1">
                    <a:lumMod val="75000"/>
                  </a:schemeClr>
                </a:solidFill>
              </a:rPr>
              <a:t>ReduceLROnPlateau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: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 reduz LR quando validação estagna</a:t>
            </a:r>
          </a:p>
          <a:p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Treinamento com limite de até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150 épocas</a:t>
            </a: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Google Shape;225;p19">
            <a:extLst>
              <a:ext uri="{FF2B5EF4-FFF2-40B4-BE49-F238E27FC236}">
                <a16:creationId xmlns:a16="http://schemas.microsoft.com/office/drawing/2014/main" id="{199C9CB3-B6D0-CAEB-EF95-4E2D11A87C49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446941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A03BB3B8-5737-7DD7-F1E4-34E4272E5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0B6E81D8-AB88-0779-A004-898105B5A520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F6CC9DCB-26A9-50C9-1FE9-E1AE27A3FA7A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6147F909-159C-7943-9F6A-86DEC9E9B8D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B0260EA8-EBE6-1583-5B31-4544C3A6E3F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3618F83B-4CFF-44E1-6F25-DDD5E7001A47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DBD6B6B3-0AF6-04AD-270C-6FDEB30405F6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B7C4268-0D46-74B9-149B-5E5AB3B16EEB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Configuração do Treino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0DBC607-F23A-FF34-7150-6D5015CDD254}"/>
              </a:ext>
            </a:extLst>
          </p:cNvPr>
          <p:cNvSpPr txBox="1"/>
          <p:nvPr/>
        </p:nvSpPr>
        <p:spPr>
          <a:xfrm>
            <a:off x="1257900" y="908100"/>
            <a:ext cx="7886100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/>
              <a:t>Divisão dos dados: </a:t>
            </a:r>
            <a:r>
              <a:rPr kumimoji="0" lang="pt-BR" sz="2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80% treino </a:t>
            </a:r>
            <a:r>
              <a:rPr kumimoji="0" lang="pt-BR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/ </a:t>
            </a:r>
            <a:r>
              <a:rPr kumimoji="0" lang="pt-BR" sz="20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20% validação</a:t>
            </a:r>
            <a:endParaRPr lang="pt-BR" sz="1600" dirty="0"/>
          </a:p>
          <a:p>
            <a:r>
              <a:rPr lang="pt-BR" sz="1600" dirty="0"/>
              <a:t>Lotes (</a:t>
            </a:r>
            <a:r>
              <a:rPr lang="pt-BR" sz="1600" b="1" dirty="0"/>
              <a:t>batch </a:t>
            </a:r>
            <a:r>
              <a:rPr lang="pt-BR" sz="1600" b="1" dirty="0" err="1"/>
              <a:t>size</a:t>
            </a:r>
            <a:r>
              <a:rPr lang="pt-BR" sz="1600" dirty="0"/>
              <a:t>): 64</a:t>
            </a:r>
          </a:p>
          <a:p>
            <a:r>
              <a:rPr lang="pt-BR" sz="1600" dirty="0"/>
              <a:t>Otimizador: </a:t>
            </a:r>
            <a:r>
              <a:rPr lang="pt-BR" sz="1600" b="1" dirty="0" err="1"/>
              <a:t>AdamW</a:t>
            </a:r>
            <a:endParaRPr lang="pt-BR" sz="1600" dirty="0"/>
          </a:p>
          <a:p>
            <a:r>
              <a:rPr lang="pt-BR" sz="1600" dirty="0"/>
              <a:t>Taxa de aprendizado inicial: </a:t>
            </a:r>
            <a:r>
              <a:rPr lang="pt-BR" sz="1600" b="1" dirty="0"/>
              <a:t>1e-4</a:t>
            </a:r>
            <a:endParaRPr lang="pt-BR" sz="1600" dirty="0"/>
          </a:p>
          <a:p>
            <a:r>
              <a:rPr lang="pt-BR" sz="1600" dirty="0"/>
              <a:t>Função de perda: </a:t>
            </a:r>
            <a:r>
              <a:rPr lang="pt-BR" sz="1600" b="1" dirty="0" err="1"/>
              <a:t>Sparse</a:t>
            </a:r>
            <a:r>
              <a:rPr lang="pt-BR" sz="1600" b="1" dirty="0"/>
              <a:t> </a:t>
            </a:r>
            <a:r>
              <a:rPr lang="pt-BR" sz="1600" b="1" dirty="0" err="1"/>
              <a:t>Categorical</a:t>
            </a:r>
            <a:r>
              <a:rPr lang="pt-BR" sz="1600" b="1" dirty="0"/>
              <a:t> </a:t>
            </a:r>
            <a:r>
              <a:rPr lang="pt-BR" sz="1600" b="1" dirty="0" err="1"/>
              <a:t>Crossentropy</a:t>
            </a:r>
            <a:endParaRPr lang="pt-BR" sz="1600" dirty="0"/>
          </a:p>
          <a:p>
            <a:r>
              <a:rPr lang="pt-BR" sz="1600" dirty="0"/>
              <a:t>Pesos por classe para compensar desequilíbrios</a:t>
            </a:r>
          </a:p>
          <a:p>
            <a:endParaRPr lang="pt-BR" sz="1600" dirty="0"/>
          </a:p>
          <a:p>
            <a:r>
              <a:rPr lang="pt-BR" sz="1800" b="1" dirty="0">
                <a:solidFill>
                  <a:schemeClr val="tx1"/>
                </a:solidFill>
              </a:rPr>
              <a:t>Fases do Treinamento</a:t>
            </a:r>
          </a:p>
          <a:p>
            <a:r>
              <a:rPr lang="pt-BR" sz="1600" b="1" dirty="0">
                <a:solidFill>
                  <a:schemeClr val="tx1"/>
                </a:solidFill>
              </a:rPr>
              <a:t>Pré-treino:</a:t>
            </a:r>
            <a:endParaRPr lang="pt-BR" sz="1600" dirty="0">
              <a:solidFill>
                <a:schemeClr val="tx1"/>
              </a:solidFill>
            </a:endParaRPr>
          </a:p>
          <a:p>
            <a:pPr lvl="1"/>
            <a:r>
              <a:rPr lang="pt-BR" sz="1600" dirty="0">
                <a:solidFill>
                  <a:schemeClr val="tx1"/>
                </a:solidFill>
              </a:rPr>
              <a:t>Base congelada</a:t>
            </a:r>
          </a:p>
          <a:p>
            <a:pPr lvl="1"/>
            <a:r>
              <a:rPr lang="pt-BR" sz="1600" dirty="0">
                <a:solidFill>
                  <a:schemeClr val="tx1"/>
                </a:solidFill>
              </a:rPr>
              <a:t>5 épocas para estabilizar as camadas superiores</a:t>
            </a:r>
          </a:p>
          <a:p>
            <a:pPr lvl="1"/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Ajuste fino:</a:t>
            </a: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pPr lvl="1"/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Descongeladas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as 80 últimas camadas</a:t>
            </a: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pPr lvl="1"/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Especialização progressiva da rede</a:t>
            </a:r>
          </a:p>
          <a:p>
            <a:pPr lvl="1"/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pt-BR" sz="1600" b="1" dirty="0" err="1">
                <a:solidFill>
                  <a:schemeClr val="bg1">
                    <a:lumMod val="75000"/>
                  </a:schemeClr>
                </a:solidFill>
              </a:rPr>
              <a:t>Callbacks</a:t>
            </a:r>
            <a:endParaRPr lang="pt-BR" sz="1600" b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pt-BR" sz="1600" b="1" dirty="0" err="1">
                <a:solidFill>
                  <a:schemeClr val="bg1">
                    <a:lumMod val="75000"/>
                  </a:schemeClr>
                </a:solidFill>
              </a:rPr>
              <a:t>EarlyStopping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: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 monitora </a:t>
            </a:r>
            <a:r>
              <a:rPr lang="pt-BR" sz="1600" i="1" dirty="0" err="1">
                <a:solidFill>
                  <a:schemeClr val="bg1">
                    <a:lumMod val="75000"/>
                  </a:schemeClr>
                </a:solidFill>
              </a:rPr>
              <a:t>val_loss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, </a:t>
            </a:r>
            <a:r>
              <a:rPr lang="pt-BR" sz="1600" dirty="0" err="1">
                <a:solidFill>
                  <a:schemeClr val="bg1">
                    <a:lumMod val="75000"/>
                  </a:schemeClr>
                </a:solidFill>
              </a:rPr>
              <a:t>patience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 = 10</a:t>
            </a:r>
          </a:p>
          <a:p>
            <a:r>
              <a:rPr lang="pt-BR" sz="1600" b="1" dirty="0" err="1">
                <a:solidFill>
                  <a:schemeClr val="bg1">
                    <a:lumMod val="75000"/>
                  </a:schemeClr>
                </a:solidFill>
              </a:rPr>
              <a:t>ReduceLROnPlateau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: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 reduz LR quando validação estagna</a:t>
            </a:r>
          </a:p>
          <a:p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Treinamento com limite de até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150 épocas</a:t>
            </a: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Google Shape;225;p19">
            <a:extLst>
              <a:ext uri="{FF2B5EF4-FFF2-40B4-BE49-F238E27FC236}">
                <a16:creationId xmlns:a16="http://schemas.microsoft.com/office/drawing/2014/main" id="{3254A5A3-C2FE-9B5B-9C2B-C6BE485289BB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32036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66462DA3-7D0C-2A41-62EE-B8EFC57B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E45DF2B7-C64C-EC34-7EC9-386AF898C094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790544F5-AE39-B1E2-0D98-85AD87D42D79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7E7A616C-DA5B-51C0-558A-2AC6E36E809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E786C3DE-E1DA-1775-CFD5-C95DA6E1491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74D5B004-85A6-0044-514C-6EE6C1624DDB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7C6C285C-99A7-2D4F-3FBF-0FD292735B64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60B5F0E4-D2A8-8CAB-1600-C249AC5F1DF8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Configuração do Treino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0203F3D-7883-EC14-D681-1FCE49A2E8EA}"/>
              </a:ext>
            </a:extLst>
          </p:cNvPr>
          <p:cNvSpPr txBox="1"/>
          <p:nvPr/>
        </p:nvSpPr>
        <p:spPr>
          <a:xfrm>
            <a:off x="1257900" y="908100"/>
            <a:ext cx="7886100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/>
              <a:t>Divisão dos dados: </a:t>
            </a:r>
            <a:r>
              <a:rPr kumimoji="0" lang="pt-BR" sz="2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80% treino </a:t>
            </a:r>
            <a:r>
              <a:rPr kumimoji="0" lang="pt-BR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/ </a:t>
            </a:r>
            <a:r>
              <a:rPr kumimoji="0" lang="pt-BR" sz="20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20% validação</a:t>
            </a:r>
            <a:endParaRPr lang="pt-BR" sz="1600" dirty="0"/>
          </a:p>
          <a:p>
            <a:r>
              <a:rPr lang="pt-BR" sz="1600" dirty="0"/>
              <a:t>Lotes (</a:t>
            </a:r>
            <a:r>
              <a:rPr lang="pt-BR" sz="1600" b="1" dirty="0"/>
              <a:t>batch </a:t>
            </a:r>
            <a:r>
              <a:rPr lang="pt-BR" sz="1600" b="1" dirty="0" err="1"/>
              <a:t>size</a:t>
            </a:r>
            <a:r>
              <a:rPr lang="pt-BR" sz="1600" dirty="0"/>
              <a:t>): 64</a:t>
            </a:r>
          </a:p>
          <a:p>
            <a:r>
              <a:rPr lang="pt-BR" sz="1600" dirty="0"/>
              <a:t>Otimizador: </a:t>
            </a:r>
            <a:r>
              <a:rPr lang="pt-BR" sz="1600" b="1" dirty="0" err="1"/>
              <a:t>AdamW</a:t>
            </a:r>
            <a:endParaRPr lang="pt-BR" sz="1600" dirty="0"/>
          </a:p>
          <a:p>
            <a:r>
              <a:rPr lang="pt-BR" sz="1600" dirty="0"/>
              <a:t>Taxa de aprendizado inicial: </a:t>
            </a:r>
            <a:r>
              <a:rPr lang="pt-BR" sz="1600" b="1" dirty="0"/>
              <a:t>1e-4</a:t>
            </a:r>
            <a:endParaRPr lang="pt-BR" sz="1600" dirty="0"/>
          </a:p>
          <a:p>
            <a:r>
              <a:rPr lang="pt-BR" sz="1600" dirty="0"/>
              <a:t>Função de perda: </a:t>
            </a:r>
            <a:r>
              <a:rPr lang="pt-BR" sz="1600" b="1" dirty="0" err="1"/>
              <a:t>Sparse</a:t>
            </a:r>
            <a:r>
              <a:rPr lang="pt-BR" sz="1600" b="1" dirty="0"/>
              <a:t> </a:t>
            </a:r>
            <a:r>
              <a:rPr lang="pt-BR" sz="1600" b="1" dirty="0" err="1"/>
              <a:t>Categorical</a:t>
            </a:r>
            <a:r>
              <a:rPr lang="pt-BR" sz="1600" b="1" dirty="0"/>
              <a:t> </a:t>
            </a:r>
            <a:r>
              <a:rPr lang="pt-BR" sz="1600" b="1" dirty="0" err="1"/>
              <a:t>Crossentropy</a:t>
            </a:r>
            <a:endParaRPr lang="pt-BR" sz="1600" dirty="0"/>
          </a:p>
          <a:p>
            <a:r>
              <a:rPr lang="pt-BR" sz="1600" dirty="0"/>
              <a:t>Pesos por classe para compensar desequilíbrios</a:t>
            </a:r>
          </a:p>
          <a:p>
            <a:endParaRPr lang="pt-BR" sz="1600" dirty="0"/>
          </a:p>
          <a:p>
            <a:r>
              <a:rPr lang="pt-BR" sz="1800" b="1" dirty="0">
                <a:solidFill>
                  <a:schemeClr val="tx1"/>
                </a:solidFill>
              </a:rPr>
              <a:t>Fases do Treinamento</a:t>
            </a:r>
          </a:p>
          <a:p>
            <a:r>
              <a:rPr lang="pt-BR" sz="1600" b="1" dirty="0">
                <a:solidFill>
                  <a:schemeClr val="tx1"/>
                </a:solidFill>
              </a:rPr>
              <a:t>Pré-treino:</a:t>
            </a:r>
            <a:endParaRPr lang="pt-BR" sz="1600" dirty="0">
              <a:solidFill>
                <a:schemeClr val="tx1"/>
              </a:solidFill>
            </a:endParaRPr>
          </a:p>
          <a:p>
            <a:pPr lvl="1"/>
            <a:r>
              <a:rPr lang="pt-BR" sz="1600" dirty="0">
                <a:solidFill>
                  <a:schemeClr val="tx1"/>
                </a:solidFill>
              </a:rPr>
              <a:t>Base congelada</a:t>
            </a:r>
          </a:p>
          <a:p>
            <a:pPr lvl="1"/>
            <a:r>
              <a:rPr lang="pt-BR" sz="1600" dirty="0">
                <a:solidFill>
                  <a:schemeClr val="tx1"/>
                </a:solidFill>
              </a:rPr>
              <a:t>5 épocas para estabilizar as camadas superiores</a:t>
            </a:r>
          </a:p>
          <a:p>
            <a:pPr lvl="1"/>
            <a:endParaRPr lang="pt-BR" sz="1600" dirty="0">
              <a:solidFill>
                <a:schemeClr val="tx1"/>
              </a:solidFill>
            </a:endParaRPr>
          </a:p>
          <a:p>
            <a:r>
              <a:rPr lang="pt-BR" sz="1600" b="1" dirty="0">
                <a:solidFill>
                  <a:schemeClr val="tx1"/>
                </a:solidFill>
              </a:rPr>
              <a:t>Ajuste fino:</a:t>
            </a:r>
            <a:endParaRPr lang="pt-BR" sz="1600" dirty="0">
              <a:solidFill>
                <a:schemeClr val="tx1"/>
              </a:solidFill>
            </a:endParaRPr>
          </a:p>
          <a:p>
            <a:pPr lvl="1"/>
            <a:r>
              <a:rPr lang="pt-BR" sz="1600" dirty="0">
                <a:solidFill>
                  <a:schemeClr val="tx1"/>
                </a:solidFill>
              </a:rPr>
              <a:t>Descongeladas </a:t>
            </a:r>
            <a:r>
              <a:rPr lang="pt-BR" sz="1600" b="1" dirty="0">
                <a:solidFill>
                  <a:schemeClr val="tx1"/>
                </a:solidFill>
              </a:rPr>
              <a:t>as 80 últimas camadas</a:t>
            </a:r>
            <a:endParaRPr lang="pt-BR" sz="1600" dirty="0">
              <a:solidFill>
                <a:schemeClr val="tx1"/>
              </a:solidFill>
            </a:endParaRPr>
          </a:p>
          <a:p>
            <a:pPr lvl="1"/>
            <a:r>
              <a:rPr lang="pt-BR" sz="1600" dirty="0">
                <a:solidFill>
                  <a:schemeClr val="tx1"/>
                </a:solidFill>
              </a:rPr>
              <a:t>Especialização progressiva da rede</a:t>
            </a:r>
          </a:p>
          <a:p>
            <a:pPr lvl="1"/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pt-BR" sz="1600" b="1" dirty="0" err="1">
                <a:solidFill>
                  <a:schemeClr val="bg1">
                    <a:lumMod val="75000"/>
                  </a:schemeClr>
                </a:solidFill>
              </a:rPr>
              <a:t>Callbacks</a:t>
            </a:r>
            <a:endParaRPr lang="pt-BR" sz="1600" b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pt-BR" sz="1600" b="1" dirty="0" err="1">
                <a:solidFill>
                  <a:schemeClr val="bg1">
                    <a:lumMod val="75000"/>
                  </a:schemeClr>
                </a:solidFill>
              </a:rPr>
              <a:t>EarlyStopping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: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 monitora </a:t>
            </a:r>
            <a:r>
              <a:rPr lang="pt-BR" sz="1600" i="1" dirty="0" err="1">
                <a:solidFill>
                  <a:schemeClr val="bg1">
                    <a:lumMod val="75000"/>
                  </a:schemeClr>
                </a:solidFill>
              </a:rPr>
              <a:t>val_loss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, </a:t>
            </a:r>
            <a:r>
              <a:rPr lang="pt-BR" sz="1600" dirty="0" err="1">
                <a:solidFill>
                  <a:schemeClr val="bg1">
                    <a:lumMod val="75000"/>
                  </a:schemeClr>
                </a:solidFill>
              </a:rPr>
              <a:t>patience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 = 10</a:t>
            </a:r>
          </a:p>
          <a:p>
            <a:r>
              <a:rPr lang="pt-BR" sz="1600" b="1" dirty="0" err="1">
                <a:solidFill>
                  <a:schemeClr val="bg1">
                    <a:lumMod val="75000"/>
                  </a:schemeClr>
                </a:solidFill>
              </a:rPr>
              <a:t>ReduceLROnPlateau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: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 reduz LR quando validação estagna</a:t>
            </a:r>
          </a:p>
          <a:p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Treinamento com limite de até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150 épocas</a:t>
            </a: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Google Shape;225;p19">
            <a:extLst>
              <a:ext uri="{FF2B5EF4-FFF2-40B4-BE49-F238E27FC236}">
                <a16:creationId xmlns:a16="http://schemas.microsoft.com/office/drawing/2014/main" id="{501AAD69-B740-6169-0D07-9EBB70AC2101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6968616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9A06404F-D1D9-77D2-8CAA-6C6327912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B53C1BD2-FC2B-35FB-B1F2-77CB89A66B52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BB824F8B-93DF-6D4D-3ECA-199D29D243C0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D0059A58-2AE8-92B7-6463-E1D98FA1E8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BD6F4C92-5523-C154-13CB-F4ACFFFCF02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E75796AA-C8E7-4255-1E34-6F59838BA5D1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526C8B06-740F-F3BE-03BF-0DE804BC7497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CDD94944-10C7-4BD9-5BA4-0B0FEF8E81C5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Configuração do Treino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A580CB0-5C8C-B1DE-1090-ADDF714D8E15}"/>
              </a:ext>
            </a:extLst>
          </p:cNvPr>
          <p:cNvSpPr txBox="1"/>
          <p:nvPr/>
        </p:nvSpPr>
        <p:spPr>
          <a:xfrm>
            <a:off x="1257900" y="908100"/>
            <a:ext cx="7886100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/>
              <a:t>Divisão dos dados: </a:t>
            </a:r>
            <a:r>
              <a:rPr kumimoji="0" lang="pt-BR" sz="2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80% treino </a:t>
            </a:r>
            <a:r>
              <a:rPr kumimoji="0" lang="pt-BR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/ </a:t>
            </a:r>
            <a:r>
              <a:rPr kumimoji="0" lang="pt-BR" sz="20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20% </a:t>
            </a:r>
            <a:r>
              <a:rPr kumimoji="0" lang="pt-BR" sz="2000" b="1" i="0" u="none" strike="noStrike" kern="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validação </a:t>
            </a:r>
          </a:p>
          <a:p>
            <a:r>
              <a:rPr lang="pt-BR" sz="1600"/>
              <a:t>Lotes </a:t>
            </a:r>
            <a:r>
              <a:rPr lang="pt-BR" sz="1600" dirty="0"/>
              <a:t>(</a:t>
            </a:r>
            <a:r>
              <a:rPr lang="pt-BR" sz="1600" b="1" dirty="0"/>
              <a:t>batch </a:t>
            </a:r>
            <a:r>
              <a:rPr lang="pt-BR" sz="1600" b="1" dirty="0" err="1"/>
              <a:t>size</a:t>
            </a:r>
            <a:r>
              <a:rPr lang="pt-BR" sz="1600" dirty="0"/>
              <a:t>): 64</a:t>
            </a:r>
          </a:p>
          <a:p>
            <a:r>
              <a:rPr lang="pt-BR" sz="1600" dirty="0"/>
              <a:t>Otimizador: </a:t>
            </a:r>
            <a:r>
              <a:rPr lang="pt-BR" sz="1600" b="1" dirty="0" err="1"/>
              <a:t>AdamW</a:t>
            </a:r>
            <a:endParaRPr lang="pt-BR" sz="1600" dirty="0"/>
          </a:p>
          <a:p>
            <a:r>
              <a:rPr lang="pt-BR" sz="1600" dirty="0"/>
              <a:t>Taxa de aprendizado inicial: </a:t>
            </a:r>
            <a:r>
              <a:rPr lang="pt-BR" sz="1600" b="1" dirty="0"/>
              <a:t>1e-4</a:t>
            </a:r>
            <a:endParaRPr lang="pt-BR" sz="1600" dirty="0"/>
          </a:p>
          <a:p>
            <a:r>
              <a:rPr lang="pt-BR" sz="1600" dirty="0"/>
              <a:t>Função de perda: </a:t>
            </a:r>
            <a:r>
              <a:rPr lang="pt-BR" sz="1600" b="1" dirty="0" err="1"/>
              <a:t>Sparse</a:t>
            </a:r>
            <a:r>
              <a:rPr lang="pt-BR" sz="1600" b="1" dirty="0"/>
              <a:t> </a:t>
            </a:r>
            <a:r>
              <a:rPr lang="pt-BR" sz="1600" b="1" dirty="0" err="1"/>
              <a:t>Categorical</a:t>
            </a:r>
            <a:r>
              <a:rPr lang="pt-BR" sz="1600" b="1" dirty="0"/>
              <a:t> </a:t>
            </a:r>
            <a:r>
              <a:rPr lang="pt-BR" sz="1600" b="1" dirty="0" err="1"/>
              <a:t>Crossentropy</a:t>
            </a:r>
            <a:endParaRPr lang="pt-BR" sz="1600" dirty="0"/>
          </a:p>
          <a:p>
            <a:r>
              <a:rPr lang="pt-BR" sz="1600" dirty="0"/>
              <a:t>Pesos por classe para compensar desequilíbrios</a:t>
            </a:r>
          </a:p>
          <a:p>
            <a:endParaRPr lang="pt-BR" sz="1600" dirty="0"/>
          </a:p>
          <a:p>
            <a:r>
              <a:rPr lang="pt-BR" sz="1800" b="1" dirty="0">
                <a:solidFill>
                  <a:schemeClr val="tx1"/>
                </a:solidFill>
              </a:rPr>
              <a:t>Fases do Treinamento</a:t>
            </a:r>
          </a:p>
          <a:p>
            <a:r>
              <a:rPr lang="pt-BR" sz="1600" b="1" dirty="0">
                <a:solidFill>
                  <a:schemeClr val="tx1"/>
                </a:solidFill>
              </a:rPr>
              <a:t>Pré-treino:</a:t>
            </a:r>
            <a:endParaRPr lang="pt-BR" sz="1600" dirty="0">
              <a:solidFill>
                <a:schemeClr val="tx1"/>
              </a:solidFill>
            </a:endParaRPr>
          </a:p>
          <a:p>
            <a:pPr lvl="1"/>
            <a:r>
              <a:rPr lang="pt-BR" sz="1600" dirty="0">
                <a:solidFill>
                  <a:schemeClr val="tx1"/>
                </a:solidFill>
              </a:rPr>
              <a:t>Base congelada</a:t>
            </a:r>
          </a:p>
          <a:p>
            <a:pPr lvl="1"/>
            <a:r>
              <a:rPr lang="pt-BR" sz="1600" dirty="0">
                <a:solidFill>
                  <a:schemeClr val="tx1"/>
                </a:solidFill>
              </a:rPr>
              <a:t>5 épocas para estabilizar as camadas superiores</a:t>
            </a:r>
          </a:p>
          <a:p>
            <a:pPr lvl="1"/>
            <a:endParaRPr lang="pt-BR" sz="1600" dirty="0">
              <a:solidFill>
                <a:schemeClr val="tx1"/>
              </a:solidFill>
            </a:endParaRPr>
          </a:p>
          <a:p>
            <a:r>
              <a:rPr lang="pt-BR" sz="1600" b="1" dirty="0">
                <a:solidFill>
                  <a:schemeClr val="tx1"/>
                </a:solidFill>
              </a:rPr>
              <a:t>Ajuste fino:</a:t>
            </a:r>
            <a:endParaRPr lang="pt-BR" sz="1600" dirty="0">
              <a:solidFill>
                <a:schemeClr val="tx1"/>
              </a:solidFill>
            </a:endParaRPr>
          </a:p>
          <a:p>
            <a:pPr lvl="1"/>
            <a:r>
              <a:rPr lang="pt-BR" sz="1600" dirty="0">
                <a:solidFill>
                  <a:schemeClr val="tx1"/>
                </a:solidFill>
              </a:rPr>
              <a:t>Descongeladas </a:t>
            </a:r>
            <a:r>
              <a:rPr lang="pt-BR" sz="1600" b="1" dirty="0">
                <a:solidFill>
                  <a:schemeClr val="tx1"/>
                </a:solidFill>
              </a:rPr>
              <a:t>as 80 últimas camadas</a:t>
            </a:r>
            <a:endParaRPr lang="pt-BR" sz="1600" dirty="0">
              <a:solidFill>
                <a:schemeClr val="tx1"/>
              </a:solidFill>
            </a:endParaRPr>
          </a:p>
          <a:p>
            <a:pPr lvl="1"/>
            <a:r>
              <a:rPr lang="pt-BR" sz="1600" dirty="0">
                <a:solidFill>
                  <a:schemeClr val="tx1"/>
                </a:solidFill>
              </a:rPr>
              <a:t>Especialização progressiva da rede</a:t>
            </a:r>
          </a:p>
          <a:p>
            <a:pPr lvl="1"/>
            <a:endParaRPr lang="pt-BR" sz="1600" dirty="0">
              <a:solidFill>
                <a:schemeClr val="tx1"/>
              </a:solidFill>
            </a:endParaRPr>
          </a:p>
          <a:p>
            <a:r>
              <a:rPr lang="pt-BR" sz="1600" b="1" dirty="0" err="1">
                <a:solidFill>
                  <a:schemeClr val="tx1"/>
                </a:solidFill>
              </a:rPr>
              <a:t>Callbacks</a:t>
            </a:r>
            <a:endParaRPr lang="pt-BR" sz="1600" b="1" dirty="0">
              <a:solidFill>
                <a:schemeClr val="tx1"/>
              </a:solidFill>
            </a:endParaRPr>
          </a:p>
          <a:p>
            <a:r>
              <a:rPr lang="pt-BR" sz="1600" b="1" dirty="0" err="1">
                <a:solidFill>
                  <a:schemeClr val="tx1"/>
                </a:solidFill>
              </a:rPr>
              <a:t>EarlyStopping</a:t>
            </a:r>
            <a:r>
              <a:rPr lang="pt-BR" sz="1600" b="1" dirty="0">
                <a:solidFill>
                  <a:schemeClr val="tx1"/>
                </a:solidFill>
              </a:rPr>
              <a:t>:</a:t>
            </a:r>
            <a:r>
              <a:rPr lang="pt-BR" sz="1600" dirty="0">
                <a:solidFill>
                  <a:schemeClr val="tx1"/>
                </a:solidFill>
              </a:rPr>
              <a:t> monitora </a:t>
            </a:r>
            <a:r>
              <a:rPr lang="pt-BR" sz="1600" i="1" dirty="0" err="1">
                <a:solidFill>
                  <a:schemeClr val="tx1"/>
                </a:solidFill>
              </a:rPr>
              <a:t>val_loss</a:t>
            </a:r>
            <a:r>
              <a:rPr lang="pt-BR" sz="1600" dirty="0">
                <a:solidFill>
                  <a:schemeClr val="tx1"/>
                </a:solidFill>
              </a:rPr>
              <a:t>, </a:t>
            </a:r>
            <a:r>
              <a:rPr lang="pt-BR" sz="1600" dirty="0" err="1">
                <a:solidFill>
                  <a:schemeClr val="tx1"/>
                </a:solidFill>
              </a:rPr>
              <a:t>patience</a:t>
            </a:r>
            <a:r>
              <a:rPr lang="pt-BR" sz="1600" dirty="0">
                <a:solidFill>
                  <a:schemeClr val="tx1"/>
                </a:solidFill>
              </a:rPr>
              <a:t> = 10</a:t>
            </a:r>
          </a:p>
          <a:p>
            <a:r>
              <a:rPr lang="pt-BR" sz="1600" b="1" dirty="0" err="1">
                <a:solidFill>
                  <a:schemeClr val="tx1"/>
                </a:solidFill>
              </a:rPr>
              <a:t>ReduceLROnPlateau</a:t>
            </a:r>
            <a:r>
              <a:rPr lang="pt-BR" sz="1600" b="1" dirty="0">
                <a:solidFill>
                  <a:schemeClr val="tx1"/>
                </a:solidFill>
              </a:rPr>
              <a:t>:</a:t>
            </a:r>
            <a:r>
              <a:rPr lang="pt-BR" sz="1600" dirty="0">
                <a:solidFill>
                  <a:schemeClr val="tx1"/>
                </a:solidFill>
              </a:rPr>
              <a:t> reduz LR quando validação estagna</a:t>
            </a:r>
          </a:p>
          <a:p>
            <a:r>
              <a:rPr lang="pt-BR" sz="1600" dirty="0">
                <a:solidFill>
                  <a:schemeClr val="tx1"/>
                </a:solidFill>
              </a:rPr>
              <a:t>Treinamento com limite de até </a:t>
            </a:r>
            <a:r>
              <a:rPr lang="pt-BR" sz="1600" b="1" dirty="0">
                <a:solidFill>
                  <a:schemeClr val="tx1"/>
                </a:solidFill>
              </a:rPr>
              <a:t>150 épocas</a:t>
            </a:r>
            <a:endParaRPr lang="pt-BR" sz="1600" dirty="0">
              <a:solidFill>
                <a:schemeClr val="tx1"/>
              </a:solidFill>
            </a:endParaRPr>
          </a:p>
        </p:txBody>
      </p:sp>
      <p:sp>
        <p:nvSpPr>
          <p:cNvPr id="3" name="Google Shape;225;p19">
            <a:extLst>
              <a:ext uri="{FF2B5EF4-FFF2-40B4-BE49-F238E27FC236}">
                <a16:creationId xmlns:a16="http://schemas.microsoft.com/office/drawing/2014/main" id="{1FCB82B4-7229-2D0F-0697-9BF8EEC1EA33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2772142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F2725F95-6A32-1438-28D6-C6DCD36A6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7976D44E-5F7E-9293-BB06-2115775126B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F10DB325-D10E-B71B-4906-3ABEB2C03091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64161B31-8970-3B2A-ACCE-4592F9277DC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BDA36E06-8755-7ACC-B2F2-C9012818FBB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70A9634C-0B0D-4E96-A201-3194B105DE21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E4CFE88A-5F6F-54EF-B731-179F1E2BE1D5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E750C4CF-641A-7D65-FBEF-EDF7CC7FDA3C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AB08F707-6C88-AB12-5E8F-4DA19BBC49B9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29F2108A-86B5-BD7B-300B-988E5681BBA1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77F79D37-08E1-F94D-5FC1-9A657D2992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9154CBD0-0F1F-5FFE-8DB5-5F0CDD0A28C5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1EA84C5C-F172-7905-78BE-BB850451C2CF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B6A21800-4B77-F01F-B275-9A2C37718F57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B9DD772B-006B-0D87-5F3B-21FE211EE676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8F804219-FC01-7FF1-CE7B-2A917B022C23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05B8C8D2-FFC6-FC39-6394-1B1D347B962E}"/>
              </a:ext>
            </a:extLst>
          </p:cNvPr>
          <p:cNvSpPr/>
          <p:nvPr/>
        </p:nvSpPr>
        <p:spPr>
          <a:xfrm>
            <a:off x="2511844" y="4809586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</p:spTree>
    <p:extLst>
      <p:ext uri="{BB962C8B-B14F-4D97-AF65-F5344CB8AC3E}">
        <p14:creationId xmlns:p14="http://schemas.microsoft.com/office/powerpoint/2010/main" val="23313803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C5968A30-73C3-AF16-3489-0B99C45CD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837D5AC4-CF53-9254-92E3-FEA036A7A091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1E0AF9B0-98CC-E76C-BCC4-C66C5F47E904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56DFF8D0-268C-4A70-6F99-B0D6A01B56A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57E48275-3B68-CA6E-2067-8473FEFE314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6B448D7C-86FC-86C8-7137-A129921E11B6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F491D1C2-106C-8257-9F82-2864E1EAB94E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4A26A6ED-FCC0-2936-5C52-BE82A2ED33C4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Quantização</a:t>
            </a:r>
            <a:endParaRPr sz="3000" b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8244528F-BFBE-CE62-6E9F-D07D4DBB10B7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" name="Imagem 3" descr="Gráfico, Gráfico de cascata&#10;&#10;O conteúdo gerado por IA pode estar incorreto.">
            <a:extLst>
              <a:ext uri="{FF2B5EF4-FFF2-40B4-BE49-F238E27FC236}">
                <a16:creationId xmlns:a16="http://schemas.microsoft.com/office/drawing/2014/main" id="{DE4C1584-6943-58C9-24E5-EC7C413065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8766" y="1412433"/>
            <a:ext cx="7249149" cy="4074135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04608E9-B11B-12A6-3D38-0872F92EDD15}"/>
              </a:ext>
            </a:extLst>
          </p:cNvPr>
          <p:cNvSpPr txBox="1"/>
          <p:nvPr/>
        </p:nvSpPr>
        <p:spPr>
          <a:xfrm>
            <a:off x="1733384" y="5629523"/>
            <a:ext cx="6513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Figura 3: Quantização</a:t>
            </a:r>
          </a:p>
          <a:p>
            <a:r>
              <a:rPr lang="pt-BR" sz="900" dirty="0"/>
              <a:t>Fonte: </a:t>
            </a:r>
            <a:r>
              <a:rPr lang="pt-BR" sz="900" b="1" dirty="0"/>
              <a:t>NVIDIA</a:t>
            </a:r>
          </a:p>
          <a:p>
            <a:r>
              <a:rPr lang="pt-BR" sz="900" dirty="0"/>
              <a:t>https://developer.nvidia.com/blog/achieving-fp32-accuracy-for-int8-inference-using-quantization-aware-training-with-tensorrt/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78A83FC-9255-DD58-59FA-054EA9362C5D}"/>
              </a:ext>
            </a:extLst>
          </p:cNvPr>
          <p:cNvSpPr/>
          <p:nvPr/>
        </p:nvSpPr>
        <p:spPr>
          <a:xfrm>
            <a:off x="4399462" y="3689405"/>
            <a:ext cx="1500406" cy="371683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600" b="1" dirty="0"/>
              <a:t>Quantização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F2D1E86-A6F5-7A1A-1241-DEBB6EE29860}"/>
              </a:ext>
            </a:extLst>
          </p:cNvPr>
          <p:cNvSpPr/>
          <p:nvPr/>
        </p:nvSpPr>
        <p:spPr>
          <a:xfrm>
            <a:off x="2165497" y="4753507"/>
            <a:ext cx="1500406" cy="371683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600" b="1" dirty="0"/>
              <a:t>FLOAT32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7C18E2EC-966D-36FE-B7A9-0E56C15C0194}"/>
              </a:ext>
            </a:extLst>
          </p:cNvPr>
          <p:cNvSpPr/>
          <p:nvPr/>
        </p:nvSpPr>
        <p:spPr>
          <a:xfrm>
            <a:off x="6866043" y="4810492"/>
            <a:ext cx="1500406" cy="371683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600" b="1" dirty="0"/>
              <a:t>INT8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4F60A26-1B69-FE0C-B5EE-A5BC9D0D7EDC}"/>
              </a:ext>
            </a:extLst>
          </p:cNvPr>
          <p:cNvSpPr txBox="1"/>
          <p:nvPr/>
        </p:nvSpPr>
        <p:spPr>
          <a:xfrm>
            <a:off x="1354162" y="1035076"/>
            <a:ext cx="2569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800" b="1" dirty="0"/>
              <a:t>O que é quantização?</a:t>
            </a:r>
          </a:p>
        </p:txBody>
      </p:sp>
    </p:spTree>
    <p:extLst>
      <p:ext uri="{BB962C8B-B14F-4D97-AF65-F5344CB8AC3E}">
        <p14:creationId xmlns:p14="http://schemas.microsoft.com/office/powerpoint/2010/main" val="31593573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345F5A16-283E-0018-E08E-498D6F9E7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163F9F5C-D844-6838-F3AB-A4D0000C6653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34709305-E780-B47B-F4C1-150FF0EB15AB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8153C9D6-545C-B25C-FEB8-95F83A9557F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B3A44D50-99F6-6044-9E1E-D7E1043BC8F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48392E93-F66F-9397-8CA7-C688823AB735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3D5F47EE-9C18-7738-5E92-980E1ADD2AC6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A52B17FC-1C8C-7842-53E3-AB9B842188E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Quantização</a:t>
            </a:r>
            <a:endParaRPr sz="3000" b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DC788AE2-F8C8-93F0-5C43-4B5AB11CD43A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0B7C200-B1A7-C8B7-5546-4D1ECF2FA0B7}"/>
              </a:ext>
            </a:extLst>
          </p:cNvPr>
          <p:cNvSpPr txBox="1"/>
          <p:nvPr/>
        </p:nvSpPr>
        <p:spPr>
          <a:xfrm>
            <a:off x="5458376" y="4335929"/>
            <a:ext cx="36856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Figura 4: Comparação Float32 x Int8</a:t>
            </a:r>
          </a:p>
          <a:p>
            <a:r>
              <a:rPr lang="pt-BR" sz="900" dirty="0"/>
              <a:t>Adaptado de: </a:t>
            </a:r>
            <a:r>
              <a:rPr lang="pt-BR" sz="900" b="1" dirty="0" err="1"/>
              <a:t>Semiconductor</a:t>
            </a:r>
            <a:r>
              <a:rPr lang="pt-BR" sz="900" b="1" dirty="0"/>
              <a:t> </a:t>
            </a:r>
            <a:r>
              <a:rPr lang="pt-BR" sz="900" b="1" dirty="0" err="1"/>
              <a:t>Engineering</a:t>
            </a:r>
            <a:endParaRPr lang="pt-BR" sz="900" b="1" dirty="0"/>
          </a:p>
          <a:p>
            <a:r>
              <a:rPr lang="pt-BR" sz="900" dirty="0"/>
              <a:t>https://semiengineering.com/data-formats-for-inference-on-the-edge/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1343997-B746-A18D-A56E-D601016EBC4A}"/>
              </a:ext>
            </a:extLst>
          </p:cNvPr>
          <p:cNvSpPr txBox="1"/>
          <p:nvPr/>
        </p:nvSpPr>
        <p:spPr>
          <a:xfrm>
            <a:off x="1354162" y="1035076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800" b="1" dirty="0"/>
              <a:t>E por que fazer isso?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15644CB2-98C9-DFBD-4D5E-335129587B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4162" y="1401206"/>
            <a:ext cx="7569944" cy="1074648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E483721-0074-BBDA-8C88-476824D7B3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9388" y="3395421"/>
            <a:ext cx="2719490" cy="728297"/>
          </a:xfrm>
          <a:prstGeom prst="rect">
            <a:avLst/>
          </a:prstGeom>
        </p:spPr>
      </p:pic>
      <p:sp>
        <p:nvSpPr>
          <p:cNvPr id="13" name="Seta: para Baixo 12">
            <a:extLst>
              <a:ext uri="{FF2B5EF4-FFF2-40B4-BE49-F238E27FC236}">
                <a16:creationId xmlns:a16="http://schemas.microsoft.com/office/drawing/2014/main" id="{B81FDB9D-47BB-6F92-7925-88BD08572225}"/>
              </a:ext>
            </a:extLst>
          </p:cNvPr>
          <p:cNvSpPr/>
          <p:nvPr/>
        </p:nvSpPr>
        <p:spPr>
          <a:xfrm>
            <a:off x="4809154" y="2513387"/>
            <a:ext cx="659959" cy="61828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ACD06EC-E187-676E-2CFB-9FD78E25C7AB}"/>
              </a:ext>
            </a:extLst>
          </p:cNvPr>
          <p:cNvSpPr txBox="1"/>
          <p:nvPr/>
        </p:nvSpPr>
        <p:spPr>
          <a:xfrm>
            <a:off x="1573960" y="5195545"/>
            <a:ext cx="7130346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t-BR" sz="1800" b="1" i="1" dirty="0"/>
              <a:t>Um valor armazenado em INT8 consome 4× menos memória.</a:t>
            </a:r>
            <a:br>
              <a:rPr lang="pt-BR" sz="1800" i="1" dirty="0"/>
            </a:br>
            <a:r>
              <a:rPr lang="pt-BR" sz="1800" b="1" i="1" dirty="0"/>
              <a:t>Economia de até 75% no uso de RAM para pesos e ativações.</a:t>
            </a:r>
          </a:p>
        </p:txBody>
      </p:sp>
    </p:spTree>
    <p:extLst>
      <p:ext uri="{BB962C8B-B14F-4D97-AF65-F5344CB8AC3E}">
        <p14:creationId xmlns:p14="http://schemas.microsoft.com/office/powerpoint/2010/main" val="24911343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F9A83891-2B6C-CBD5-0BB5-C97D83966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B1628F8A-5073-7F2C-BBB8-F1CA1B11CCD8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5839A269-77A8-59DE-0C18-5343C58E838D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D34C97BD-AD50-441F-4856-69F4775B877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077028C0-AF26-D825-7D8B-AFBFC40927C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CF43BEEA-8553-FFE3-81A9-5F9DAD19487A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5E97BDEA-0FB1-2878-4C0D-4A3ABD491FFE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31C7C035-DCC9-08FC-3FA0-846231B1C66A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39C73027-91ED-40B4-53D3-2CE8E4DEC2AB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BA3BF636-CB9B-F562-9433-4F87D6250825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E206D4E9-7581-BED2-A14C-BC8250592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5216AC13-E016-30B5-5E19-2A1CEF04EC9E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08420BC1-A8DA-F15D-5DF8-7DE1677113C6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B6A21800-4B77-F01F-B275-9A2C37718F57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161A1312-0D38-C4F8-C927-D898F68F06BF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8F804219-FC01-7FF1-CE7B-2A917B022C23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3D8CA7C0-93E4-3D49-2872-7CDA388AB111}"/>
              </a:ext>
            </a:extLst>
          </p:cNvPr>
          <p:cNvSpPr/>
          <p:nvPr/>
        </p:nvSpPr>
        <p:spPr>
          <a:xfrm>
            <a:off x="2487990" y="5448454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</p:spTree>
    <p:extLst>
      <p:ext uri="{BB962C8B-B14F-4D97-AF65-F5344CB8AC3E}">
        <p14:creationId xmlns:p14="http://schemas.microsoft.com/office/powerpoint/2010/main" val="27794060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70C4BAF4-F556-9E74-20DD-87AA85C9C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93BB709F-D4DE-9E95-24D2-5B4A5C9DE6C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DB499E33-549E-3A6B-ADB7-111545C0B714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868DC7F6-7A89-C10E-CFD3-F72106AE39A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36819DF2-11EF-5AB5-22F5-FC777F578B1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>
            <a:extLst>
              <a:ext uri="{FF2B5EF4-FFF2-40B4-BE49-F238E27FC236}">
                <a16:creationId xmlns:a16="http://schemas.microsoft.com/office/drawing/2014/main" id="{49719954-B77B-590D-9215-B62CF7ECE54F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6">
            <a:extLst>
              <a:ext uri="{FF2B5EF4-FFF2-40B4-BE49-F238E27FC236}">
                <a16:creationId xmlns:a16="http://schemas.microsoft.com/office/drawing/2014/main" id="{503143D0-2996-3607-86F5-A3C6959FD7C4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46AFED10-BAB1-D764-1DF3-B4ED0857EB00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Implementação no Hardware</a:t>
            </a:r>
            <a:endParaRPr sz="3000" b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225;p19">
            <a:extLst>
              <a:ext uri="{FF2B5EF4-FFF2-40B4-BE49-F238E27FC236}">
                <a16:creationId xmlns:a16="http://schemas.microsoft.com/office/drawing/2014/main" id="{83B5688E-1C68-E16A-A441-ACB41E88685F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lvl="0"/>
            <a:r>
              <a:rPr lang="pt-BR" sz="1200" dirty="0">
                <a:solidFill>
                  <a:srgbClr val="567091"/>
                </a:solidFill>
                <a:latin typeface="Helvetica Neue"/>
                <a:sym typeface="Helvetica Neue"/>
              </a:rPr>
              <a:t>Problema e hipótese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Problema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dirty="0">
                <a:solidFill>
                  <a:srgbClr val="567091"/>
                </a:solidFill>
                <a:latin typeface="Helvetica Neue"/>
                <a:sym typeface="Helvetica Neue"/>
              </a:rPr>
              <a:t>Hipótese</a:t>
            </a:r>
            <a:endParaRPr sz="1000" dirty="0">
              <a:solidFill>
                <a:srgbClr val="567091"/>
              </a:solidFill>
              <a:latin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Fluxo de desenvolvimento</a:t>
            </a:r>
            <a:br>
              <a:rPr lang="pt-BR" sz="10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D6583D0-58D0-9833-221B-C3DBFD23C3A3}"/>
              </a:ext>
            </a:extLst>
          </p:cNvPr>
          <p:cNvSpPr txBox="1"/>
          <p:nvPr/>
        </p:nvSpPr>
        <p:spPr>
          <a:xfrm>
            <a:off x="1457850" y="4706513"/>
            <a:ext cx="36856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Figura 5: </a:t>
            </a:r>
            <a:r>
              <a:rPr lang="pt-BR" dirty="0" err="1"/>
              <a:t>Raspberry</a:t>
            </a:r>
            <a:r>
              <a:rPr lang="pt-BR" dirty="0"/>
              <a:t> Pi 3 B+</a:t>
            </a:r>
          </a:p>
          <a:p>
            <a:r>
              <a:rPr lang="pt-BR" sz="900" dirty="0"/>
              <a:t>Fonte: </a:t>
            </a:r>
            <a:r>
              <a:rPr lang="pt-BR" sz="900" b="1" dirty="0" err="1"/>
              <a:t>Raspberry</a:t>
            </a:r>
            <a:r>
              <a:rPr lang="pt-BR" sz="900" b="1" dirty="0"/>
              <a:t> Pi</a:t>
            </a:r>
          </a:p>
          <a:p>
            <a:r>
              <a:rPr lang="pt-BR" sz="900" dirty="0"/>
              <a:t>https://www.raspberrypi.com/products/raspberry-pi-3-model-b-plus/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5151E8F-7AF3-AC5A-C926-B4A14F3801CA}"/>
              </a:ext>
            </a:extLst>
          </p:cNvPr>
          <p:cNvSpPr txBox="1"/>
          <p:nvPr/>
        </p:nvSpPr>
        <p:spPr>
          <a:xfrm>
            <a:off x="1354162" y="1035076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800" b="1" dirty="0"/>
              <a:t>E por que fazer isso?</a:t>
            </a:r>
          </a:p>
        </p:txBody>
      </p:sp>
      <p:pic>
        <p:nvPicPr>
          <p:cNvPr id="4" name="Imagem 3" descr="Uma imagem contendo eletrônico, circuito&#10;&#10;O conteúdo gerado por IA pode estar incorreto.">
            <a:extLst>
              <a:ext uri="{FF2B5EF4-FFF2-40B4-BE49-F238E27FC236}">
                <a16:creationId xmlns:a16="http://schemas.microsoft.com/office/drawing/2014/main" id="{3D4D8851-4006-A51B-E158-BD09A578917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832" r="7440"/>
          <a:stretch>
            <a:fillRect/>
          </a:stretch>
        </p:blipFill>
        <p:spPr>
          <a:xfrm>
            <a:off x="1457850" y="1840123"/>
            <a:ext cx="3541631" cy="2661037"/>
          </a:xfrm>
          <a:prstGeom prst="rect">
            <a:avLst/>
          </a:prstGeom>
        </p:spPr>
      </p:pic>
      <p:pic>
        <p:nvPicPr>
          <p:cNvPr id="7" name="Imagem 6" descr="Câmera fotográfica preta&#10;&#10;O conteúdo gerado por IA pode estar incorreto.">
            <a:extLst>
              <a:ext uri="{FF2B5EF4-FFF2-40B4-BE49-F238E27FC236}">
                <a16:creationId xmlns:a16="http://schemas.microsoft.com/office/drawing/2014/main" id="{DBC21418-A6C2-1EC5-ADE1-55E95987EF8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14" t="21919" r="14836" b="16592"/>
          <a:stretch>
            <a:fillRect/>
          </a:stretch>
        </p:blipFill>
        <p:spPr>
          <a:xfrm>
            <a:off x="5494172" y="1840122"/>
            <a:ext cx="3217641" cy="2661038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EAF62531-101B-4663-E063-3A9F6E4CE463}"/>
              </a:ext>
            </a:extLst>
          </p:cNvPr>
          <p:cNvSpPr txBox="1"/>
          <p:nvPr/>
        </p:nvSpPr>
        <p:spPr>
          <a:xfrm>
            <a:off x="5143474" y="4726256"/>
            <a:ext cx="391903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Figura 6: Webcam USB Genérica</a:t>
            </a:r>
          </a:p>
          <a:p>
            <a:r>
              <a:rPr lang="pt-BR" sz="900" dirty="0"/>
              <a:t>Fonte: </a:t>
            </a:r>
            <a:r>
              <a:rPr lang="pt-BR" sz="900" b="1" dirty="0"/>
              <a:t>Cirilo Cabos</a:t>
            </a:r>
          </a:p>
          <a:p>
            <a:r>
              <a:rPr lang="pt-BR" sz="900" dirty="0"/>
              <a:t>https://www.cirilocabos.com.br/webcam-full-hd-1080-p-usb-301/p?srsltid=AfmBOoqvf-BX8MzpcmCMz30q90Dy-A1tzHnQ2163zNNkpnoddoXAnFC0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0DB2D185-A603-D321-821F-D5EEE9822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4799" y="5449482"/>
            <a:ext cx="3996112" cy="8720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CPU ARM Cortex-A53 (1.4 GHz)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GB RAM</a:t>
            </a:r>
          </a:p>
        </p:txBody>
      </p:sp>
    </p:spTree>
    <p:extLst>
      <p:ext uri="{BB962C8B-B14F-4D97-AF65-F5344CB8AC3E}">
        <p14:creationId xmlns:p14="http://schemas.microsoft.com/office/powerpoint/2010/main" val="32544900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EA92046E-97D9-4F7B-912F-7BCE65535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9919D5A-2049-5D31-9E34-8E73D3F30841}"/>
              </a:ext>
            </a:extLst>
          </p:cNvPr>
          <p:cNvSpPr/>
          <p:nvPr/>
        </p:nvSpPr>
        <p:spPr>
          <a:xfrm>
            <a:off x="1045363" y="742949"/>
            <a:ext cx="8098637" cy="604681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E4419105-1CD7-F1DC-6D73-A79D2E5F8B04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AF43FAC5-1646-E03D-81C8-373A3B7D3B4E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2C28391A-C1AA-6E3C-121A-754D9A4D661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A546E5F7-D70E-B0E5-7580-276B5362D4C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2">
            <a:extLst>
              <a:ext uri="{FF2B5EF4-FFF2-40B4-BE49-F238E27FC236}">
                <a16:creationId xmlns:a16="http://schemas.microsoft.com/office/drawing/2014/main" id="{A818104B-7435-699A-4B76-3881C7F70DDD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2">
            <a:extLst>
              <a:ext uri="{FF2B5EF4-FFF2-40B4-BE49-F238E27FC236}">
                <a16:creationId xmlns:a16="http://schemas.microsoft.com/office/drawing/2014/main" id="{4CF76569-2A39-E508-CAB8-775F2CEB975E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id="{0FC3B26B-04A7-A6B9-025E-7EA49CFCB3DA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9" name="Google Shape;269;p22">
            <a:extLst>
              <a:ext uri="{FF2B5EF4-FFF2-40B4-BE49-F238E27FC236}">
                <a16:creationId xmlns:a16="http://schemas.microsoft.com/office/drawing/2014/main" id="{36FB9514-642B-464D-7CDE-AEABBD80A40C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yy/xx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E32C6526-BB37-67DF-D465-6D981B6F87DD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Montagem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1" name="Google Shape;271;p22">
            <a:extLst>
              <a:ext uri="{FF2B5EF4-FFF2-40B4-BE49-F238E27FC236}">
                <a16:creationId xmlns:a16="http://schemas.microsoft.com/office/drawing/2014/main" id="{C6A2CBA5-3E27-CBB7-AD3E-8EB8D882D476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b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dirty="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 dirty="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2" name="Google Shape;272;p22">
            <a:extLst>
              <a:ext uri="{FF2B5EF4-FFF2-40B4-BE49-F238E27FC236}">
                <a16:creationId xmlns:a16="http://schemas.microsoft.com/office/drawing/2014/main" id="{F7900B68-8C1A-F584-8110-B2CDD77EAA9F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Imagem 2" descr="Uma imagem contendo no interior, edifício, piso, pequeno&#10;&#10;O conteúdo gerado por IA pode estar incorreto.">
            <a:extLst>
              <a:ext uri="{FF2B5EF4-FFF2-40B4-BE49-F238E27FC236}">
                <a16:creationId xmlns:a16="http://schemas.microsoft.com/office/drawing/2014/main" id="{D5F449A2-C3BC-2498-DB31-7701ED5677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6600" y="908100"/>
            <a:ext cx="4248150" cy="5656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1293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1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21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9" name="Google Shape;24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1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1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21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54" name="Google Shape;254;p21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55" name="Google Shape;255;p21"/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3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56" name="Google Shape;256;p21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C508548B-32DB-9572-45AB-78A390CA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7BEBA95D-B6D6-95FA-323B-A3AB4905B42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6B24CC51-5787-5EB5-3AAF-21C873997E45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482BCE4F-DDFA-8E57-BC23-3DFAA5AA976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D6B024C5-AD10-BCD8-BE7E-6EDE3A6DD00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2">
            <a:extLst>
              <a:ext uri="{FF2B5EF4-FFF2-40B4-BE49-F238E27FC236}">
                <a16:creationId xmlns:a16="http://schemas.microsoft.com/office/drawing/2014/main" id="{8B82081A-39EE-F6FA-9DE1-211A704DF745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2">
            <a:extLst>
              <a:ext uri="{FF2B5EF4-FFF2-40B4-BE49-F238E27FC236}">
                <a16:creationId xmlns:a16="http://schemas.microsoft.com/office/drawing/2014/main" id="{18192798-7319-194F-3BC8-9EB27CD55478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id="{BC475B15-0579-FEA1-A486-B3CE9DBB9558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9" name="Google Shape;269;p22">
            <a:extLst>
              <a:ext uri="{FF2B5EF4-FFF2-40B4-BE49-F238E27FC236}">
                <a16:creationId xmlns:a16="http://schemas.microsoft.com/office/drawing/2014/main" id="{AAD845B3-1392-4E0B-60C3-199EFE901FEF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yy/xx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5D281258-F589-C470-BA59-742F2835426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 do treinamento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1" name="Google Shape;271;p22">
            <a:extLst>
              <a:ext uri="{FF2B5EF4-FFF2-40B4-BE49-F238E27FC236}">
                <a16:creationId xmlns:a16="http://schemas.microsoft.com/office/drawing/2014/main" id="{AFF03F75-C84B-40BA-6DAD-7BAF9679E0A9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2" name="Google Shape;272;p22">
            <a:extLst>
              <a:ext uri="{FF2B5EF4-FFF2-40B4-BE49-F238E27FC236}">
                <a16:creationId xmlns:a16="http://schemas.microsoft.com/office/drawing/2014/main" id="{B8059E93-08D4-B1D6-F697-2EF000E9B468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Imagem 2" descr="Gráfico, Gráfico de dispersão&#10;&#10;O conteúdo gerado por IA pode estar incorreto.">
            <a:extLst>
              <a:ext uri="{FF2B5EF4-FFF2-40B4-BE49-F238E27FC236}">
                <a16:creationId xmlns:a16="http://schemas.microsoft.com/office/drawing/2014/main" id="{0E6B502F-7B94-C06E-0E73-44377AFB9B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5334" y="1213236"/>
            <a:ext cx="5631232" cy="504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8047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2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2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2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9" name="Google Shape;269;p22"/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yy/xx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0" name="Google Shape;270;p22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 do treinamento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1" name="Google Shape;271;p22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2" name="Google Shape;272;p22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739A0EA-B544-B9CC-BB48-B8EE22AFAB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254" y="2106312"/>
            <a:ext cx="7705746" cy="264537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3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23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0" name="Google Shape;28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23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23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85" name="Google Shape;285;p23"/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yy/xx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86" name="Google Shape;286;p23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 do treinamento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87" name="Google Shape;287;p23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pt-BR" sz="1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88" name="Google Shape;288;p23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Imagem 2" descr="Gráfico, Gráfico de dispersão&#10;&#10;O conteúdo gerado por IA pode estar incorreto.">
            <a:extLst>
              <a:ext uri="{FF2B5EF4-FFF2-40B4-BE49-F238E27FC236}">
                <a16:creationId xmlns:a16="http://schemas.microsoft.com/office/drawing/2014/main" id="{38ED35D3-46D0-BE86-F602-5700592A29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900" y="1887145"/>
            <a:ext cx="7872193" cy="367888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1DB3E211-5B37-D1A5-373E-1EFAABE06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53FB6F0E-5F61-455C-B41F-5D6A1C731BC1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BE9680C5-DE42-76B0-EA13-2337C36286E4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5DDF6AA7-A760-B5C4-C735-99106205E10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E952F191-99F5-93E6-A62C-4CA5AF72296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2">
            <a:extLst>
              <a:ext uri="{FF2B5EF4-FFF2-40B4-BE49-F238E27FC236}">
                <a16:creationId xmlns:a16="http://schemas.microsoft.com/office/drawing/2014/main" id="{54963082-EECB-CB07-996A-EAAFB25242F2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2">
            <a:extLst>
              <a:ext uri="{FF2B5EF4-FFF2-40B4-BE49-F238E27FC236}">
                <a16:creationId xmlns:a16="http://schemas.microsoft.com/office/drawing/2014/main" id="{5598D065-7B07-514E-B545-78C5BE974773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id="{9EFAA631-A742-EB83-0642-D348F32CF239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9" name="Google Shape;269;p22">
            <a:extLst>
              <a:ext uri="{FF2B5EF4-FFF2-40B4-BE49-F238E27FC236}">
                <a16:creationId xmlns:a16="http://schemas.microsoft.com/office/drawing/2014/main" id="{382F0611-65ED-8E70-99BD-A1440D047723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yy/xx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9A6FF0E0-E44E-D55E-E5AC-57405A977508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 do treinamento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1" name="Google Shape;271;p22">
            <a:extLst>
              <a:ext uri="{FF2B5EF4-FFF2-40B4-BE49-F238E27FC236}">
                <a16:creationId xmlns:a16="http://schemas.microsoft.com/office/drawing/2014/main" id="{00481118-DC02-07E0-6FF8-9E4459F2B8CC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2" name="Google Shape;272;p22">
            <a:extLst>
              <a:ext uri="{FF2B5EF4-FFF2-40B4-BE49-F238E27FC236}">
                <a16:creationId xmlns:a16="http://schemas.microsoft.com/office/drawing/2014/main" id="{1857455B-96A0-DE69-E068-BE5D8F95EC89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" name="Imagem 3" descr="Gráfico, Diagrama&#10;&#10;O conteúdo gerado por IA pode estar incorreto.">
            <a:extLst>
              <a:ext uri="{FF2B5EF4-FFF2-40B4-BE49-F238E27FC236}">
                <a16:creationId xmlns:a16="http://schemas.microsoft.com/office/drawing/2014/main" id="{42E7044D-1309-E459-0900-8F267D8B9D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900" y="976338"/>
            <a:ext cx="7886100" cy="5462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313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8A1F3F71-8676-1AD1-57B5-6C4F6F7FC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1">
            <a:extLst>
              <a:ext uri="{FF2B5EF4-FFF2-40B4-BE49-F238E27FC236}">
                <a16:creationId xmlns:a16="http://schemas.microsoft.com/office/drawing/2014/main" id="{E2F41844-94DA-F349-3AA0-04C9BFB2989F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21">
            <a:extLst>
              <a:ext uri="{FF2B5EF4-FFF2-40B4-BE49-F238E27FC236}">
                <a16:creationId xmlns:a16="http://schemas.microsoft.com/office/drawing/2014/main" id="{4B417A66-A5A3-ECE9-490A-62E1E736B992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9" name="Google Shape;249;p21">
            <a:extLst>
              <a:ext uri="{FF2B5EF4-FFF2-40B4-BE49-F238E27FC236}">
                <a16:creationId xmlns:a16="http://schemas.microsoft.com/office/drawing/2014/main" id="{B60A2C86-8B0B-7F60-490D-8EF0C3B6B22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1">
            <a:extLst>
              <a:ext uri="{FF2B5EF4-FFF2-40B4-BE49-F238E27FC236}">
                <a16:creationId xmlns:a16="http://schemas.microsoft.com/office/drawing/2014/main" id="{923A822E-09CA-2072-98F1-8A41CE09B18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1">
            <a:extLst>
              <a:ext uri="{FF2B5EF4-FFF2-40B4-BE49-F238E27FC236}">
                <a16:creationId xmlns:a16="http://schemas.microsoft.com/office/drawing/2014/main" id="{81B27D1B-4F90-2A70-F8D6-17C731487B27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1">
            <a:extLst>
              <a:ext uri="{FF2B5EF4-FFF2-40B4-BE49-F238E27FC236}">
                <a16:creationId xmlns:a16="http://schemas.microsoft.com/office/drawing/2014/main" id="{20A66407-F179-A212-5F75-35FB1504C9CB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21">
            <a:extLst>
              <a:ext uri="{FF2B5EF4-FFF2-40B4-BE49-F238E27FC236}">
                <a16:creationId xmlns:a16="http://schemas.microsoft.com/office/drawing/2014/main" id="{86F5ECE0-1557-6F1C-88D6-C237F1923943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54" name="Google Shape;254;p21">
            <a:extLst>
              <a:ext uri="{FF2B5EF4-FFF2-40B4-BE49-F238E27FC236}">
                <a16:creationId xmlns:a16="http://schemas.microsoft.com/office/drawing/2014/main" id="{34F0AD93-86E5-64ED-6F84-999FB8B54074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55" name="Google Shape;255;p21">
            <a:extLst>
              <a:ext uri="{FF2B5EF4-FFF2-40B4-BE49-F238E27FC236}">
                <a16:creationId xmlns:a16="http://schemas.microsoft.com/office/drawing/2014/main" id="{5B2A508F-CC37-A407-D824-279BE0602B89}"/>
              </a:ext>
            </a:extLst>
          </p:cNvPr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Ensaios</a:t>
            </a:r>
            <a:endParaRPr sz="30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56" name="Google Shape;256;p21">
            <a:extLst>
              <a:ext uri="{FF2B5EF4-FFF2-40B4-BE49-F238E27FC236}">
                <a16:creationId xmlns:a16="http://schemas.microsoft.com/office/drawing/2014/main" id="{FF533FBD-F911-F81D-522B-DB35D3345EF8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1134609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39A97048-F7F5-23E0-130D-A2004C1CF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18995837-452A-84C9-66CF-2B50DFE88450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FA7CBDF2-B8C7-8B5B-2D38-6EDAF3C9B701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C288905A-2783-8C75-83A9-3F3E7D23490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CCE1327E-63B7-9566-6A11-261DEA32AC5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2">
            <a:extLst>
              <a:ext uri="{FF2B5EF4-FFF2-40B4-BE49-F238E27FC236}">
                <a16:creationId xmlns:a16="http://schemas.microsoft.com/office/drawing/2014/main" id="{F27A20ED-868D-046E-1403-836146B18C27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2">
            <a:extLst>
              <a:ext uri="{FF2B5EF4-FFF2-40B4-BE49-F238E27FC236}">
                <a16:creationId xmlns:a16="http://schemas.microsoft.com/office/drawing/2014/main" id="{D545768C-F2B0-055E-BF62-C05703E713B4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id="{0AA6BB13-162D-098B-C4E7-7C8030BFFA9C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9" name="Google Shape;269;p22">
            <a:extLst>
              <a:ext uri="{FF2B5EF4-FFF2-40B4-BE49-F238E27FC236}">
                <a16:creationId xmlns:a16="http://schemas.microsoft.com/office/drawing/2014/main" id="{A8BFECA6-10D7-E481-D4B2-938C04766C8B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yy/xx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8DF2AFB8-564C-C7AB-1ECA-303356D11C48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Ensaios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1" name="Google Shape;271;p22">
            <a:extLst>
              <a:ext uri="{FF2B5EF4-FFF2-40B4-BE49-F238E27FC236}">
                <a16:creationId xmlns:a16="http://schemas.microsoft.com/office/drawing/2014/main" id="{71E9DD03-E8A6-431B-6E90-1751145FE831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2" name="Google Shape;272;p22">
            <a:extLst>
              <a:ext uri="{FF2B5EF4-FFF2-40B4-BE49-F238E27FC236}">
                <a16:creationId xmlns:a16="http://schemas.microsoft.com/office/drawing/2014/main" id="{DE7D4C29-9F3B-7525-368C-4BBEBD2790EE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" name="Imagem 3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257ECA43-AF10-2EF4-0E62-0D4805A8B2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900" y="1297927"/>
            <a:ext cx="7886100" cy="492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7008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EF13A2C1-62DC-F531-BE6E-8382EF3BD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4D65F826-E7B1-4F7B-5838-57A566EF668D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448EAD90-A3EB-5A4C-44E1-DC5F13290A5F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0C0A4491-EE15-C962-7004-B022CF3DBC5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5CC4B200-A5C3-2059-D79B-AC9467EC30B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2">
            <a:extLst>
              <a:ext uri="{FF2B5EF4-FFF2-40B4-BE49-F238E27FC236}">
                <a16:creationId xmlns:a16="http://schemas.microsoft.com/office/drawing/2014/main" id="{38BC54EE-7F61-AB0F-8494-43F83D2041D6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2">
            <a:extLst>
              <a:ext uri="{FF2B5EF4-FFF2-40B4-BE49-F238E27FC236}">
                <a16:creationId xmlns:a16="http://schemas.microsoft.com/office/drawing/2014/main" id="{858BF90D-3F7F-C5A7-694D-88C9512AC84D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id="{E9F2A1FC-7323-2373-F50A-7A64F3DCC2CF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9" name="Google Shape;269;p22">
            <a:extLst>
              <a:ext uri="{FF2B5EF4-FFF2-40B4-BE49-F238E27FC236}">
                <a16:creationId xmlns:a16="http://schemas.microsoft.com/office/drawing/2014/main" id="{165B0FF4-679F-394B-0B6A-4062446F500B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yy/xx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75A90E80-2209-AC5B-946D-970DADC7A857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Ensaios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1" name="Google Shape;271;p22">
            <a:extLst>
              <a:ext uri="{FF2B5EF4-FFF2-40B4-BE49-F238E27FC236}">
                <a16:creationId xmlns:a16="http://schemas.microsoft.com/office/drawing/2014/main" id="{E2FA77E9-A861-BCE7-774E-B356299D9272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2" name="Google Shape;272;p22">
            <a:extLst>
              <a:ext uri="{FF2B5EF4-FFF2-40B4-BE49-F238E27FC236}">
                <a16:creationId xmlns:a16="http://schemas.microsoft.com/office/drawing/2014/main" id="{97EEFE1A-921F-F346-612F-FCF20E123092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Imagem 2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CD16CAA6-5EA9-45EF-600F-7ADAE4A503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901" y="1263172"/>
            <a:ext cx="7886100" cy="492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8904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EE28519D-3946-1E4E-A197-5F61715AA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499D74D7-D2D6-851D-F809-6AE20A69BA8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66CEDB76-974D-0A9A-536A-9CEB05A3A8B4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BC8B412E-BDE8-DD37-2B56-5273A2F161E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C441E6D3-781C-CBEC-3E1F-85F241B9CF4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2">
            <a:extLst>
              <a:ext uri="{FF2B5EF4-FFF2-40B4-BE49-F238E27FC236}">
                <a16:creationId xmlns:a16="http://schemas.microsoft.com/office/drawing/2014/main" id="{27740214-8094-FEAC-23B9-76F2BFDCF4EC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2">
            <a:extLst>
              <a:ext uri="{FF2B5EF4-FFF2-40B4-BE49-F238E27FC236}">
                <a16:creationId xmlns:a16="http://schemas.microsoft.com/office/drawing/2014/main" id="{684274E8-C726-E710-F2B9-03CD19786D14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id="{6A3A7EB3-1F18-B28F-AB20-7A175F375983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9" name="Google Shape;269;p22">
            <a:extLst>
              <a:ext uri="{FF2B5EF4-FFF2-40B4-BE49-F238E27FC236}">
                <a16:creationId xmlns:a16="http://schemas.microsoft.com/office/drawing/2014/main" id="{7482A52B-4EF6-12B1-A076-79BB410E11D5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yy/xx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EF5BEEB0-E325-5DE1-AA7C-99E7750EBE8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Ensaios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1" name="Google Shape;271;p22">
            <a:extLst>
              <a:ext uri="{FF2B5EF4-FFF2-40B4-BE49-F238E27FC236}">
                <a16:creationId xmlns:a16="http://schemas.microsoft.com/office/drawing/2014/main" id="{00884197-4CDF-82B1-34C7-C3440AC9DC72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2" name="Google Shape;272;p22">
            <a:extLst>
              <a:ext uri="{FF2B5EF4-FFF2-40B4-BE49-F238E27FC236}">
                <a16:creationId xmlns:a16="http://schemas.microsoft.com/office/drawing/2014/main" id="{4583C5ED-64B0-01FC-9DD8-4D048D0E4EA1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22C95610-BCA0-73A2-DB9B-3214704B7C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900" y="1235345"/>
            <a:ext cx="7886100" cy="4928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155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B57B03F4-4A00-B6C7-CE9A-E281743B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9C0F0C28-67EB-E58F-7C11-26FF6EBE551D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402D243D-D420-EC14-756D-C6BC45A41C79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2F8B3891-0416-9F5E-03EC-2379D907FAC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8E6DFECA-288C-661D-5AA9-325415FE8DE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2">
            <a:extLst>
              <a:ext uri="{FF2B5EF4-FFF2-40B4-BE49-F238E27FC236}">
                <a16:creationId xmlns:a16="http://schemas.microsoft.com/office/drawing/2014/main" id="{4320BFF3-4DDC-A3AD-7796-066E8BE9EE86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2">
            <a:extLst>
              <a:ext uri="{FF2B5EF4-FFF2-40B4-BE49-F238E27FC236}">
                <a16:creationId xmlns:a16="http://schemas.microsoft.com/office/drawing/2014/main" id="{B9E77869-5314-14A0-6226-75A460727C85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id="{B09BC649-1A0F-4D40-3DA1-C3EF05ECE46E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9" name="Google Shape;269;p22">
            <a:extLst>
              <a:ext uri="{FF2B5EF4-FFF2-40B4-BE49-F238E27FC236}">
                <a16:creationId xmlns:a16="http://schemas.microsoft.com/office/drawing/2014/main" id="{C807E176-83FC-8F75-5262-633082AB9DCE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yy/xx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9BC291A2-91FD-31A7-8925-9276A2EE54F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Ensaios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1" name="Google Shape;271;p22">
            <a:extLst>
              <a:ext uri="{FF2B5EF4-FFF2-40B4-BE49-F238E27FC236}">
                <a16:creationId xmlns:a16="http://schemas.microsoft.com/office/drawing/2014/main" id="{6254F1B7-FE23-25DD-446C-31B5F9F8CF4B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2" name="Google Shape;272;p22">
            <a:extLst>
              <a:ext uri="{FF2B5EF4-FFF2-40B4-BE49-F238E27FC236}">
                <a16:creationId xmlns:a16="http://schemas.microsoft.com/office/drawing/2014/main" id="{61F3EA8B-6554-62FD-3FDE-682F69C3C786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Imagem 2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9B58CD67-F023-973F-55BE-904D98387D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900" y="1342686"/>
            <a:ext cx="7886100" cy="492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2931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19629EF6-B4DA-7AB9-3A9A-98B7CB6AF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91555B3D-5381-36D3-E313-D3761DC3B07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D45B7828-F602-A812-FB6F-2401B991C7BB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A5B061C1-2F1A-F77C-2EDB-D8D0DB888C2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F86C6441-900E-CDAB-7D2D-56082F8338F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2">
            <a:extLst>
              <a:ext uri="{FF2B5EF4-FFF2-40B4-BE49-F238E27FC236}">
                <a16:creationId xmlns:a16="http://schemas.microsoft.com/office/drawing/2014/main" id="{FED27C5A-96E0-49B6-3AE6-7387924F090C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2">
            <a:extLst>
              <a:ext uri="{FF2B5EF4-FFF2-40B4-BE49-F238E27FC236}">
                <a16:creationId xmlns:a16="http://schemas.microsoft.com/office/drawing/2014/main" id="{42688E61-9FA8-C9DA-A582-0266BA1F0AB4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id="{7086CA97-A93C-566F-8963-5F32F3D02108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9" name="Google Shape;269;p22">
            <a:extLst>
              <a:ext uri="{FF2B5EF4-FFF2-40B4-BE49-F238E27FC236}">
                <a16:creationId xmlns:a16="http://schemas.microsoft.com/office/drawing/2014/main" id="{14B9CE40-EAF8-4F2F-502F-9B00ED6DF97E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yy/xx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52AEA778-3FDB-0BE6-9B24-DBEC689C8B63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Comparativo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1" name="Google Shape;271;p22">
            <a:extLst>
              <a:ext uri="{FF2B5EF4-FFF2-40B4-BE49-F238E27FC236}">
                <a16:creationId xmlns:a16="http://schemas.microsoft.com/office/drawing/2014/main" id="{4E511582-882A-754C-C98D-0D32A98F804F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 1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2" name="Google Shape;272;p22">
            <a:extLst>
              <a:ext uri="{FF2B5EF4-FFF2-40B4-BE49-F238E27FC236}">
                <a16:creationId xmlns:a16="http://schemas.microsoft.com/office/drawing/2014/main" id="{59757DE9-13ED-734E-F27F-35C7FCD15317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FD012636-3D2D-3538-52EE-16801AC3B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41974"/>
              </p:ext>
            </p:extLst>
          </p:nvPr>
        </p:nvGraphicFramePr>
        <p:xfrm>
          <a:off x="1389504" y="1529064"/>
          <a:ext cx="7673009" cy="3196422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2478046">
                  <a:extLst>
                    <a:ext uri="{9D8B030D-6E8A-4147-A177-3AD203B41FA5}">
                      <a16:colId xmlns:a16="http://schemas.microsoft.com/office/drawing/2014/main" val="2959689637"/>
                    </a:ext>
                  </a:extLst>
                </a:gridCol>
                <a:gridCol w="2353968">
                  <a:extLst>
                    <a:ext uri="{9D8B030D-6E8A-4147-A177-3AD203B41FA5}">
                      <a16:colId xmlns:a16="http://schemas.microsoft.com/office/drawing/2014/main" val="3465590992"/>
                    </a:ext>
                  </a:extLst>
                </a:gridCol>
                <a:gridCol w="2840995">
                  <a:extLst>
                    <a:ext uri="{9D8B030D-6E8A-4147-A177-3AD203B41FA5}">
                      <a16:colId xmlns:a16="http://schemas.microsoft.com/office/drawing/2014/main" val="511963040"/>
                    </a:ext>
                  </a:extLst>
                </a:gridCol>
              </a:tblGrid>
              <a:tr h="5937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CARACTERÍSTICA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MELHOR MODELO DO ARTIGO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MODELO DESTE TCC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39209235"/>
                  </a:ext>
                </a:extLst>
              </a:tr>
              <a:tr h="59376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Resolução das imagens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524 × 524 </a:t>
                      </a:r>
                      <a:r>
                        <a:rPr lang="pt-BR" sz="1600" u="none" strike="noStrike" dirty="0" err="1">
                          <a:effectLst/>
                        </a:rPr>
                        <a:t>px</a:t>
                      </a:r>
                      <a:endParaRPr lang="pt-BR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224 × 224 </a:t>
                      </a:r>
                      <a:r>
                        <a:rPr lang="pt-BR" sz="1600" u="none" strike="noStrike" dirty="0" err="1">
                          <a:effectLst/>
                        </a:rPr>
                        <a:t>px</a:t>
                      </a:r>
                      <a:endParaRPr lang="pt-BR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05360599"/>
                  </a:ext>
                </a:extLst>
              </a:tr>
              <a:tr h="6258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Arquitetura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InceptionV3</a:t>
                      </a:r>
                      <a:endParaRPr lang="pt-BR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MobileNetV2</a:t>
                      </a:r>
                      <a:endParaRPr lang="pt-BR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19186145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Acurácia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89,19%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≈ 68%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71918815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Precisão (</a:t>
                      </a:r>
                      <a:r>
                        <a:rPr lang="pt-BR" sz="1600" b="1" u="none" strike="noStrike" dirty="0" err="1">
                          <a:effectLst/>
                        </a:rPr>
                        <a:t>Precision</a:t>
                      </a:r>
                      <a:r>
                        <a:rPr lang="pt-BR" sz="1600" b="1" u="none" strike="noStrike" dirty="0">
                          <a:effectLst/>
                        </a:rPr>
                        <a:t>)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>
                          <a:effectLst/>
                        </a:rPr>
                        <a:t>91,34%</a:t>
                      </a:r>
                      <a:endParaRPr lang="pt-BR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≈ 69%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58109699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Sensibilidade (Recall)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>
                          <a:effectLst/>
                        </a:rPr>
                        <a:t>87,73%</a:t>
                      </a:r>
                      <a:endParaRPr lang="pt-BR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≈ 68%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003602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F1-score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>
                          <a:effectLst/>
                        </a:rPr>
                        <a:t>90,25%</a:t>
                      </a:r>
                      <a:endParaRPr lang="pt-BR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≈ 68%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60091774"/>
                  </a:ext>
                </a:extLst>
              </a:tr>
            </a:tbl>
          </a:graphicData>
        </a:graphic>
      </p:graphicFrame>
      <p:sp>
        <p:nvSpPr>
          <p:cNvPr id="12" name="CaixaDeTexto 11">
            <a:extLst>
              <a:ext uri="{FF2B5EF4-FFF2-40B4-BE49-F238E27FC236}">
                <a16:creationId xmlns:a16="http://schemas.microsoft.com/office/drawing/2014/main" id="{97C65B73-C0CD-EB5D-E56D-2EDEB389FFDE}"/>
              </a:ext>
            </a:extLst>
          </p:cNvPr>
          <p:cNvSpPr txBox="1"/>
          <p:nvPr/>
        </p:nvSpPr>
        <p:spPr>
          <a:xfrm>
            <a:off x="2671068" y="5028001"/>
            <a:ext cx="4575974" cy="1021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sz="1400" b="1" dirty="0"/>
              <a:t>Fonte do repositório:</a:t>
            </a:r>
            <a:endParaRPr lang="pt-B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/>
              <a:t>UCI Machine Learning </a:t>
            </a:r>
            <a:r>
              <a:rPr lang="pt-BR" sz="1400" dirty="0" err="1"/>
              <a:t>Repository</a:t>
            </a:r>
            <a:r>
              <a:rPr lang="pt-BR" sz="1400" dirty="0"/>
              <a:t> — </a:t>
            </a:r>
            <a:r>
              <a:rPr lang="pt-BR" sz="1400" dirty="0" err="1"/>
              <a:t>RealWaste</a:t>
            </a:r>
            <a:r>
              <a:rPr lang="pt-BR" sz="1400" dirty="0"/>
              <a:t> </a:t>
            </a:r>
            <a:r>
              <a:rPr lang="pt-BR" sz="1400" dirty="0" err="1"/>
              <a:t>Dataset</a:t>
            </a:r>
            <a:r>
              <a:rPr lang="pt-BR" sz="1400" dirty="0"/>
              <a:t> </a:t>
            </a:r>
            <a:r>
              <a:rPr lang="pt-BR" sz="1400" i="1" dirty="0"/>
              <a:t>(Single; </a:t>
            </a:r>
            <a:r>
              <a:rPr lang="pt-BR" sz="1400" i="1" dirty="0" err="1"/>
              <a:t>Iranmanesh</a:t>
            </a:r>
            <a:r>
              <a:rPr lang="pt-BR" sz="1400" i="1" dirty="0"/>
              <a:t>; Raad, 2023a)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5101025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4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24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6" name="Google Shape;2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4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24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24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1" name="Google Shape;301;p24"/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2" name="Google Shape;302;p24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3" name="Google Shape;303;p24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5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1" name="Google Shape;31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5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25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5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6" name="Google Shape;316;p25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7" name="Google Shape;317;p25"/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8" name="Google Shape;318;p25"/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xx/xx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9" name="Google Shape;319;p25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C060B31-760A-B52B-18E1-0C7CC962DEAE}"/>
              </a:ext>
            </a:extLst>
          </p:cNvPr>
          <p:cNvSpPr txBox="1"/>
          <p:nvPr/>
        </p:nvSpPr>
        <p:spPr>
          <a:xfrm>
            <a:off x="1257900" y="880406"/>
            <a:ext cx="7743413" cy="5586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sz="1600" dirty="0"/>
              <a:t>• </a:t>
            </a:r>
            <a:r>
              <a:rPr lang="pt-BR" sz="1600" b="1" dirty="0"/>
              <a:t>A classificação de resíduos em hardware de baixo custo é viável.</a:t>
            </a:r>
            <a:br>
              <a:rPr lang="pt-BR" sz="1600" dirty="0"/>
            </a:br>
            <a:r>
              <a:rPr lang="pt-BR" sz="1600" dirty="0"/>
              <a:t>O modelo MobileNetV2 quantizado em INT8 atingiu </a:t>
            </a:r>
            <a:r>
              <a:rPr lang="pt-BR" sz="1600" b="1" dirty="0"/>
              <a:t>≈68% de acurácia/F1</a:t>
            </a:r>
            <a:r>
              <a:rPr lang="pt-BR" sz="1600" dirty="0"/>
              <a:t> e </a:t>
            </a:r>
            <a:r>
              <a:rPr lang="pt-BR" sz="1600" b="1" dirty="0"/>
              <a:t>~200 </a:t>
            </a:r>
            <a:r>
              <a:rPr lang="pt-BR" sz="1600" b="1" dirty="0" err="1"/>
              <a:t>ms</a:t>
            </a:r>
            <a:r>
              <a:rPr lang="pt-BR" sz="1600" b="1" dirty="0"/>
              <a:t> de latência</a:t>
            </a:r>
            <a:r>
              <a:rPr lang="pt-BR" sz="1600" dirty="0"/>
              <a:t>, operando de forma estável na </a:t>
            </a:r>
            <a:r>
              <a:rPr lang="pt-BR" sz="1600" dirty="0" err="1"/>
              <a:t>Raspberry</a:t>
            </a:r>
            <a:r>
              <a:rPr lang="pt-BR" sz="1600" dirty="0"/>
              <a:t> Pi 3 B+.</a:t>
            </a:r>
          </a:p>
          <a:p>
            <a:pPr>
              <a:lnSpc>
                <a:spcPct val="150000"/>
              </a:lnSpc>
              <a:buNone/>
            </a:pPr>
            <a:endParaRPr lang="pt-BR" sz="1600" dirty="0"/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•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O desempenho menor em relação ao estudo original é esperado.</a:t>
            </a:r>
            <a:br>
              <a:rPr lang="pt-BR" sz="16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•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O modelo mantém bom desempenho considerando as restrições embarcadas.</a:t>
            </a:r>
            <a:br>
              <a:rPr lang="pt-BR" sz="1600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Mesmo com menos resolução, menos aumento de dados e quantização INT8, o sistema funcionou em tempo quase real, consumindo pouca RAM e CPU.</a:t>
            </a:r>
          </a:p>
          <a:p>
            <a:pPr>
              <a:lnSpc>
                <a:spcPct val="150000"/>
              </a:lnSpc>
              <a:buNone/>
            </a:pP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•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Os dois estudos se complementam.</a:t>
            </a:r>
            <a:br>
              <a:rPr lang="pt-BR" sz="1600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O artigo mostra o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desempenho máximo possível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 sem limitações de hardware.</a:t>
            </a:r>
            <a:br>
              <a:rPr lang="pt-BR" sz="1600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Este trabalho mostra a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aplicação prática em </a:t>
            </a:r>
            <a:r>
              <a:rPr lang="pt-BR" sz="1600" b="1" dirty="0" err="1">
                <a:solidFill>
                  <a:schemeClr val="bg1">
                    <a:lumMod val="75000"/>
                  </a:schemeClr>
                </a:solidFill>
              </a:rPr>
              <a:t>TinyML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, onde custo, consumo e tamanho do modelo são determinantes.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>
          <a:extLst>
            <a:ext uri="{FF2B5EF4-FFF2-40B4-BE49-F238E27FC236}">
              <a16:creationId xmlns:a16="http://schemas.microsoft.com/office/drawing/2014/main" id="{42B01D72-6618-C060-879C-5700B4BF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>
            <a:extLst>
              <a:ext uri="{FF2B5EF4-FFF2-40B4-BE49-F238E27FC236}">
                <a16:creationId xmlns:a16="http://schemas.microsoft.com/office/drawing/2014/main" id="{FE18D62F-67BE-6FD7-28FA-F6B9A49F6C8D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5">
            <a:extLst>
              <a:ext uri="{FF2B5EF4-FFF2-40B4-BE49-F238E27FC236}">
                <a16:creationId xmlns:a16="http://schemas.microsoft.com/office/drawing/2014/main" id="{A120D5F1-816A-636C-FAE0-3CF635D01AAF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1" name="Google Shape;311;p25">
            <a:extLst>
              <a:ext uri="{FF2B5EF4-FFF2-40B4-BE49-F238E27FC236}">
                <a16:creationId xmlns:a16="http://schemas.microsoft.com/office/drawing/2014/main" id="{2AA8DCCB-1F07-5A3A-A676-77789C427D2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5">
            <a:extLst>
              <a:ext uri="{FF2B5EF4-FFF2-40B4-BE49-F238E27FC236}">
                <a16:creationId xmlns:a16="http://schemas.microsoft.com/office/drawing/2014/main" id="{488B7659-AC88-A343-4701-4F0183DB36F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5">
            <a:extLst>
              <a:ext uri="{FF2B5EF4-FFF2-40B4-BE49-F238E27FC236}">
                <a16:creationId xmlns:a16="http://schemas.microsoft.com/office/drawing/2014/main" id="{1C545A17-1D88-4F2B-6617-E263E51F9D08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25">
            <a:extLst>
              <a:ext uri="{FF2B5EF4-FFF2-40B4-BE49-F238E27FC236}">
                <a16:creationId xmlns:a16="http://schemas.microsoft.com/office/drawing/2014/main" id="{346AACB2-152E-AEA5-DBDB-6562E16D6061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5">
            <a:extLst>
              <a:ext uri="{FF2B5EF4-FFF2-40B4-BE49-F238E27FC236}">
                <a16:creationId xmlns:a16="http://schemas.microsoft.com/office/drawing/2014/main" id="{7EDB065C-2E8B-FD9A-DE09-BDD169FA30EA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6" name="Google Shape;316;p25">
            <a:extLst>
              <a:ext uri="{FF2B5EF4-FFF2-40B4-BE49-F238E27FC236}">
                <a16:creationId xmlns:a16="http://schemas.microsoft.com/office/drawing/2014/main" id="{D8A6F34C-3AA7-FB6F-0B9B-DAF52EAE270D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7" name="Google Shape;317;p25">
            <a:extLst>
              <a:ext uri="{FF2B5EF4-FFF2-40B4-BE49-F238E27FC236}">
                <a16:creationId xmlns:a16="http://schemas.microsoft.com/office/drawing/2014/main" id="{738B47FC-DF59-C2FD-00DF-A10C85F8C0FD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8" name="Google Shape;318;p25">
            <a:extLst>
              <a:ext uri="{FF2B5EF4-FFF2-40B4-BE49-F238E27FC236}">
                <a16:creationId xmlns:a16="http://schemas.microsoft.com/office/drawing/2014/main" id="{B96DB217-A2EF-AF1F-2535-C302BC3AC42B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xx/xx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9" name="Google Shape;319;p25">
            <a:extLst>
              <a:ext uri="{FF2B5EF4-FFF2-40B4-BE49-F238E27FC236}">
                <a16:creationId xmlns:a16="http://schemas.microsoft.com/office/drawing/2014/main" id="{5467203A-6A22-9AC2-B925-64ED1AFD440F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B13D9EC-7417-0B0E-EE8F-2A9094CB054C}"/>
              </a:ext>
            </a:extLst>
          </p:cNvPr>
          <p:cNvSpPr txBox="1"/>
          <p:nvPr/>
        </p:nvSpPr>
        <p:spPr>
          <a:xfrm>
            <a:off x="1257900" y="880406"/>
            <a:ext cx="7743413" cy="5586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sz="1600" dirty="0"/>
              <a:t>• </a:t>
            </a:r>
            <a:r>
              <a:rPr lang="pt-BR" sz="1600" b="1" dirty="0"/>
              <a:t>A classificação de resíduos em hardware de baixo custo é viável.</a:t>
            </a:r>
            <a:br>
              <a:rPr lang="pt-BR" sz="1600" dirty="0"/>
            </a:br>
            <a:r>
              <a:rPr lang="pt-BR" sz="1600" dirty="0"/>
              <a:t>O modelo MobileNetV2 quantizado em INT8 atingiu </a:t>
            </a:r>
            <a:r>
              <a:rPr lang="pt-BR" sz="1600" b="1" dirty="0"/>
              <a:t>≈68% de acurácia/F1</a:t>
            </a:r>
            <a:r>
              <a:rPr lang="pt-BR" sz="1600" dirty="0"/>
              <a:t> e </a:t>
            </a:r>
            <a:r>
              <a:rPr lang="pt-BR" sz="1600" b="1" dirty="0"/>
              <a:t>~200 </a:t>
            </a:r>
            <a:r>
              <a:rPr lang="pt-BR" sz="1600" b="1" dirty="0" err="1"/>
              <a:t>ms</a:t>
            </a:r>
            <a:r>
              <a:rPr lang="pt-BR" sz="1600" b="1" dirty="0"/>
              <a:t> de latência</a:t>
            </a:r>
            <a:r>
              <a:rPr lang="pt-BR" sz="1600" dirty="0"/>
              <a:t>, operando de forma estável na </a:t>
            </a:r>
            <a:r>
              <a:rPr lang="pt-BR" sz="1600" dirty="0" err="1"/>
              <a:t>Raspberry</a:t>
            </a:r>
            <a:r>
              <a:rPr lang="pt-BR" sz="1600" dirty="0"/>
              <a:t> Pi 3 B+.</a:t>
            </a:r>
          </a:p>
          <a:p>
            <a:pPr>
              <a:lnSpc>
                <a:spcPct val="150000"/>
              </a:lnSpc>
              <a:buNone/>
            </a:pPr>
            <a:endParaRPr lang="pt-BR" sz="1600" dirty="0"/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tx1"/>
                </a:solidFill>
              </a:rPr>
              <a:t>• </a:t>
            </a:r>
            <a:r>
              <a:rPr lang="pt-BR" sz="1600" b="1" dirty="0">
                <a:solidFill>
                  <a:schemeClr val="tx1"/>
                </a:solidFill>
              </a:rPr>
              <a:t>O desempenho menor em relação ao estudo original é esperado.</a:t>
            </a:r>
            <a:br>
              <a:rPr lang="pt-BR" sz="1600" dirty="0">
                <a:solidFill>
                  <a:schemeClr val="tx1"/>
                </a:solidFill>
              </a:rPr>
            </a:br>
            <a:endParaRPr lang="pt-BR" sz="1600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•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O modelo mantém bom desempenho considerando as restrições embarcadas.</a:t>
            </a:r>
            <a:br>
              <a:rPr lang="pt-BR" sz="1600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Mesmo com menos resolução, menos aumento de dados e quantização INT8, o sistema funcionou em tempo quase real, consumindo pouca RAM e CPU.</a:t>
            </a:r>
          </a:p>
          <a:p>
            <a:pPr>
              <a:lnSpc>
                <a:spcPct val="150000"/>
              </a:lnSpc>
              <a:buNone/>
            </a:pP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•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Os dois estudos se complementam.</a:t>
            </a:r>
            <a:br>
              <a:rPr lang="pt-BR" sz="1600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O artigo mostra o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desempenho máximo possível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 sem limitações de hardware.</a:t>
            </a:r>
            <a:br>
              <a:rPr lang="pt-BR" sz="1600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Este trabalho mostra a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aplicação prática em </a:t>
            </a:r>
            <a:r>
              <a:rPr lang="pt-BR" sz="1600" b="1" dirty="0" err="1">
                <a:solidFill>
                  <a:schemeClr val="bg1">
                    <a:lumMod val="75000"/>
                  </a:schemeClr>
                </a:solidFill>
              </a:rPr>
              <a:t>TinyML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, onde custo, consumo e tamanho do modelo são determinantes.</a:t>
            </a:r>
          </a:p>
        </p:txBody>
      </p:sp>
    </p:spTree>
    <p:extLst>
      <p:ext uri="{BB962C8B-B14F-4D97-AF65-F5344CB8AC3E}">
        <p14:creationId xmlns:p14="http://schemas.microsoft.com/office/powerpoint/2010/main" val="21062267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>
          <a:extLst>
            <a:ext uri="{FF2B5EF4-FFF2-40B4-BE49-F238E27FC236}">
              <a16:creationId xmlns:a16="http://schemas.microsoft.com/office/drawing/2014/main" id="{D7912846-822C-904C-48BA-18D78676C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>
            <a:extLst>
              <a:ext uri="{FF2B5EF4-FFF2-40B4-BE49-F238E27FC236}">
                <a16:creationId xmlns:a16="http://schemas.microsoft.com/office/drawing/2014/main" id="{178D8781-BE7F-B4E6-93B3-5B472D9AA215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5">
            <a:extLst>
              <a:ext uri="{FF2B5EF4-FFF2-40B4-BE49-F238E27FC236}">
                <a16:creationId xmlns:a16="http://schemas.microsoft.com/office/drawing/2014/main" id="{D9A14D76-C64D-D9A8-C7FF-B2B71744911E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1" name="Google Shape;311;p25">
            <a:extLst>
              <a:ext uri="{FF2B5EF4-FFF2-40B4-BE49-F238E27FC236}">
                <a16:creationId xmlns:a16="http://schemas.microsoft.com/office/drawing/2014/main" id="{ADA4B8AF-38A2-0A4D-4A48-49134DE705E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5">
            <a:extLst>
              <a:ext uri="{FF2B5EF4-FFF2-40B4-BE49-F238E27FC236}">
                <a16:creationId xmlns:a16="http://schemas.microsoft.com/office/drawing/2014/main" id="{772718F9-3ECA-E1D2-F0C1-7CFC99EC2CF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5">
            <a:extLst>
              <a:ext uri="{FF2B5EF4-FFF2-40B4-BE49-F238E27FC236}">
                <a16:creationId xmlns:a16="http://schemas.microsoft.com/office/drawing/2014/main" id="{5AC997EC-E33A-C5AD-C311-AA8AB8A7D2D7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25">
            <a:extLst>
              <a:ext uri="{FF2B5EF4-FFF2-40B4-BE49-F238E27FC236}">
                <a16:creationId xmlns:a16="http://schemas.microsoft.com/office/drawing/2014/main" id="{CDE5B04D-D96E-8115-3BBD-E4A1183005A1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5">
            <a:extLst>
              <a:ext uri="{FF2B5EF4-FFF2-40B4-BE49-F238E27FC236}">
                <a16:creationId xmlns:a16="http://schemas.microsoft.com/office/drawing/2014/main" id="{48EF05A1-B9E6-3D89-2D93-7BB14C32EE73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6" name="Google Shape;316;p25">
            <a:extLst>
              <a:ext uri="{FF2B5EF4-FFF2-40B4-BE49-F238E27FC236}">
                <a16:creationId xmlns:a16="http://schemas.microsoft.com/office/drawing/2014/main" id="{92033A1A-6F18-A467-E230-517BD5FCD89B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7" name="Google Shape;317;p25">
            <a:extLst>
              <a:ext uri="{FF2B5EF4-FFF2-40B4-BE49-F238E27FC236}">
                <a16:creationId xmlns:a16="http://schemas.microsoft.com/office/drawing/2014/main" id="{854DB164-0F17-C08D-5062-3D0825C11003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8" name="Google Shape;318;p25">
            <a:extLst>
              <a:ext uri="{FF2B5EF4-FFF2-40B4-BE49-F238E27FC236}">
                <a16:creationId xmlns:a16="http://schemas.microsoft.com/office/drawing/2014/main" id="{7A37C922-963F-1CE7-58D6-3B3F08D1825F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xx/xx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9" name="Google Shape;319;p25">
            <a:extLst>
              <a:ext uri="{FF2B5EF4-FFF2-40B4-BE49-F238E27FC236}">
                <a16:creationId xmlns:a16="http://schemas.microsoft.com/office/drawing/2014/main" id="{669161E4-01A9-9BDC-D6DE-78953884C569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86A9C47-8D26-3BFB-AF91-D8811A56DB9C}"/>
              </a:ext>
            </a:extLst>
          </p:cNvPr>
          <p:cNvSpPr txBox="1"/>
          <p:nvPr/>
        </p:nvSpPr>
        <p:spPr>
          <a:xfrm>
            <a:off x="1257900" y="880406"/>
            <a:ext cx="7743413" cy="5586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sz="1600" dirty="0"/>
              <a:t>• </a:t>
            </a:r>
            <a:r>
              <a:rPr lang="pt-BR" sz="1600" b="1" dirty="0"/>
              <a:t>A classificação de resíduos em hardware de baixo custo é viável.</a:t>
            </a:r>
            <a:br>
              <a:rPr lang="pt-BR" sz="1600" dirty="0"/>
            </a:br>
            <a:r>
              <a:rPr lang="pt-BR" sz="1600" dirty="0"/>
              <a:t>O modelo MobileNetV2 quantizado em INT8 atingiu </a:t>
            </a:r>
            <a:r>
              <a:rPr lang="pt-BR" sz="1600" b="1" dirty="0"/>
              <a:t>≈68% de acurácia/F1</a:t>
            </a:r>
            <a:r>
              <a:rPr lang="pt-BR" sz="1600" dirty="0"/>
              <a:t> e </a:t>
            </a:r>
            <a:r>
              <a:rPr lang="pt-BR" sz="1600" b="1" dirty="0"/>
              <a:t>~200 </a:t>
            </a:r>
            <a:r>
              <a:rPr lang="pt-BR" sz="1600" b="1" dirty="0" err="1"/>
              <a:t>ms</a:t>
            </a:r>
            <a:r>
              <a:rPr lang="pt-BR" sz="1600" b="1" dirty="0"/>
              <a:t> de latência</a:t>
            </a:r>
            <a:r>
              <a:rPr lang="pt-BR" sz="1600" dirty="0"/>
              <a:t>, operando de forma estável na </a:t>
            </a:r>
            <a:r>
              <a:rPr lang="pt-BR" sz="1600" dirty="0" err="1"/>
              <a:t>Raspberry</a:t>
            </a:r>
            <a:r>
              <a:rPr lang="pt-BR" sz="1600" dirty="0"/>
              <a:t> Pi 3 B+.</a:t>
            </a:r>
          </a:p>
          <a:p>
            <a:pPr>
              <a:lnSpc>
                <a:spcPct val="150000"/>
              </a:lnSpc>
              <a:buNone/>
            </a:pPr>
            <a:endParaRPr lang="pt-BR" sz="1600" dirty="0"/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tx1"/>
                </a:solidFill>
              </a:rPr>
              <a:t>• </a:t>
            </a:r>
            <a:r>
              <a:rPr lang="pt-BR" sz="1600" b="1" dirty="0">
                <a:solidFill>
                  <a:schemeClr val="tx1"/>
                </a:solidFill>
              </a:rPr>
              <a:t>O desempenho menor em relação ao estudo original é esperado.</a:t>
            </a:r>
            <a:br>
              <a:rPr lang="pt-BR" sz="1600" dirty="0">
                <a:solidFill>
                  <a:schemeClr val="tx1"/>
                </a:solidFill>
              </a:rPr>
            </a:br>
            <a:endParaRPr lang="pt-BR" sz="1600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tx1"/>
                </a:solidFill>
              </a:rPr>
              <a:t>• </a:t>
            </a:r>
            <a:r>
              <a:rPr lang="pt-BR" sz="1600" b="1" dirty="0">
                <a:solidFill>
                  <a:schemeClr val="tx1"/>
                </a:solidFill>
              </a:rPr>
              <a:t>O modelo mantém bom desempenho considerando as restrições embarcadas.</a:t>
            </a:r>
            <a:br>
              <a:rPr lang="pt-BR" sz="1600" dirty="0">
                <a:solidFill>
                  <a:schemeClr val="tx1"/>
                </a:solidFill>
              </a:rPr>
            </a:br>
            <a:r>
              <a:rPr lang="pt-BR" sz="1600" dirty="0">
                <a:solidFill>
                  <a:schemeClr val="tx1"/>
                </a:solidFill>
              </a:rPr>
              <a:t>Mesmo com menos resolução, menos aumento de dados e quantização INT8, o sistema funcionou em tempo quase real, consumindo pouca RAM e CPU.</a:t>
            </a:r>
          </a:p>
          <a:p>
            <a:pPr>
              <a:lnSpc>
                <a:spcPct val="150000"/>
              </a:lnSpc>
              <a:buNone/>
            </a:pP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•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Os dois estudos se complementam.</a:t>
            </a:r>
            <a:br>
              <a:rPr lang="pt-BR" sz="1600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O artigo mostra o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desempenho máximo possível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 sem limitações de hardware.</a:t>
            </a:r>
            <a:br>
              <a:rPr lang="pt-BR" sz="1600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Este trabalho mostra a </a:t>
            </a:r>
            <a:r>
              <a:rPr lang="pt-BR" sz="1600" b="1" dirty="0">
                <a:solidFill>
                  <a:schemeClr val="bg1">
                    <a:lumMod val="75000"/>
                  </a:schemeClr>
                </a:solidFill>
              </a:rPr>
              <a:t>aplicação prática em </a:t>
            </a:r>
            <a:r>
              <a:rPr lang="pt-BR" sz="1600" b="1" dirty="0" err="1">
                <a:solidFill>
                  <a:schemeClr val="bg1">
                    <a:lumMod val="75000"/>
                  </a:schemeClr>
                </a:solidFill>
              </a:rPr>
              <a:t>TinyML</a:t>
            </a:r>
            <a:r>
              <a:rPr lang="pt-BR" sz="1600" dirty="0">
                <a:solidFill>
                  <a:schemeClr val="bg1">
                    <a:lumMod val="75000"/>
                  </a:schemeClr>
                </a:solidFill>
              </a:rPr>
              <a:t>, onde custo, consumo e tamanho do modelo são determinantes.</a:t>
            </a:r>
          </a:p>
        </p:txBody>
      </p:sp>
    </p:spTree>
    <p:extLst>
      <p:ext uri="{BB962C8B-B14F-4D97-AF65-F5344CB8AC3E}">
        <p14:creationId xmlns:p14="http://schemas.microsoft.com/office/powerpoint/2010/main" val="22329431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>
          <a:extLst>
            <a:ext uri="{FF2B5EF4-FFF2-40B4-BE49-F238E27FC236}">
              <a16:creationId xmlns:a16="http://schemas.microsoft.com/office/drawing/2014/main" id="{B12D550F-862A-5A74-A0A7-D2DEB7507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>
            <a:extLst>
              <a:ext uri="{FF2B5EF4-FFF2-40B4-BE49-F238E27FC236}">
                <a16:creationId xmlns:a16="http://schemas.microsoft.com/office/drawing/2014/main" id="{086DC4AA-D47D-7244-7019-81591D6EBF5D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5">
            <a:extLst>
              <a:ext uri="{FF2B5EF4-FFF2-40B4-BE49-F238E27FC236}">
                <a16:creationId xmlns:a16="http://schemas.microsoft.com/office/drawing/2014/main" id="{801205F6-D84A-D5BC-72F8-9DF34B3546F3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1" name="Google Shape;311;p25">
            <a:extLst>
              <a:ext uri="{FF2B5EF4-FFF2-40B4-BE49-F238E27FC236}">
                <a16:creationId xmlns:a16="http://schemas.microsoft.com/office/drawing/2014/main" id="{85559085-181C-A2CE-E57F-1BF6630074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5">
            <a:extLst>
              <a:ext uri="{FF2B5EF4-FFF2-40B4-BE49-F238E27FC236}">
                <a16:creationId xmlns:a16="http://schemas.microsoft.com/office/drawing/2014/main" id="{41C78B28-6861-B9A3-8FE1-D39246F0051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5">
            <a:extLst>
              <a:ext uri="{FF2B5EF4-FFF2-40B4-BE49-F238E27FC236}">
                <a16:creationId xmlns:a16="http://schemas.microsoft.com/office/drawing/2014/main" id="{EE39564D-9EA4-A1E4-2074-2E71AE4FA673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25">
            <a:extLst>
              <a:ext uri="{FF2B5EF4-FFF2-40B4-BE49-F238E27FC236}">
                <a16:creationId xmlns:a16="http://schemas.microsoft.com/office/drawing/2014/main" id="{116F279C-0666-EA87-0D68-4D687F23290A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5">
            <a:extLst>
              <a:ext uri="{FF2B5EF4-FFF2-40B4-BE49-F238E27FC236}">
                <a16:creationId xmlns:a16="http://schemas.microsoft.com/office/drawing/2014/main" id="{52D1DE6C-B1D0-B8EE-5C64-7C4D36DCD3B2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6" name="Google Shape;316;p25">
            <a:extLst>
              <a:ext uri="{FF2B5EF4-FFF2-40B4-BE49-F238E27FC236}">
                <a16:creationId xmlns:a16="http://schemas.microsoft.com/office/drawing/2014/main" id="{817CE784-C7E2-2172-82A9-7DC5D8E9FEEE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7" name="Google Shape;317;p25">
            <a:extLst>
              <a:ext uri="{FF2B5EF4-FFF2-40B4-BE49-F238E27FC236}">
                <a16:creationId xmlns:a16="http://schemas.microsoft.com/office/drawing/2014/main" id="{7519C141-6C2D-16BC-FFAA-948F91BB53BF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8" name="Google Shape;318;p25">
            <a:extLst>
              <a:ext uri="{FF2B5EF4-FFF2-40B4-BE49-F238E27FC236}">
                <a16:creationId xmlns:a16="http://schemas.microsoft.com/office/drawing/2014/main" id="{3CE451BA-A866-E54A-55CA-D453CA00055E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xx/xx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9" name="Google Shape;319;p25">
            <a:extLst>
              <a:ext uri="{FF2B5EF4-FFF2-40B4-BE49-F238E27FC236}">
                <a16:creationId xmlns:a16="http://schemas.microsoft.com/office/drawing/2014/main" id="{28C79A68-F856-834E-8F60-9D8277458C9D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9AE0694-CF8B-288C-0F29-8085E246C0E9}"/>
              </a:ext>
            </a:extLst>
          </p:cNvPr>
          <p:cNvSpPr txBox="1"/>
          <p:nvPr/>
        </p:nvSpPr>
        <p:spPr>
          <a:xfrm>
            <a:off x="1257900" y="880406"/>
            <a:ext cx="7743413" cy="5586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sz="1600" dirty="0"/>
              <a:t>• </a:t>
            </a:r>
            <a:r>
              <a:rPr lang="pt-BR" sz="1600" b="1" dirty="0"/>
              <a:t>A classificação de resíduos em hardware de baixo custo é viável.</a:t>
            </a:r>
            <a:br>
              <a:rPr lang="pt-BR" sz="1600" dirty="0"/>
            </a:br>
            <a:r>
              <a:rPr lang="pt-BR" sz="1600" dirty="0"/>
              <a:t>O modelo MobileNetV2 quantizado em INT8 atingiu </a:t>
            </a:r>
            <a:r>
              <a:rPr lang="pt-BR" sz="1600" b="1" dirty="0"/>
              <a:t>≈68% de acurácia/F1</a:t>
            </a:r>
            <a:r>
              <a:rPr lang="pt-BR" sz="1600" dirty="0"/>
              <a:t> e </a:t>
            </a:r>
            <a:r>
              <a:rPr lang="pt-BR" sz="1600" b="1" dirty="0"/>
              <a:t>~200 </a:t>
            </a:r>
            <a:r>
              <a:rPr lang="pt-BR" sz="1600" b="1" dirty="0" err="1"/>
              <a:t>ms</a:t>
            </a:r>
            <a:r>
              <a:rPr lang="pt-BR" sz="1600" b="1" dirty="0"/>
              <a:t> de latência</a:t>
            </a:r>
            <a:r>
              <a:rPr lang="pt-BR" sz="1600" dirty="0"/>
              <a:t>, operando de forma estável na </a:t>
            </a:r>
            <a:r>
              <a:rPr lang="pt-BR" sz="1600" dirty="0" err="1"/>
              <a:t>Raspberry</a:t>
            </a:r>
            <a:r>
              <a:rPr lang="pt-BR" sz="1600" dirty="0"/>
              <a:t> Pi 3 B+.</a:t>
            </a:r>
          </a:p>
          <a:p>
            <a:pPr>
              <a:lnSpc>
                <a:spcPct val="150000"/>
              </a:lnSpc>
              <a:buNone/>
            </a:pPr>
            <a:endParaRPr lang="pt-BR" sz="1600" dirty="0"/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tx1"/>
                </a:solidFill>
              </a:rPr>
              <a:t>• </a:t>
            </a:r>
            <a:r>
              <a:rPr lang="pt-BR" sz="1600" b="1" dirty="0">
                <a:solidFill>
                  <a:schemeClr val="tx1"/>
                </a:solidFill>
              </a:rPr>
              <a:t>O desempenho menor em relação ao estudo original é esperado.</a:t>
            </a:r>
            <a:br>
              <a:rPr lang="pt-BR" sz="1600" dirty="0">
                <a:solidFill>
                  <a:schemeClr val="tx1"/>
                </a:solidFill>
              </a:rPr>
            </a:br>
            <a:endParaRPr lang="pt-BR" sz="1600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tx1"/>
                </a:solidFill>
              </a:rPr>
              <a:t>• </a:t>
            </a:r>
            <a:r>
              <a:rPr lang="pt-BR" sz="1600" b="1" dirty="0">
                <a:solidFill>
                  <a:schemeClr val="tx1"/>
                </a:solidFill>
              </a:rPr>
              <a:t>O modelo mantém bom desempenho considerando as restrições embarcadas.</a:t>
            </a:r>
            <a:br>
              <a:rPr lang="pt-BR" sz="1600" dirty="0">
                <a:solidFill>
                  <a:schemeClr val="tx1"/>
                </a:solidFill>
              </a:rPr>
            </a:br>
            <a:r>
              <a:rPr lang="pt-BR" sz="1600" dirty="0">
                <a:solidFill>
                  <a:schemeClr val="tx1"/>
                </a:solidFill>
              </a:rPr>
              <a:t>Mesmo com menos resolução, menos aumento de dados e quantização INT8, o sistema funcionou em tempo quase real, consumindo pouca RAM e CPU.</a:t>
            </a:r>
          </a:p>
          <a:p>
            <a:pPr>
              <a:lnSpc>
                <a:spcPct val="150000"/>
              </a:lnSpc>
              <a:buNone/>
            </a:pPr>
            <a:endParaRPr lang="pt-BR" sz="1600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tx1"/>
                </a:solidFill>
              </a:rPr>
              <a:t>• </a:t>
            </a:r>
            <a:r>
              <a:rPr lang="pt-BR" sz="1600" b="1" dirty="0">
                <a:solidFill>
                  <a:schemeClr val="tx1"/>
                </a:solidFill>
              </a:rPr>
              <a:t>Os dois estudos se complementam.</a:t>
            </a:r>
            <a:br>
              <a:rPr lang="pt-BR" sz="1600" dirty="0">
                <a:solidFill>
                  <a:schemeClr val="tx1"/>
                </a:solidFill>
              </a:rPr>
            </a:br>
            <a:r>
              <a:rPr lang="pt-BR" sz="1600" dirty="0">
                <a:solidFill>
                  <a:schemeClr val="tx1"/>
                </a:solidFill>
              </a:rPr>
              <a:t>O artigo mostra o </a:t>
            </a:r>
            <a:r>
              <a:rPr lang="pt-BR" sz="1600" b="1" dirty="0">
                <a:solidFill>
                  <a:schemeClr val="tx1"/>
                </a:solidFill>
              </a:rPr>
              <a:t>desempenho máximo possível</a:t>
            </a:r>
            <a:r>
              <a:rPr lang="pt-BR" sz="1600" dirty="0">
                <a:solidFill>
                  <a:schemeClr val="tx1"/>
                </a:solidFill>
              </a:rPr>
              <a:t> sem limitações de hardware.</a:t>
            </a:r>
            <a:br>
              <a:rPr lang="pt-BR" sz="1600" dirty="0">
                <a:solidFill>
                  <a:schemeClr val="tx1"/>
                </a:solidFill>
              </a:rPr>
            </a:br>
            <a:r>
              <a:rPr lang="pt-BR" sz="1600" dirty="0">
                <a:solidFill>
                  <a:schemeClr val="tx1"/>
                </a:solidFill>
              </a:rPr>
              <a:t>Este trabalho mostra a </a:t>
            </a:r>
            <a:r>
              <a:rPr lang="pt-BR" sz="1600" b="1" dirty="0">
                <a:solidFill>
                  <a:schemeClr val="tx1"/>
                </a:solidFill>
              </a:rPr>
              <a:t>aplicação prática em </a:t>
            </a:r>
            <a:r>
              <a:rPr lang="pt-BR" sz="1600" b="1" dirty="0" err="1">
                <a:solidFill>
                  <a:schemeClr val="tx1"/>
                </a:solidFill>
              </a:rPr>
              <a:t>TinyML</a:t>
            </a:r>
            <a:r>
              <a:rPr lang="pt-BR" sz="1600" dirty="0">
                <a:solidFill>
                  <a:schemeClr val="tx1"/>
                </a:solidFill>
              </a:rPr>
              <a:t>, onde custo, consumo e tamanho do modelo são determinantes.</a:t>
            </a:r>
          </a:p>
        </p:txBody>
      </p:sp>
    </p:spTree>
    <p:extLst>
      <p:ext uri="{BB962C8B-B14F-4D97-AF65-F5344CB8AC3E}">
        <p14:creationId xmlns:p14="http://schemas.microsoft.com/office/powerpoint/2010/main" val="2029823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>
          <a:extLst>
            <a:ext uri="{FF2B5EF4-FFF2-40B4-BE49-F238E27FC236}">
              <a16:creationId xmlns:a16="http://schemas.microsoft.com/office/drawing/2014/main" id="{D20F9AD7-0D78-07DA-C53B-8E2427840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>
            <a:extLst>
              <a:ext uri="{FF2B5EF4-FFF2-40B4-BE49-F238E27FC236}">
                <a16:creationId xmlns:a16="http://schemas.microsoft.com/office/drawing/2014/main" id="{10D8F635-B37D-4243-6F9C-481E6EDE74C3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5">
            <a:extLst>
              <a:ext uri="{FF2B5EF4-FFF2-40B4-BE49-F238E27FC236}">
                <a16:creationId xmlns:a16="http://schemas.microsoft.com/office/drawing/2014/main" id="{C8CFEC89-BAFF-045C-859A-F9E841DF27D1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1" name="Google Shape;311;p25">
            <a:extLst>
              <a:ext uri="{FF2B5EF4-FFF2-40B4-BE49-F238E27FC236}">
                <a16:creationId xmlns:a16="http://schemas.microsoft.com/office/drawing/2014/main" id="{73B49015-876A-D80E-9E7A-C550EEC48BA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5">
            <a:extLst>
              <a:ext uri="{FF2B5EF4-FFF2-40B4-BE49-F238E27FC236}">
                <a16:creationId xmlns:a16="http://schemas.microsoft.com/office/drawing/2014/main" id="{7AEA8E80-0EDB-B151-63E1-D752B7FEF51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5">
            <a:extLst>
              <a:ext uri="{FF2B5EF4-FFF2-40B4-BE49-F238E27FC236}">
                <a16:creationId xmlns:a16="http://schemas.microsoft.com/office/drawing/2014/main" id="{5F4095C9-5B58-7CEE-0B91-AB953053ABA4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25">
            <a:extLst>
              <a:ext uri="{FF2B5EF4-FFF2-40B4-BE49-F238E27FC236}">
                <a16:creationId xmlns:a16="http://schemas.microsoft.com/office/drawing/2014/main" id="{D4DDF490-275F-09D2-5FD7-0A6CE887D091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5">
            <a:extLst>
              <a:ext uri="{FF2B5EF4-FFF2-40B4-BE49-F238E27FC236}">
                <a16:creationId xmlns:a16="http://schemas.microsoft.com/office/drawing/2014/main" id="{C549ED16-3914-5317-4FB3-3086E3B0A038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6" name="Google Shape;316;p25">
            <a:extLst>
              <a:ext uri="{FF2B5EF4-FFF2-40B4-BE49-F238E27FC236}">
                <a16:creationId xmlns:a16="http://schemas.microsoft.com/office/drawing/2014/main" id="{B3B4AF6B-8A97-C650-0EBD-AF57386A101D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7" name="Google Shape;317;p25">
            <a:extLst>
              <a:ext uri="{FF2B5EF4-FFF2-40B4-BE49-F238E27FC236}">
                <a16:creationId xmlns:a16="http://schemas.microsoft.com/office/drawing/2014/main" id="{F578A52C-1719-3374-4021-85AFCD54E49B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8" name="Google Shape;318;p25">
            <a:extLst>
              <a:ext uri="{FF2B5EF4-FFF2-40B4-BE49-F238E27FC236}">
                <a16:creationId xmlns:a16="http://schemas.microsoft.com/office/drawing/2014/main" id="{35F205FB-58B4-B393-4CFE-F071EAE14A77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xx/xx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9" name="Google Shape;319;p25">
            <a:extLst>
              <a:ext uri="{FF2B5EF4-FFF2-40B4-BE49-F238E27FC236}">
                <a16:creationId xmlns:a16="http://schemas.microsoft.com/office/drawing/2014/main" id="{693CC96B-7315-64D5-6CCB-083627961900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F8424E2-31F3-03D0-ADA1-7814182D568B}"/>
              </a:ext>
            </a:extLst>
          </p:cNvPr>
          <p:cNvSpPr txBox="1"/>
          <p:nvPr/>
        </p:nvSpPr>
        <p:spPr>
          <a:xfrm>
            <a:off x="1400587" y="1078955"/>
            <a:ext cx="7743413" cy="2534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800" b="1" dirty="0"/>
              <a:t>Limitações observadas</a:t>
            </a:r>
          </a:p>
          <a:p>
            <a:pPr>
              <a:lnSpc>
                <a:spcPct val="150000"/>
              </a:lnSpc>
            </a:pPr>
            <a:r>
              <a:rPr lang="pt-BR" sz="1800" dirty="0"/>
              <a:t>• Confusões entre </a:t>
            </a:r>
            <a:r>
              <a:rPr lang="pt-BR" sz="1800" b="1" dirty="0"/>
              <a:t>vidro / plástico / metal</a:t>
            </a:r>
            <a:r>
              <a:rPr lang="pt-BR" sz="1800" dirty="0"/>
              <a:t>, confirmadas pelo F1 ≈ 0,68.</a:t>
            </a:r>
            <a:br>
              <a:rPr lang="pt-BR" sz="1800" dirty="0"/>
            </a:br>
            <a:r>
              <a:rPr lang="pt-BR" sz="1800" dirty="0"/>
              <a:t>• Sensibilidade à iluminação e posição dos objetos.</a:t>
            </a:r>
            <a:br>
              <a:rPr lang="pt-BR" sz="1800" dirty="0"/>
            </a:br>
            <a:r>
              <a:rPr lang="pt-BR" sz="1800" dirty="0"/>
              <a:t>• </a:t>
            </a:r>
            <a:r>
              <a:rPr lang="pt-BR" sz="1800" dirty="0" err="1"/>
              <a:t>Dataset</a:t>
            </a:r>
            <a:r>
              <a:rPr lang="pt-BR" sz="1800" dirty="0"/>
              <a:t> público útil, mas </a:t>
            </a:r>
            <a:r>
              <a:rPr lang="pt-BR" sz="1800" b="1" dirty="0"/>
              <a:t>não totalmente adequado ao contexto real</a:t>
            </a:r>
            <a:r>
              <a:rPr lang="pt-BR" sz="1800" dirty="0"/>
              <a:t>.</a:t>
            </a:r>
            <a:br>
              <a:rPr lang="pt-BR" sz="1800" dirty="0"/>
            </a:br>
            <a:r>
              <a:rPr lang="pt-BR" sz="1800" dirty="0"/>
              <a:t>• Câmera com ruído/granulação afetou a qualidade das imagens.</a:t>
            </a:r>
            <a:br>
              <a:rPr lang="pt-BR" sz="1800" dirty="0"/>
            </a:br>
            <a:r>
              <a:rPr lang="pt-BR" sz="1800" dirty="0"/>
              <a:t>• </a:t>
            </a:r>
            <a:r>
              <a:rPr lang="pt-BR" sz="1800" dirty="0" err="1"/>
              <a:t>Hiperparâmetros</a:t>
            </a:r>
            <a:r>
              <a:rPr lang="pt-BR" sz="1800" dirty="0"/>
              <a:t> e data </a:t>
            </a:r>
            <a:r>
              <a:rPr lang="pt-BR" sz="1800" dirty="0" err="1"/>
              <a:t>augmentation</a:t>
            </a:r>
            <a:r>
              <a:rPr lang="pt-BR" sz="1800" dirty="0"/>
              <a:t> ainda têm margem de otimização.</a:t>
            </a:r>
          </a:p>
        </p:txBody>
      </p:sp>
    </p:spTree>
    <p:extLst>
      <p:ext uri="{BB962C8B-B14F-4D97-AF65-F5344CB8AC3E}">
        <p14:creationId xmlns:p14="http://schemas.microsoft.com/office/powerpoint/2010/main" val="24636428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>
          <a:extLst>
            <a:ext uri="{FF2B5EF4-FFF2-40B4-BE49-F238E27FC236}">
              <a16:creationId xmlns:a16="http://schemas.microsoft.com/office/drawing/2014/main" id="{5B554CC8-C328-E59F-5428-65AB4EFA5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>
            <a:extLst>
              <a:ext uri="{FF2B5EF4-FFF2-40B4-BE49-F238E27FC236}">
                <a16:creationId xmlns:a16="http://schemas.microsoft.com/office/drawing/2014/main" id="{CEA00662-DF75-587B-88E1-08D6EB431981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5">
            <a:extLst>
              <a:ext uri="{FF2B5EF4-FFF2-40B4-BE49-F238E27FC236}">
                <a16:creationId xmlns:a16="http://schemas.microsoft.com/office/drawing/2014/main" id="{313B46CE-C3C8-5938-61D2-D10D02E32B97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1" name="Google Shape;311;p25">
            <a:extLst>
              <a:ext uri="{FF2B5EF4-FFF2-40B4-BE49-F238E27FC236}">
                <a16:creationId xmlns:a16="http://schemas.microsoft.com/office/drawing/2014/main" id="{9B64946B-8914-5F0E-043E-5BBCD4838B8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5">
            <a:extLst>
              <a:ext uri="{FF2B5EF4-FFF2-40B4-BE49-F238E27FC236}">
                <a16:creationId xmlns:a16="http://schemas.microsoft.com/office/drawing/2014/main" id="{0B1B0E0C-8907-52C8-2478-5EA066DA279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5">
            <a:extLst>
              <a:ext uri="{FF2B5EF4-FFF2-40B4-BE49-F238E27FC236}">
                <a16:creationId xmlns:a16="http://schemas.microsoft.com/office/drawing/2014/main" id="{C61E620F-B68D-A8B2-F17C-53E8C60E2EFF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25">
            <a:extLst>
              <a:ext uri="{FF2B5EF4-FFF2-40B4-BE49-F238E27FC236}">
                <a16:creationId xmlns:a16="http://schemas.microsoft.com/office/drawing/2014/main" id="{A11A035E-07F6-C434-6D2B-EADBA6D2EE06}"/>
              </a:ext>
            </a:extLst>
          </p:cNvPr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5">
            <a:extLst>
              <a:ext uri="{FF2B5EF4-FFF2-40B4-BE49-F238E27FC236}">
                <a16:creationId xmlns:a16="http://schemas.microsoft.com/office/drawing/2014/main" id="{B00DF210-D1BC-D7D2-522B-79D201433416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6" name="Google Shape;316;p25">
            <a:extLst>
              <a:ext uri="{FF2B5EF4-FFF2-40B4-BE49-F238E27FC236}">
                <a16:creationId xmlns:a16="http://schemas.microsoft.com/office/drawing/2014/main" id="{380919CA-5AC4-548A-BFE4-2140B4CE89B1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7" name="Google Shape;317;p25">
            <a:extLst>
              <a:ext uri="{FF2B5EF4-FFF2-40B4-BE49-F238E27FC236}">
                <a16:creationId xmlns:a16="http://schemas.microsoft.com/office/drawing/2014/main" id="{12761AD7-8B1F-3018-AF50-DA8F10C80FA4}"/>
              </a:ext>
            </a:extLst>
          </p:cNvPr>
          <p:cNvSpPr txBox="1"/>
          <p:nvPr/>
        </p:nvSpPr>
        <p:spPr>
          <a:xfrm>
            <a:off x="0" y="1445088"/>
            <a:ext cx="13191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Motivação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Objetivos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2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2.1</a:t>
            </a:r>
            <a:endParaRPr sz="12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2.4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3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3.1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3.3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Capítulo N</a:t>
            </a: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Tópico N.2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2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1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2</a:t>
            </a:r>
            <a:b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3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000">
                <a:solidFill>
                  <a:srgbClr val="56709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   Resultado 4</a:t>
            </a:r>
            <a:endParaRPr sz="10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sz="10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pt-BR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200">
              <a:solidFill>
                <a:srgbClr val="56709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8" name="Google Shape;318;p25">
            <a:extLst>
              <a:ext uri="{FF2B5EF4-FFF2-40B4-BE49-F238E27FC236}">
                <a16:creationId xmlns:a16="http://schemas.microsoft.com/office/drawing/2014/main" id="{9A6A91F1-D2C3-5146-89BF-CBFDB6796D08}"/>
              </a:ext>
            </a:extLst>
          </p:cNvPr>
          <p:cNvSpPr txBox="1"/>
          <p:nvPr/>
        </p:nvSpPr>
        <p:spPr>
          <a:xfrm>
            <a:off x="8209300" y="6576875"/>
            <a:ext cx="9348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xx/xx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19" name="Google Shape;319;p25">
            <a:extLst>
              <a:ext uri="{FF2B5EF4-FFF2-40B4-BE49-F238E27FC236}">
                <a16:creationId xmlns:a16="http://schemas.microsoft.com/office/drawing/2014/main" id="{3B34024C-AE74-14A1-E198-85565F1DDFC2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Título do Trabalho de Conclusão de Curso</a:t>
            </a:r>
            <a:endParaRPr sz="1200" i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64CE195-8E33-4B61-2CC9-F6791E0F1EB9}"/>
              </a:ext>
            </a:extLst>
          </p:cNvPr>
          <p:cNvSpPr txBox="1"/>
          <p:nvPr/>
        </p:nvSpPr>
        <p:spPr>
          <a:xfrm>
            <a:off x="1400587" y="1078955"/>
            <a:ext cx="7743413" cy="2534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800" b="1" dirty="0"/>
              <a:t>Sugestões de trabalhos futuros</a:t>
            </a:r>
          </a:p>
          <a:p>
            <a:pPr>
              <a:lnSpc>
                <a:spcPct val="150000"/>
              </a:lnSpc>
            </a:pPr>
            <a:r>
              <a:rPr lang="pt-BR" sz="1800" dirty="0"/>
              <a:t>• Criar </a:t>
            </a:r>
            <a:r>
              <a:rPr lang="pt-BR" sz="1800" b="1" dirty="0" err="1"/>
              <a:t>dataset</a:t>
            </a:r>
            <a:r>
              <a:rPr lang="pt-BR" sz="1800" b="1" dirty="0"/>
              <a:t> próprio</a:t>
            </a:r>
            <a:r>
              <a:rPr lang="pt-BR" sz="1800" dirty="0"/>
              <a:t> com captura padronizada;</a:t>
            </a:r>
            <a:br>
              <a:rPr lang="pt-BR" sz="1800" dirty="0"/>
            </a:br>
            <a:r>
              <a:rPr lang="pt-BR" sz="1800" dirty="0"/>
              <a:t>• Usar câmeras melhores ou consistentes entre treino e inferência;</a:t>
            </a:r>
            <a:br>
              <a:rPr lang="pt-BR" sz="1800" dirty="0"/>
            </a:br>
            <a:r>
              <a:rPr lang="pt-BR" sz="1800" dirty="0"/>
              <a:t>• Testar arquiteturas leves mais modernas (MobileNetV3, por exemplo);</a:t>
            </a:r>
            <a:br>
              <a:rPr lang="pt-BR" sz="1800" dirty="0"/>
            </a:br>
            <a:r>
              <a:rPr lang="pt-BR" sz="1800" dirty="0"/>
              <a:t>• Ajustar </a:t>
            </a:r>
            <a:r>
              <a:rPr lang="pt-BR" sz="1800" dirty="0" err="1"/>
              <a:t>hiperparâmetros</a:t>
            </a:r>
            <a:r>
              <a:rPr lang="pt-BR" sz="1800" dirty="0"/>
              <a:t> de forma sistemática;</a:t>
            </a:r>
            <a:br>
              <a:rPr lang="pt-BR" sz="1800" dirty="0"/>
            </a:br>
            <a:r>
              <a:rPr lang="pt-BR" sz="1800" dirty="0"/>
              <a:t>• Aumentar o data </a:t>
            </a:r>
            <a:r>
              <a:rPr lang="pt-BR" sz="1800" dirty="0" err="1"/>
              <a:t>augmentation</a:t>
            </a:r>
            <a:r>
              <a:rPr lang="pt-BR" sz="1800" dirty="0"/>
              <a:t> com técnicas mais ricas.</a:t>
            </a:r>
          </a:p>
        </p:txBody>
      </p:sp>
    </p:spTree>
    <p:extLst>
      <p:ext uri="{BB962C8B-B14F-4D97-AF65-F5344CB8AC3E}">
        <p14:creationId xmlns:p14="http://schemas.microsoft.com/office/powerpoint/2010/main" val="38308198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Avião sobrevoando água&#10;&#10;O conteúdo gerado por IA pode estar incorreto.">
            <a:extLst>
              <a:ext uri="{FF2B5EF4-FFF2-40B4-BE49-F238E27FC236}">
                <a16:creationId xmlns:a16="http://schemas.microsoft.com/office/drawing/2014/main" id="{C7E4457C-924D-D6F4-9ED5-6D681DA926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49" t="116" r="5704" b="158"/>
          <a:stretch>
            <a:fillRect/>
          </a:stretch>
        </p:blipFill>
        <p:spPr>
          <a:xfrm>
            <a:off x="-1" y="-1"/>
            <a:ext cx="9143989" cy="6858001"/>
          </a:xfrm>
          <a:prstGeom prst="rect">
            <a:avLst/>
          </a:prstGeom>
        </p:spPr>
      </p:pic>
      <p:sp>
        <p:nvSpPr>
          <p:cNvPr id="329" name="Google Shape;329;p26"/>
          <p:cNvSpPr/>
          <p:nvPr/>
        </p:nvSpPr>
        <p:spPr>
          <a:xfrm>
            <a:off x="-13" y="774427"/>
            <a:ext cx="9144013" cy="908100"/>
          </a:xfrm>
          <a:prstGeom prst="rect">
            <a:avLst/>
          </a:prstGeom>
          <a:solidFill>
            <a:srgbClr val="262626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Obrigado!</a:t>
            </a:r>
            <a:endParaRPr sz="3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30" name="Google Shape;330;p26"/>
          <p:cNvSpPr txBox="1"/>
          <p:nvPr/>
        </p:nvSpPr>
        <p:spPr>
          <a:xfrm>
            <a:off x="-12" y="5341199"/>
            <a:ext cx="9144000" cy="638181"/>
          </a:xfrm>
          <a:prstGeom prst="rect">
            <a:avLst/>
          </a:prstGeom>
          <a:solidFill>
            <a:srgbClr val="262626">
              <a:alpha val="6000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800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Maxwell Rodrigues da Silva</a:t>
            </a:r>
            <a:br>
              <a:rPr lang="pt-BR" sz="1600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600" b="1" u="sng" dirty="0">
                <a:solidFill>
                  <a:srgbClr val="00B0F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maxwell.silva@ufrgs.br</a:t>
            </a:r>
            <a:endParaRPr sz="1600" b="1" dirty="0">
              <a:solidFill>
                <a:srgbClr val="00B0F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br>
              <a:rPr lang="pt-BR" sz="1800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sz="1800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br>
              <a:rPr lang="pt-BR" sz="1800" i="0" u="none" strike="noStrike" cap="none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br>
              <a:rPr lang="pt-BR" sz="1800" i="0" u="none" strike="noStrike" cap="none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sz="1800" i="0" u="none" strike="noStrike" cap="none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i="0" u="none" strike="noStrike" cap="none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endParaRPr sz="2200" i="0" u="none" strike="noStrike" cap="none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31" name="Google Shape;331;p26"/>
          <p:cNvSpPr txBox="1"/>
          <p:nvPr/>
        </p:nvSpPr>
        <p:spPr>
          <a:xfrm>
            <a:off x="0" y="5979380"/>
            <a:ext cx="9144000" cy="431100"/>
          </a:xfrm>
          <a:prstGeom prst="rect">
            <a:avLst/>
          </a:prstGeom>
          <a:solidFill>
            <a:srgbClr val="262626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Dezembro de 2025</a:t>
            </a:r>
            <a:endParaRPr sz="1600" b="1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60B888B-9EBC-5A68-F894-B7561B2948CD}"/>
              </a:ext>
            </a:extLst>
          </p:cNvPr>
          <p:cNvSpPr txBox="1"/>
          <p:nvPr/>
        </p:nvSpPr>
        <p:spPr>
          <a:xfrm>
            <a:off x="6902681" y="6480351"/>
            <a:ext cx="2241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</a:rPr>
              <a:t>Foto: F-39 Gripen – FAB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8575" cap="flat" cmpd="sng" algn="ctr">
          <a:solidFill>
            <a:schemeClr val="dk1"/>
          </a:solidFill>
          <a:prstDash val="solid"/>
          <a:round/>
          <a:headEnd type="none" w="med" len="med"/>
          <a:tailEnd type="arrow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6ec7f58a-8404-4877-b736-bea143f77ded}" enabled="1" method="Standard" siteId="{84d9a216-e285-4aac-b163-0dfd0c07454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5135</Words>
  <Application>Microsoft Office PowerPoint</Application>
  <PresentationFormat>Apresentação na tela (4:3)</PresentationFormat>
  <Paragraphs>1611</Paragraphs>
  <Slides>49</Slides>
  <Notes>49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49</vt:i4>
      </vt:variant>
    </vt:vector>
  </HeadingPairs>
  <TitlesOfParts>
    <vt:vector size="54" baseType="lpstr">
      <vt:lpstr>Helvetica Neue</vt:lpstr>
      <vt:lpstr>Arial</vt:lpstr>
      <vt:lpstr>Aptos Narrow</vt:lpstr>
      <vt:lpstr>Calibri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Maxwell Rodrigues</dc:creator>
  <cp:lastModifiedBy>RODRIGUES DA SILVA, MAXWELL</cp:lastModifiedBy>
  <cp:revision>9</cp:revision>
  <dcterms:modified xsi:type="dcterms:W3CDTF">2025-12-01T23:15:08Z</dcterms:modified>
</cp:coreProperties>
</file>