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43"/>
  </p:notesMasterIdLst>
  <p:sldIdLst>
    <p:sldId id="256" r:id="rId2"/>
    <p:sldId id="257" r:id="rId3"/>
    <p:sldId id="258" r:id="rId4"/>
    <p:sldId id="271" r:id="rId5"/>
    <p:sldId id="270" r:id="rId6"/>
    <p:sldId id="261" r:id="rId7"/>
    <p:sldId id="308" r:id="rId8"/>
    <p:sldId id="274" r:id="rId9"/>
    <p:sldId id="272" r:id="rId10"/>
    <p:sldId id="275" r:id="rId11"/>
    <p:sldId id="273" r:id="rId12"/>
    <p:sldId id="282" r:id="rId13"/>
    <p:sldId id="277" r:id="rId14"/>
    <p:sldId id="309" r:id="rId15"/>
    <p:sldId id="279" r:id="rId16"/>
    <p:sldId id="280" r:id="rId17"/>
    <p:sldId id="281" r:id="rId18"/>
    <p:sldId id="283" r:id="rId19"/>
    <p:sldId id="284" r:id="rId20"/>
    <p:sldId id="310" r:id="rId21"/>
    <p:sldId id="285" r:id="rId22"/>
    <p:sldId id="289" r:id="rId23"/>
    <p:sldId id="291" r:id="rId24"/>
    <p:sldId id="293" r:id="rId25"/>
    <p:sldId id="292" r:id="rId26"/>
    <p:sldId id="297" r:id="rId27"/>
    <p:sldId id="264" r:id="rId28"/>
    <p:sldId id="295" r:id="rId29"/>
    <p:sldId id="265" r:id="rId30"/>
    <p:sldId id="294" r:id="rId31"/>
    <p:sldId id="296" r:id="rId32"/>
    <p:sldId id="298" r:id="rId33"/>
    <p:sldId id="301" r:id="rId34"/>
    <p:sldId id="299" r:id="rId35"/>
    <p:sldId id="300" r:id="rId36"/>
    <p:sldId id="302" r:id="rId37"/>
    <p:sldId id="267" r:id="rId38"/>
    <p:sldId id="268" r:id="rId39"/>
    <p:sldId id="306" r:id="rId40"/>
    <p:sldId id="307" r:id="rId41"/>
    <p:sldId id="269" r:id="rId42"/>
  </p:sldIdLst>
  <p:sldSz cx="9144000" cy="6858000" type="screen4x3"/>
  <p:notesSz cx="6858000" cy="9144000"/>
  <p:embeddedFontLst>
    <p:embeddedFont>
      <p:font typeface="Aptos Narrow" panose="020B0004020202020204" pitchFamily="34" charset="0"/>
      <p:regular r:id="rId44"/>
      <p:bold r:id="rId45"/>
      <p:italic r:id="rId46"/>
      <p:boldItalic r:id="rId47"/>
    </p:embeddedFont>
    <p:embeddedFont>
      <p:font typeface="Helvetica Neue" panose="020B0604020202020204" charset="0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  <a:srgbClr val="292929"/>
    <a:srgbClr val="35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Estilo Mé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45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960" y="96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font" Target="fonts/font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6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5.226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20 8 24575,'25'-3'0,"25"-1"0,-49 3 0,1 1 0,-1 0 0,0 0 0,0 0 0,1 1 0,-1-1 0,0 0 0,0 0 0,0 1 0,0-1 0,1 1 0,-1-1 0,0 1 0,0-1 0,0 1 0,0-1 0,0 1 0,0 0 0,0 0 0,0 0 0,-1 0 0,1-1 0,0 1 0,0 0 0,-1 0 0,1 0 0,0 1 0,-1-1 0,1 0 0,0 2 0,-1-3 0,0 1 0,0 0 0,0-1 0,-1 1 0,1 0 0,0 0 0,0-1 0,0 1 0,-1 0 0,1-1 0,0 1 0,-1 0 0,1-1 0,0 1 0,-1-1 0,1 1 0,-1 0 0,1-1 0,-1 1 0,1-1 0,-1 0 0,1 1 0,-1-1 0,0 1 0,1-1 0,-1 0 0,0 1 0,1-1 0,-1 0 0,0 0 0,1 0 0,-1 1 0,0-1 0,0 0 0,1 0 0,-1 0 0,0 0 0,1 0 0,-1 0 0,0 0 0,0-1 0,1 1 0,-1 0 0,0 0 0,1 0 0,-2-1 0,-40-9 0,37 9 0,-42-3-1365,41 4-5461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20:13:47.752"/>
    </inkml:context>
    <inkml:brush xml:id="br0">
      <inkml:brushProperty name="width" value="0.025" units="cm"/>
      <inkml:brushProperty name="height" value="0.025" units="cm"/>
      <inkml:brushProperty name="color" value="#357DE8"/>
    </inkml:brush>
  </inkml:definitions>
  <inkml:trace contextRef="#ctx0" brushRef="#br0">0 26 24575,'3'-2'0,"1"0"0,1-1 0,2-1 0,-1 1 0,1 0 0,0 1 0,0 1 0,0 0 0,0 0 0,0-1 0,0 1 0,-2 0-8191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3f3499cbe4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13f3499cbe4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13f3499cbe4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5c6bb4ace9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5c6bb4ace9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15c6bb4ace9_0_1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3f4f86f171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3f4f86f171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g13f4f86f171_0_3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BD61264-A81D-BE8B-FB62-5D95FFA4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B1F0307F-604A-281C-8203-9F571F9E4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9F18C239-128B-4BDB-17A5-CB33B75A62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FD714619-6106-CEF5-C2AD-8788BD9145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451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52499E11-8DA7-BBA4-AD19-0BC00FE8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>
            <a:extLst>
              <a:ext uri="{FF2B5EF4-FFF2-40B4-BE49-F238E27FC236}">
                <a16:creationId xmlns:a16="http://schemas.microsoft.com/office/drawing/2014/main" id="{4C3DE513-7775-BC9D-ABD9-A8FA2C526A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>
            <a:extLst>
              <a:ext uri="{FF2B5EF4-FFF2-40B4-BE49-F238E27FC236}">
                <a16:creationId xmlns:a16="http://schemas.microsoft.com/office/drawing/2014/main" id="{8D27FBC6-8538-78BF-3A1E-EFFA78471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>
            <a:extLst>
              <a:ext uri="{FF2B5EF4-FFF2-40B4-BE49-F238E27FC236}">
                <a16:creationId xmlns:a16="http://schemas.microsoft.com/office/drawing/2014/main" id="{C961FAA7-F40B-E496-E9DE-0D0833121F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54248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224C1B0E-6016-D79B-4664-A424B3AAD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5c6bb4b051_5_376:notes">
            <a:extLst>
              <a:ext uri="{FF2B5EF4-FFF2-40B4-BE49-F238E27FC236}">
                <a16:creationId xmlns:a16="http://schemas.microsoft.com/office/drawing/2014/main" id="{CC080B30-7105-F9DE-B6E3-B58B65DB93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15c6bb4b051_5_376:notes">
            <a:extLst>
              <a:ext uri="{FF2B5EF4-FFF2-40B4-BE49-F238E27FC236}">
                <a16:creationId xmlns:a16="http://schemas.microsoft.com/office/drawing/2014/main" id="{F49468A2-CA5C-AC4C-4A05-A5F297D1AB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15c6bb4b051_5_376:notes">
            <a:extLst>
              <a:ext uri="{FF2B5EF4-FFF2-40B4-BE49-F238E27FC236}">
                <a16:creationId xmlns:a16="http://schemas.microsoft.com/office/drawing/2014/main" id="{2AB9CC86-449C-9B83-AC6C-3E9AF73CD6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8201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>
          <a:extLst>
            <a:ext uri="{FF2B5EF4-FFF2-40B4-BE49-F238E27FC236}">
              <a16:creationId xmlns:a16="http://schemas.microsoft.com/office/drawing/2014/main" id="{DF61ED7C-0237-A27A-663E-DC0720D21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5c6bb4ace9_0_0:notes">
            <a:extLst>
              <a:ext uri="{FF2B5EF4-FFF2-40B4-BE49-F238E27FC236}">
                <a16:creationId xmlns:a16="http://schemas.microsoft.com/office/drawing/2014/main" id="{44F209B2-BBA7-607D-6FBD-CDF9CF698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5c6bb4ace9_0_0:notes">
            <a:extLst>
              <a:ext uri="{FF2B5EF4-FFF2-40B4-BE49-F238E27FC236}">
                <a16:creationId xmlns:a16="http://schemas.microsoft.com/office/drawing/2014/main" id="{E4740051-B852-C721-8240-BFFFF3F89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4" name="Google Shape;214;g15c6bb4ace9_0_0:notes">
            <a:extLst>
              <a:ext uri="{FF2B5EF4-FFF2-40B4-BE49-F238E27FC236}">
                <a16:creationId xmlns:a16="http://schemas.microsoft.com/office/drawing/2014/main" id="{8E05E082-BC44-95E1-5CFF-78BC0DBE55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3481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25305A00-5231-E5CE-C4A0-C1E7B226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0378557D-F940-DEDB-E1AD-AAF26E9D0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3764C4D-555C-70CE-36CB-AE4F44BBD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B694E2A-5551-14F9-3102-C0F8B80ADA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020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938BD292-184B-34D1-0F6C-B406931A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45E30FC5-FDA5-07ED-28FF-755040CD7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6073CCD6-B376-7687-8DD8-C581FD287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75E95D7-0A62-1E69-65A7-762FB48EC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462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E4FC97F1-0A0B-4E9D-5328-34E7B8AFD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7746699-420B-4384-2542-60A80CE405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11FFDF4-9C12-D6E7-48EA-4FEE9E1452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2DB079C6-928C-F56B-EC0F-7AE1C22CC5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68137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7870213-FD2D-22BE-B46A-AA086194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174DE42-0774-4C73-A50A-9852C30623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66DD74F-CFC1-B91B-DBD3-C9A949508D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265B531A-4F88-1AE3-4138-0098E2C02E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6132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8A8681BD-35A2-4645-AC2E-832C34865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FD16E3FE-B1BC-9AB9-C268-8261B63F23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A5310CE3-F9C8-39AD-4E95-0FEE138019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B9AFDCD1-DB0A-5EE6-7D27-DAE29540A0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490435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F65E09F7-9C03-4FAE-2A51-FC3C9120F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64753568-87B6-7FAC-776F-33DDE1C40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9F6EA5F6-07AC-74BE-2DC2-5EBAA7D205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E3A046BD-8356-D91B-8D2E-7358934818B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3374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4064BABC-9566-31F2-D584-D06FC9B3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80642355-CB4C-0E41-6FB6-B5E874929A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2B4E7229-35C2-3209-27CE-C4F8A7738D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73126341-AE51-DD91-14A1-8F5FD31DD6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52663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DF0C3866-3FC1-F334-8A01-F5FCE5199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6C1C7B53-1D40-D58D-290F-0A295932A1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61302B8-E124-7918-72D8-F00A76812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CE8EE470-425F-3561-734A-948BBF8BE0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005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B1B7A0D0-DD83-48E9-B122-E8B05EE5D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5594A0A7-B4E5-B763-4D92-27B846FB08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1C486686-8800-035F-D7DA-5B68C8656B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D814F8D-F492-1CAA-8721-49FFC3B321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2767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A4FA8CEC-4395-E15C-5FD1-F469B779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CA4B18B9-7597-3EE0-E99E-AB7A03FB0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F914CDC5-C37A-945C-5748-B2AB67A5DC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59D1614-C31F-262B-DDAA-3F44F634F50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19561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61F778D-E488-7080-D6CC-0E63008FB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6C7B7D4-3251-BC27-18B4-CAD3DB49CF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E19B4BC4-0ACF-DC98-840F-9F5E7CA17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A2BF840F-11BB-3465-8829-81871B993E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51445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B5381091-37CF-0157-E60A-3110C6DA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77BFC25A-6297-B52E-E671-BDBCBE584E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D94142EA-94CF-B7AF-7E3A-27BBFCCFBE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F8CD7231-CF76-FB64-9EFB-5551CE62F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67863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35A8A1CD-BA6B-F91A-C434-94043C15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FCBDDFE4-65C2-1EED-3A77-C3A69DCE9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37E9B4CF-CFDE-1382-40B4-AF3DECB87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0907AA7F-2088-C583-871C-FE758154BE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25849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9C0ED85-502F-5069-2623-E65FF6790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5ED88BA5-1B11-C80D-C066-184DFC5BC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9D8D4FFC-F3BF-1A3E-904A-1051D40F13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1F13B49B-3E9D-9B31-C5BF-FB2325C93F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429596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38A61749-ACB8-31F1-03B9-84D5F07B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5A4E9A6-FDEC-C4FD-34F0-37CB98B01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39B69AF2-0D8A-E0C0-8244-AC3B80129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57FBE5AB-A0D3-B148-3799-38C482E83B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74725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CEDC215F-7B2D-9E6A-0521-FD6BF46A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2B5B4FDD-545B-46F7-8065-8315DD03D4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A0C0B59A-39AF-E919-08CB-9E0119B1B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B38B8C54-8F4A-B38D-18DB-2A699F56B0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25276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D298B6F3-6672-4637-DBD9-F88F6BCFD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3f3499cbe4_0_0:notes">
            <a:extLst>
              <a:ext uri="{FF2B5EF4-FFF2-40B4-BE49-F238E27FC236}">
                <a16:creationId xmlns:a16="http://schemas.microsoft.com/office/drawing/2014/main" id="{73261160-4532-87DF-DF3B-8AF54BE29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3f3499cbe4_0_0:notes">
            <a:extLst>
              <a:ext uri="{FF2B5EF4-FFF2-40B4-BE49-F238E27FC236}">
                <a16:creationId xmlns:a16="http://schemas.microsoft.com/office/drawing/2014/main" id="{7C880DF7-E8C3-9A65-B995-1A3A7B4CA1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13f3499cbe4_0_0:notes">
            <a:extLst>
              <a:ext uri="{FF2B5EF4-FFF2-40B4-BE49-F238E27FC236}">
                <a16:creationId xmlns:a16="http://schemas.microsoft.com/office/drawing/2014/main" id="{9A82D07B-A121-3152-A902-F45171F13A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87148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B58BB80F-9DF7-5937-C95A-C668F6D25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5E061A61-281F-81FF-3AFD-C216AF815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7F59708F-CE76-D6FF-59DA-3EB92FB9D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7302DF97-98A5-7445-ACB8-91306D1EBF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143848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1df028f5a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1df028f5a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1df028f5a1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3D0223B7-2654-3F76-43BA-E523B955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18E2CA3F-553B-0995-5185-A341AD8A42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C7CDAACB-B865-47C5-7656-C58C0F40D2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C8551C77-7DD9-EA97-24A1-B105F82505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232537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2BBB3565-8E8A-29BE-054D-A267DE83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87771836-477B-B913-771A-0FC9FD44C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CD060337-21CD-051A-A70E-92F2575CD7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36965519-72F3-5496-C4A3-21E8FA5CD6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5415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57C89-067B-1BD3-4537-E2BF8923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1df028f5a16_0_0:notes">
            <a:extLst>
              <a:ext uri="{FF2B5EF4-FFF2-40B4-BE49-F238E27FC236}">
                <a16:creationId xmlns:a16="http://schemas.microsoft.com/office/drawing/2014/main" id="{1700029A-656C-8E57-D780-67120DEF54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1df028f5a16_0_0:notes">
            <a:extLst>
              <a:ext uri="{FF2B5EF4-FFF2-40B4-BE49-F238E27FC236}">
                <a16:creationId xmlns:a16="http://schemas.microsoft.com/office/drawing/2014/main" id="{405E5811-6682-8A93-8228-1A59D68169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1df028f5a16_0_0:notes">
            <a:extLst>
              <a:ext uri="{FF2B5EF4-FFF2-40B4-BE49-F238E27FC236}">
                <a16:creationId xmlns:a16="http://schemas.microsoft.com/office/drawing/2014/main" id="{F8C113E1-C6EE-034F-B194-E04558360B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51266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151046F1-AF43-E7C7-FF0F-D4031B7DC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831ACBDF-155C-0F3A-7037-70D1D5068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524E6468-FD94-1EC3-5306-A8DFAC198C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D390506C-FE34-DD00-A281-538D6F0E2A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55049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6C212676-85A9-C65C-78A0-0C70E0B2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D1C5D590-8261-CD94-2467-4E6E543A4E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4433897B-67B4-CE87-A790-2F493D609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E0BE6356-1D55-6622-0A23-46AC23FEC5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91990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54C5DD5D-FD64-23B2-79D7-C68A4D9EA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51872935-3F5D-FD2F-97BF-3B6DD6194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D7762211-A5A7-62EE-6B8A-7725BF4450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557E146C-72FA-37B6-CF8D-3E82DB24CC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29242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B4F51A9B-ACFD-F407-3396-F5C65B47B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E21DF239-E279-F67A-CF2D-73583FFD85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A5AF8564-D608-2587-2664-E82A3A481F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98716FA3-6AC4-581F-DB34-E28765BE42B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048244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>
          <a:extLst>
            <a:ext uri="{FF2B5EF4-FFF2-40B4-BE49-F238E27FC236}">
              <a16:creationId xmlns:a16="http://schemas.microsoft.com/office/drawing/2014/main" id="{30059AFE-A24C-D9EA-F98D-5C367B0F9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df028f5a16_0_14:notes">
            <a:extLst>
              <a:ext uri="{FF2B5EF4-FFF2-40B4-BE49-F238E27FC236}">
                <a16:creationId xmlns:a16="http://schemas.microsoft.com/office/drawing/2014/main" id="{B86D5111-5A6C-371F-A780-B40AD19690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df028f5a16_0_14:notes">
            <a:extLst>
              <a:ext uri="{FF2B5EF4-FFF2-40B4-BE49-F238E27FC236}">
                <a16:creationId xmlns:a16="http://schemas.microsoft.com/office/drawing/2014/main" id="{4F2AC15B-200C-367A-0738-91EE1BBEE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1df028f5a16_0_14:notes">
            <a:extLst>
              <a:ext uri="{FF2B5EF4-FFF2-40B4-BE49-F238E27FC236}">
                <a16:creationId xmlns:a16="http://schemas.microsoft.com/office/drawing/2014/main" id="{3308D17F-6EE8-8DA9-4090-CCD2CE6D04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27800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3f4f86f171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3f4f86f171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13f4f86f171_0_3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35430C85-C9F3-95F4-8BC7-B136C9232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740302B5-FC67-6A80-7269-97EDA005D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E7011031-ADDA-156B-C9F7-519B51C60C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55C0DF8B-0B81-9003-A5F7-D45D3B013A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686062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>
          <a:extLst>
            <a:ext uri="{FF2B5EF4-FFF2-40B4-BE49-F238E27FC236}">
              <a16:creationId xmlns:a16="http://schemas.microsoft.com/office/drawing/2014/main" id="{65B5336F-4AA5-41F0-9417-169EBA19A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5c6bb4b051_5_173:notes">
            <a:extLst>
              <a:ext uri="{FF2B5EF4-FFF2-40B4-BE49-F238E27FC236}">
                <a16:creationId xmlns:a16="http://schemas.microsoft.com/office/drawing/2014/main" id="{50751F4D-D445-0C52-5BF4-C35CCB681F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5c6bb4b051_5_173:notes">
            <a:extLst>
              <a:ext uri="{FF2B5EF4-FFF2-40B4-BE49-F238E27FC236}">
                <a16:creationId xmlns:a16="http://schemas.microsoft.com/office/drawing/2014/main" id="{05342C2A-8B8C-F0DD-C1A2-C6953DF18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15c6bb4b051_5_173:notes">
            <a:extLst>
              <a:ext uri="{FF2B5EF4-FFF2-40B4-BE49-F238E27FC236}">
                <a16:creationId xmlns:a16="http://schemas.microsoft.com/office/drawing/2014/main" id="{8FF37FAB-6759-5355-FE1A-76512D7508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15519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5c6bb4ace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5c6bb4ace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3" name="Google Shape;323;g15c6bb4ace9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4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4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308949" y="-251550"/>
            <a:ext cx="45261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4732349" y="2171688"/>
            <a:ext cx="58515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541350" y="190488"/>
            <a:ext cx="58515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5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.xml"/><Relationship Id="rId5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7.xml"/><Relationship Id="rId5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9.xml"/><Relationship Id="rId5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6.jpe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jpe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/>
        </p:nvSpPr>
        <p:spPr>
          <a:xfrm>
            <a:off x="29840" y="4293096"/>
            <a:ext cx="9144000" cy="21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Aluno:</a:t>
            </a: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Maxwell Rodrigues da Silva</a:t>
            </a:r>
            <a:b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Orientador:</a:t>
            </a: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Prof. Dr. Marcelo </a:t>
            </a:r>
            <a:r>
              <a:rPr lang="pt-BR" sz="1600" dirty="0" err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Götz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pt-BR" sz="18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Banca Examinadora:</a:t>
            </a:r>
            <a:endParaRPr sz="1600" b="1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Marcelo </a:t>
            </a:r>
            <a:r>
              <a:rPr lang="pt-BR" sz="1600" dirty="0" err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Götz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Rafael Laranja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6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Aurélio Salton</a:t>
            </a:r>
            <a:endParaRPr sz="16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pt-BR" sz="180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br>
              <a:rPr lang="pt-BR" sz="1800" i="0" u="none" strike="noStrike" cap="none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i="0" u="none" strike="noStrike" cap="none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89511" y="1601623"/>
            <a:ext cx="8164978" cy="2154300"/>
          </a:xfrm>
          <a:prstGeom prst="roundRect">
            <a:avLst>
              <a:gd name="adj" fmla="val 16667"/>
            </a:avLst>
          </a:prstGeom>
          <a:solidFill>
            <a:srgbClr val="17365D"/>
          </a:solidFill>
          <a:ln>
            <a:noFill/>
          </a:ln>
          <a:effectLst>
            <a:outerShdw blurRad="177800" dist="1524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-25"/>
            <a:ext cx="9144000" cy="9963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89511" y="1828737"/>
            <a:ext cx="8164978" cy="1781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pt-BR" sz="3800" b="1" dirty="0">
                <a:solidFill>
                  <a:srgbClr val="F2F2F2"/>
                </a:solidFill>
                <a:latin typeface="Helvetica Neue"/>
              </a:rPr>
              <a:t>APLICAÇÃO E AVALIAÇÃO DE MACHINE LEARNING EM DISPOSITIVOS EMBARCADOS</a:t>
            </a:r>
            <a:endParaRPr lang="pt-BR" sz="3800" b="1" dirty="0">
              <a:solidFill>
                <a:srgbClr val="F2F2F2"/>
              </a:solidFill>
              <a:latin typeface="Helvetica Neue"/>
              <a:sym typeface="Helvetica Neue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0" y="0"/>
            <a:ext cx="91440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4" name="Google Shape;9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/>
        </p:nvSpPr>
        <p:spPr>
          <a:xfrm>
            <a:off x="3259393" y="5753962"/>
            <a:ext cx="2625213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Dezembro de 2025</a:t>
            </a:r>
            <a:endParaRPr sz="1600" b="1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0" y="6510475"/>
            <a:ext cx="9144000" cy="3474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8;p14">
            <a:extLst>
              <a:ext uri="{FF2B5EF4-FFF2-40B4-BE49-F238E27FC236}">
                <a16:creationId xmlns:a16="http://schemas.microsoft.com/office/drawing/2014/main" id="{D76678DF-A369-7165-53A3-645E9AE03EF0}"/>
              </a:ext>
            </a:extLst>
          </p:cNvPr>
          <p:cNvSpPr txBox="1"/>
          <p:nvPr/>
        </p:nvSpPr>
        <p:spPr>
          <a:xfrm>
            <a:off x="1526699" y="94273"/>
            <a:ext cx="6090600" cy="72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UNIVERSIDADE FEDERAL DO RIO GRANDE DO SUL</a:t>
            </a: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ESCOLA DE ENGENHARIA</a:t>
            </a:r>
          </a:p>
          <a:p>
            <a:pPr algn="ctr"/>
            <a:r>
              <a:rPr lang="pt-BR" b="1" dirty="0">
                <a:solidFill>
                  <a:schemeClr val="bg1"/>
                </a:solidFill>
              </a:rPr>
              <a:t>ENGENHARIA DE CONTROLE E AUTOMAÇÃO</a:t>
            </a:r>
            <a:endParaRPr sz="3000" b="1" i="1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2701662" y="3025357"/>
            <a:ext cx="4470412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2701659" y="4248417"/>
            <a:ext cx="4470413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2701661" y="2457457"/>
            <a:ext cx="4470415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109" name="Google Shape;109;p14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1" name="Google Shape;11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2559750" y="6560975"/>
            <a:ext cx="56496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116" name="Google Shape;116;p14"/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Sumário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2701662" y="2455622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3071562" y="2425772"/>
            <a:ext cx="3993835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just">
              <a:buNone/>
              <a:defRPr sz="18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</a:defRPr>
            </a:lvl1pPr>
          </a:lstStyle>
          <a:p>
            <a:r>
              <a:rPr lang="pt-BR" dirty="0"/>
              <a:t>Introdução</a:t>
            </a:r>
            <a:endParaRPr lang="pt-BR" dirty="0">
              <a:sym typeface="Helvetica Neue"/>
            </a:endParaRPr>
          </a:p>
          <a:p>
            <a:endParaRPr dirty="0">
              <a:sym typeface="Helvetica Neue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2701662" y="3027372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3071562" y="2997522"/>
            <a:ext cx="399383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just">
              <a:buNone/>
              <a:defRPr sz="18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</a:defRPr>
            </a:lvl1pPr>
          </a:lstStyle>
          <a:p>
            <a:r>
              <a:rPr lang="pt-BR" dirty="0"/>
              <a:t>Objetivos Gerais e Específicos</a:t>
            </a:r>
            <a:endParaRPr dirty="0">
              <a:sym typeface="Helvetica Neue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2701660" y="4241693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</a:t>
            </a:r>
            <a:endParaRPr sz="16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4" name="Google Shape;124;p14"/>
          <p:cNvSpPr txBox="1"/>
          <p:nvPr/>
        </p:nvSpPr>
        <p:spPr>
          <a:xfrm>
            <a:off x="3071560" y="4211843"/>
            <a:ext cx="223513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/>
            <a:r>
              <a:rPr lang="pt-BR" sz="1800" b="1" dirty="0">
                <a:solidFill>
                  <a:srgbClr val="F2F2F2"/>
                </a:solidFill>
                <a:latin typeface="Helvetica Neue"/>
              </a:rPr>
              <a:t>Metodologia</a:t>
            </a:r>
            <a:r>
              <a:rPr lang="pt-BR" sz="1800" dirty="0"/>
              <a:t> </a:t>
            </a:r>
            <a:endParaRPr sz="18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81093208-8156-A73E-579E-BE5E5A73AA75}"/>
              </a:ext>
            </a:extLst>
          </p:cNvPr>
          <p:cNvSpPr/>
          <p:nvPr/>
        </p:nvSpPr>
        <p:spPr>
          <a:xfrm>
            <a:off x="2701659" y="4848757"/>
            <a:ext cx="4470410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5" name="Google Shape;129;p14">
            <a:extLst>
              <a:ext uri="{FF2B5EF4-FFF2-40B4-BE49-F238E27FC236}">
                <a16:creationId xmlns:a16="http://schemas.microsoft.com/office/drawing/2014/main" id="{AA2389B9-92A1-5735-0C4E-5969D6F141B1}"/>
              </a:ext>
            </a:extLst>
          </p:cNvPr>
          <p:cNvSpPr/>
          <p:nvPr/>
        </p:nvSpPr>
        <p:spPr>
          <a:xfrm>
            <a:off x="2701659" y="4846352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5</a:t>
            </a:r>
            <a:endParaRPr sz="16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30;p14">
            <a:extLst>
              <a:ext uri="{FF2B5EF4-FFF2-40B4-BE49-F238E27FC236}">
                <a16:creationId xmlns:a16="http://schemas.microsoft.com/office/drawing/2014/main" id="{2042CBC7-CA8E-8E1A-14BA-E06E96867641}"/>
              </a:ext>
            </a:extLst>
          </p:cNvPr>
          <p:cNvSpPr txBox="1"/>
          <p:nvPr/>
        </p:nvSpPr>
        <p:spPr>
          <a:xfrm>
            <a:off x="3096759" y="4821520"/>
            <a:ext cx="278377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just">
              <a:defRPr sz="1800" b="1">
                <a:solidFill>
                  <a:srgbClr val="F2F2F2"/>
                </a:solidFill>
                <a:latin typeface="Helvetica Neue"/>
              </a:defRPr>
            </a:lvl1pPr>
          </a:lstStyle>
          <a:p>
            <a:r>
              <a:rPr lang="pt-BR" dirty="0"/>
              <a:t>Resultados e Conclusões</a:t>
            </a:r>
            <a:endParaRPr dirty="0">
              <a:sym typeface="Helvetica Neue"/>
            </a:endParaRPr>
          </a:p>
        </p:txBody>
      </p:sp>
      <p:sp>
        <p:nvSpPr>
          <p:cNvPr id="2" name="Google Shape;104;p14">
            <a:extLst>
              <a:ext uri="{FF2B5EF4-FFF2-40B4-BE49-F238E27FC236}">
                <a16:creationId xmlns:a16="http://schemas.microsoft.com/office/drawing/2014/main" id="{71C4F2D5-0605-539A-C696-08AF71648912}"/>
              </a:ext>
            </a:extLst>
          </p:cNvPr>
          <p:cNvSpPr/>
          <p:nvPr/>
        </p:nvSpPr>
        <p:spPr>
          <a:xfrm>
            <a:off x="2701659" y="3629726"/>
            <a:ext cx="4470413" cy="402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67091"/>
              </a:solidFill>
            </a:endParaRPr>
          </a:p>
        </p:txBody>
      </p:sp>
      <p:sp>
        <p:nvSpPr>
          <p:cNvPr id="3" name="Google Shape;123;p14">
            <a:extLst>
              <a:ext uri="{FF2B5EF4-FFF2-40B4-BE49-F238E27FC236}">
                <a16:creationId xmlns:a16="http://schemas.microsoft.com/office/drawing/2014/main" id="{5ABAE2DF-240D-C45F-8B3A-765556D466F7}"/>
              </a:ext>
            </a:extLst>
          </p:cNvPr>
          <p:cNvSpPr/>
          <p:nvPr/>
        </p:nvSpPr>
        <p:spPr>
          <a:xfrm>
            <a:off x="2701660" y="3623002"/>
            <a:ext cx="395100" cy="402000"/>
          </a:xfrm>
          <a:prstGeom prst="rect">
            <a:avLst/>
          </a:prstGeom>
          <a:solidFill>
            <a:srgbClr val="20365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</a:t>
            </a:r>
            <a:endParaRPr sz="16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Google Shape;124;p14">
            <a:extLst>
              <a:ext uri="{FF2B5EF4-FFF2-40B4-BE49-F238E27FC236}">
                <a16:creationId xmlns:a16="http://schemas.microsoft.com/office/drawing/2014/main" id="{C30DA347-923D-BFC7-38D1-B7F3FE60B89D}"/>
              </a:ext>
            </a:extLst>
          </p:cNvPr>
          <p:cNvSpPr txBox="1"/>
          <p:nvPr/>
        </p:nvSpPr>
        <p:spPr>
          <a:xfrm>
            <a:off x="3071560" y="3593152"/>
            <a:ext cx="2235139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just"/>
            <a:r>
              <a:rPr lang="pt-BR" sz="1800" b="1" dirty="0">
                <a:solidFill>
                  <a:srgbClr val="F2F2F2"/>
                </a:solidFill>
                <a:latin typeface="Helvetica Neue"/>
              </a:rPr>
              <a:t>Hipótese</a:t>
            </a:r>
            <a:r>
              <a:rPr lang="pt-BR" sz="1800" dirty="0"/>
              <a:t> </a:t>
            </a:r>
            <a:endParaRPr sz="18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5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13;p14">
            <a:extLst>
              <a:ext uri="{FF2B5EF4-FFF2-40B4-BE49-F238E27FC236}">
                <a16:creationId xmlns:a16="http://schemas.microsoft.com/office/drawing/2014/main" id="{04D058AF-0E42-F66D-2B69-CD47A7844494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5;p14">
            <a:extLst>
              <a:ext uri="{FF2B5EF4-FFF2-40B4-BE49-F238E27FC236}">
                <a16:creationId xmlns:a16="http://schemas.microsoft.com/office/drawing/2014/main" id="{158054E6-5242-D70D-DB3D-0179E021C596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7" name="Google Shape;116;p14">
            <a:extLst>
              <a:ext uri="{FF2B5EF4-FFF2-40B4-BE49-F238E27FC236}">
                <a16:creationId xmlns:a16="http://schemas.microsoft.com/office/drawing/2014/main" id="{B0337202-95B4-019B-7E6D-782C192C6F4B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A2C0028-C9A5-9E16-92AA-4E11E0BE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F361F5B7-4525-FDBE-1C16-3C05DF6D73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6239" y="1909590"/>
            <a:ext cx="5518884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pt-BR" sz="1800" dirty="0"/>
              <a:t>Muitos dispositivos IoT dependem de processamento na nuvem, o que </a:t>
            </a:r>
            <a:r>
              <a:rPr lang="pt-BR" sz="1800" b="1" dirty="0"/>
              <a:t>gera latência significativa</a:t>
            </a:r>
            <a:r>
              <a:rPr lang="pt-BR" sz="1800" dirty="0"/>
              <a:t> e limita aplicações que exigem </a:t>
            </a:r>
            <a:r>
              <a:rPr lang="pt-BR" sz="1800" b="1" dirty="0"/>
              <a:t>resposta em tempo real</a:t>
            </a:r>
            <a:r>
              <a:rPr lang="pt-BR" sz="1800" dirty="0"/>
              <a:t>.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38933019-4594-5F99-CFE3-0C30913DB98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BF2B0CD-C642-52B3-9442-7D8962F71A3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FFA0C71D-2B36-3C47-7A5A-5F51EDFEFD3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2622983D-F703-3691-7F07-13AB2E18144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4CE4F70-D2A0-4CD0-5387-9A53F4C24F7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Introdução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0380472-72A2-A814-1730-A2B516A1C530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Problema</a:t>
            </a:r>
            <a:endParaRPr lang="pt-BR" sz="2800" b="1" dirty="0"/>
          </a:p>
        </p:txBody>
      </p:sp>
      <p:pic>
        <p:nvPicPr>
          <p:cNvPr id="4" name="Imagem 3" descr="Circuito eletrônico azul">
            <a:extLst>
              <a:ext uri="{FF2B5EF4-FFF2-40B4-BE49-F238E27FC236}">
                <a16:creationId xmlns:a16="http://schemas.microsoft.com/office/drawing/2014/main" id="{90C4A633-8D42-34AD-B418-0FC31DB625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975" r="23296" b="3015"/>
          <a:stretch>
            <a:fillRect/>
          </a:stretch>
        </p:blipFill>
        <p:spPr>
          <a:xfrm>
            <a:off x="1683357" y="3956979"/>
            <a:ext cx="1098610" cy="194686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3F88745-6E7B-D579-4348-59611173C9FF}"/>
              </a:ext>
            </a:extLst>
          </p:cNvPr>
          <p:cNvSpPr txBox="1"/>
          <p:nvPr/>
        </p:nvSpPr>
        <p:spPr>
          <a:xfrm>
            <a:off x="1493784" y="5970799"/>
            <a:ext cx="7350089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1: ESP-32</a:t>
            </a:r>
          </a:p>
          <a:p>
            <a:r>
              <a:rPr lang="pt-BR" sz="900" dirty="0"/>
              <a:t>Fonte: https://br.mouser.com/ProductDetail/Espressif-Systems/ESP32-DevKitC-S1?qs=%252BEew9%252B0nqrCxC7WFWvXX3A%3D%3D</a:t>
            </a:r>
          </a:p>
        </p:txBody>
      </p:sp>
      <p:pic>
        <p:nvPicPr>
          <p:cNvPr id="10" name="Imagem 9" descr="Diagrama">
            <a:extLst>
              <a:ext uri="{FF2B5EF4-FFF2-40B4-BE49-F238E27FC236}">
                <a16:creationId xmlns:a16="http://schemas.microsoft.com/office/drawing/2014/main" id="{32D46B92-004C-DDA3-C761-74BE3A204C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496" t="4456" r="7896" b="4606"/>
          <a:stretch>
            <a:fillRect/>
          </a:stretch>
        </p:blipFill>
        <p:spPr>
          <a:xfrm>
            <a:off x="7298635" y="1838632"/>
            <a:ext cx="1650493" cy="1773988"/>
          </a:xfrm>
          <a:prstGeom prst="rect">
            <a:avLst/>
          </a:prstGeom>
        </p:spPr>
      </p:pic>
      <p:sp>
        <p:nvSpPr>
          <p:cNvPr id="12" name="Rectangle 4">
            <a:extLst>
              <a:ext uri="{FF2B5EF4-FFF2-40B4-BE49-F238E27FC236}">
                <a16:creationId xmlns:a16="http://schemas.microsoft.com/office/drawing/2014/main" id="{4815273C-D2F5-1224-26A8-CEF4DA7DD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7816" y="4206230"/>
            <a:ext cx="5518884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</a:pPr>
            <a:r>
              <a:rPr lang="pt-BR" sz="1800" dirty="0"/>
              <a:t>Muitos dispositivos têm </a:t>
            </a:r>
            <a:r>
              <a:rPr lang="pt-BR" sz="1800" b="1" dirty="0"/>
              <a:t>recursos computacionais reduzidos</a:t>
            </a:r>
            <a:r>
              <a:rPr lang="pt-BR" sz="1800" dirty="0"/>
              <a:t>, dificultando o uso de modelos tradicionais de IA.</a:t>
            </a:r>
            <a:endParaRPr lang="pt-BR" sz="1800" dirty="0">
              <a:effectLst/>
            </a:endParaRP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431A2124-19D2-21AC-51D1-DA419056587C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15;p14">
            <a:extLst>
              <a:ext uri="{FF2B5EF4-FFF2-40B4-BE49-F238E27FC236}">
                <a16:creationId xmlns:a16="http://schemas.microsoft.com/office/drawing/2014/main" id="{D30951F7-2431-A081-3D90-29DD01DE35F0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9" name="Google Shape;116;p14">
            <a:extLst>
              <a:ext uri="{FF2B5EF4-FFF2-40B4-BE49-F238E27FC236}">
                <a16:creationId xmlns:a16="http://schemas.microsoft.com/office/drawing/2014/main" id="{EF40F0C8-33CC-8838-A0EC-3509B9D7A20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41207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072DAA5A-934B-3E24-9F89-2FD57B41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>
            <a:extLst>
              <a:ext uri="{FF2B5EF4-FFF2-40B4-BE49-F238E27FC236}">
                <a16:creationId xmlns:a16="http://schemas.microsoft.com/office/drawing/2014/main" id="{2E5C838F-9172-E201-E080-99F5DC506D7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>
            <a:extLst>
              <a:ext uri="{FF2B5EF4-FFF2-40B4-BE49-F238E27FC236}">
                <a16:creationId xmlns:a16="http://schemas.microsoft.com/office/drawing/2014/main" id="{31A887BF-1DA4-8578-C4A5-2E4D734F16C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>
            <a:extLst>
              <a:ext uri="{FF2B5EF4-FFF2-40B4-BE49-F238E27FC236}">
                <a16:creationId xmlns:a16="http://schemas.microsoft.com/office/drawing/2014/main" id="{F189420F-4A46-46A4-51D9-CFCE64A9F8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>
            <a:extLst>
              <a:ext uri="{FF2B5EF4-FFF2-40B4-BE49-F238E27FC236}">
                <a16:creationId xmlns:a16="http://schemas.microsoft.com/office/drawing/2014/main" id="{5C659FF4-C68B-27C2-D52B-0BC2015E88D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>
            <a:extLst>
              <a:ext uri="{FF2B5EF4-FFF2-40B4-BE49-F238E27FC236}">
                <a16:creationId xmlns:a16="http://schemas.microsoft.com/office/drawing/2014/main" id="{483D000A-1374-5656-4397-4C7BFB0ADF3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8" name="Google Shape;198;p18">
            <a:extLst>
              <a:ext uri="{FF2B5EF4-FFF2-40B4-BE49-F238E27FC236}">
                <a16:creationId xmlns:a16="http://schemas.microsoft.com/office/drawing/2014/main" id="{3126E194-601D-62D2-CFD4-B14B295E317D}"/>
              </a:ext>
            </a:extLst>
          </p:cNvPr>
          <p:cNvGrpSpPr/>
          <p:nvPr/>
        </p:nvGrpSpPr>
        <p:grpSpPr>
          <a:xfrm>
            <a:off x="2340651" y="1960511"/>
            <a:ext cx="5736900" cy="1447476"/>
            <a:chOff x="2641300" y="1615231"/>
            <a:chExt cx="5736900" cy="813394"/>
          </a:xfrm>
        </p:grpSpPr>
        <p:sp>
          <p:nvSpPr>
            <p:cNvPr id="199" name="Google Shape;199;p18">
              <a:extLst>
                <a:ext uri="{FF2B5EF4-FFF2-40B4-BE49-F238E27FC236}">
                  <a16:creationId xmlns:a16="http://schemas.microsoft.com/office/drawing/2014/main" id="{711D2D31-A970-CE63-2CBE-5CE68E478414}"/>
                </a:ext>
              </a:extLst>
            </p:cNvPr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1" name="Google Shape;201;p18">
              <a:extLst>
                <a:ext uri="{FF2B5EF4-FFF2-40B4-BE49-F238E27FC236}">
                  <a16:creationId xmlns:a16="http://schemas.microsoft.com/office/drawing/2014/main" id="{37938839-FF5C-54EA-FC75-A66FF0A01216}"/>
                </a:ext>
              </a:extLst>
            </p:cNvPr>
            <p:cNvSpPr txBox="1"/>
            <p:nvPr/>
          </p:nvSpPr>
          <p:spPr>
            <a:xfrm>
              <a:off x="2729400" y="1615231"/>
              <a:ext cx="5462400" cy="7955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sz="2000" b="1" i="1" dirty="0"/>
                <a:t>Avaliar a viabilidade de aplicar soluções baseadas em aprendizado de máquina a sistemas embarcados com recursos computacionais limitados.</a:t>
              </a:r>
              <a:endParaRPr sz="2000" b="1" i="1" dirty="0">
                <a:sym typeface="Helvetica Neue"/>
              </a:endParaRPr>
            </a:p>
          </p:txBody>
        </p:sp>
      </p:grpSp>
      <p:sp>
        <p:nvSpPr>
          <p:cNvPr id="2" name="CaixaDeTexto 1">
            <a:extLst>
              <a:ext uri="{FF2B5EF4-FFF2-40B4-BE49-F238E27FC236}">
                <a16:creationId xmlns:a16="http://schemas.microsoft.com/office/drawing/2014/main" id="{34ED1736-9AEE-03D2-A384-6CACBA6DBF1A}"/>
              </a:ext>
            </a:extLst>
          </p:cNvPr>
          <p:cNvSpPr txBox="1"/>
          <p:nvPr/>
        </p:nvSpPr>
        <p:spPr>
          <a:xfrm>
            <a:off x="1493784" y="1268898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Objetivo Geral</a:t>
            </a:r>
            <a:endParaRPr lang="pt-BR" sz="2800" b="1" dirty="0"/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83B7F75E-C3B6-2A93-F3FA-E7C8E9B4FD7B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C73F0749-F3E8-DF51-98FF-E9E2457535E5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409264CA-3E01-EF80-3DCF-19C631559F6B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304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Objetivos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4" name="Google Shape;194;p18"/>
          <p:cNvGrpSpPr/>
          <p:nvPr/>
        </p:nvGrpSpPr>
        <p:grpSpPr>
          <a:xfrm>
            <a:off x="2479025" y="2702050"/>
            <a:ext cx="5899175" cy="871500"/>
            <a:chOff x="2479025" y="2702050"/>
            <a:chExt cx="5899175" cy="871500"/>
          </a:xfrm>
        </p:grpSpPr>
        <p:sp>
          <p:nvSpPr>
            <p:cNvPr id="195" name="Google Shape;195;p18"/>
            <p:cNvSpPr/>
            <p:nvPr/>
          </p:nvSpPr>
          <p:spPr>
            <a:xfrm>
              <a:off x="2641300" y="2761150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2848925" y="279790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Levantar e analisar as plataformas de hardware para projetos </a:t>
              </a:r>
              <a:r>
                <a:rPr lang="pt-BR" sz="1800" dirty="0" err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7" name="Google Shape;197;p18"/>
            <p:cNvSpPr/>
            <p:nvPr/>
          </p:nvSpPr>
          <p:spPr>
            <a:xfrm>
              <a:off x="2479025" y="2702050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2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98" name="Google Shape;198;p18"/>
          <p:cNvGrpSpPr/>
          <p:nvPr/>
        </p:nvGrpSpPr>
        <p:grpSpPr>
          <a:xfrm>
            <a:off x="2479025" y="1557125"/>
            <a:ext cx="5899175" cy="871500"/>
            <a:chOff x="2479025" y="1557125"/>
            <a:chExt cx="5899175" cy="871500"/>
          </a:xfrm>
        </p:grpSpPr>
        <p:sp>
          <p:nvSpPr>
            <p:cNvPr id="199" name="Google Shape;199;p18"/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0" name="Google Shape;200;p18"/>
            <p:cNvSpPr/>
            <p:nvPr/>
          </p:nvSpPr>
          <p:spPr>
            <a:xfrm>
              <a:off x="2479025" y="1557125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1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1" name="Google Shape;201;p18"/>
            <p:cNvSpPr txBox="1"/>
            <p:nvPr/>
          </p:nvSpPr>
          <p:spPr>
            <a:xfrm>
              <a:off x="2848925" y="167435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dirty="0"/>
                <a:t>Pesquisar e avaliar as ferramentas de desenvolvimento </a:t>
              </a:r>
              <a:r>
                <a:rPr lang="pt-BR" dirty="0" err="1"/>
                <a:t>TinyML</a:t>
              </a:r>
              <a:r>
                <a:rPr lang="pt-BR" dirty="0"/>
                <a:t> disponíveis.</a:t>
              </a:r>
              <a:endParaRPr dirty="0">
                <a:sym typeface="Helvetica Neue"/>
              </a:endParaRPr>
            </a:p>
          </p:txBody>
        </p:sp>
      </p:grpSp>
      <p:grpSp>
        <p:nvGrpSpPr>
          <p:cNvPr id="202" name="Google Shape;202;p18"/>
          <p:cNvGrpSpPr/>
          <p:nvPr/>
        </p:nvGrpSpPr>
        <p:grpSpPr>
          <a:xfrm>
            <a:off x="2479025" y="3906075"/>
            <a:ext cx="5899175" cy="871500"/>
            <a:chOff x="2479025" y="3906075"/>
            <a:chExt cx="5899175" cy="871500"/>
          </a:xfrm>
        </p:grpSpPr>
        <p:sp>
          <p:nvSpPr>
            <p:cNvPr id="203" name="Google Shape;203;p18"/>
            <p:cNvSpPr/>
            <p:nvPr/>
          </p:nvSpPr>
          <p:spPr>
            <a:xfrm>
              <a:off x="2641300" y="396517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2479025" y="3906075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3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5" name="Google Shape;205;p18"/>
            <p:cNvSpPr txBox="1"/>
            <p:nvPr/>
          </p:nvSpPr>
          <p:spPr>
            <a:xfrm>
              <a:off x="2848925" y="4001925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Elaborar um fluxo de trabalho ponta-a-ponta para soluções </a:t>
              </a:r>
              <a:r>
                <a:rPr lang="pt-BR" sz="1800" dirty="0" err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206" name="Google Shape;206;p18"/>
          <p:cNvGrpSpPr/>
          <p:nvPr/>
        </p:nvGrpSpPr>
        <p:grpSpPr>
          <a:xfrm>
            <a:off x="2479025" y="5169200"/>
            <a:ext cx="5899175" cy="871500"/>
            <a:chOff x="2479025" y="5169200"/>
            <a:chExt cx="5899175" cy="871500"/>
          </a:xfrm>
        </p:grpSpPr>
        <p:sp>
          <p:nvSpPr>
            <p:cNvPr id="207" name="Google Shape;207;p18"/>
            <p:cNvSpPr/>
            <p:nvPr/>
          </p:nvSpPr>
          <p:spPr>
            <a:xfrm>
              <a:off x="2641300" y="5228300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8" name="Google Shape;208;p18"/>
            <p:cNvSpPr/>
            <p:nvPr/>
          </p:nvSpPr>
          <p:spPr>
            <a:xfrm>
              <a:off x="2479025" y="5169200"/>
              <a:ext cx="395100" cy="402000"/>
            </a:xfrm>
            <a:prstGeom prst="rect">
              <a:avLst/>
            </a:prstGeom>
            <a:solidFill>
              <a:srgbClr val="20365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600" b="1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4</a:t>
              </a:r>
              <a:endParaRPr sz="16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209" name="Google Shape;209;p18"/>
            <p:cNvSpPr txBox="1"/>
            <p:nvPr/>
          </p:nvSpPr>
          <p:spPr>
            <a:xfrm>
              <a:off x="2848925" y="5265050"/>
              <a:ext cx="5462400" cy="7386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 b="1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Estudo de caso:</a:t>
              </a:r>
              <a:r>
                <a:rPr lang="pt-BR" sz="1800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 desenvolvimento de modelo </a:t>
              </a:r>
              <a:r>
                <a:rPr lang="pt-BR" sz="1800" dirty="0" err="1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TinyML</a:t>
              </a:r>
              <a:r>
                <a:rPr lang="pt-BR" sz="1800" dirty="0">
                  <a:solidFill>
                    <a:srgbClr val="F2F2F2"/>
                  </a:solidFill>
                  <a:effectLst/>
                  <a:latin typeface="Helvetica Neue" panose="020B0604020202020204" charset="0"/>
                </a:rPr>
                <a:t> para Classificação de Resíduos.</a:t>
              </a:r>
              <a:endParaRPr lang="pt-BR" sz="1800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sp>
        <p:nvSpPr>
          <p:cNvPr id="2" name="CaixaDeTexto 1">
            <a:extLst>
              <a:ext uri="{FF2B5EF4-FFF2-40B4-BE49-F238E27FC236}">
                <a16:creationId xmlns:a16="http://schemas.microsoft.com/office/drawing/2014/main" id="{AD2AD77A-A167-CFE3-6A77-3C1CF035A4FF}"/>
              </a:ext>
            </a:extLst>
          </p:cNvPr>
          <p:cNvSpPr txBox="1"/>
          <p:nvPr/>
        </p:nvSpPr>
        <p:spPr>
          <a:xfrm>
            <a:off x="1485633" y="958747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Objetivos específicos</a:t>
            </a:r>
            <a:endParaRPr lang="pt-BR" sz="2800" b="1" dirty="0"/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971CCABF-71E7-878A-B046-1D152323C612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35881FE5-86B1-4771-4F60-0B3D7B406F27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9C522F19-7664-9C7A-08F4-8D32BE56E23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>
          <a:extLst>
            <a:ext uri="{FF2B5EF4-FFF2-40B4-BE49-F238E27FC236}">
              <a16:creationId xmlns:a16="http://schemas.microsoft.com/office/drawing/2014/main" id="{1B36CA79-8F76-686E-F045-44DF85E9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>
            <a:extLst>
              <a:ext uri="{FF2B5EF4-FFF2-40B4-BE49-F238E27FC236}">
                <a16:creationId xmlns:a16="http://schemas.microsoft.com/office/drawing/2014/main" id="{693EE5CD-21F5-002A-C037-ACC1B6D84982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>
            <a:extLst>
              <a:ext uri="{FF2B5EF4-FFF2-40B4-BE49-F238E27FC236}">
                <a16:creationId xmlns:a16="http://schemas.microsoft.com/office/drawing/2014/main" id="{CB9E6C14-9AF1-9EA1-0B96-D5CB78207B9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6" name="Google Shape;186;p18">
            <a:extLst>
              <a:ext uri="{FF2B5EF4-FFF2-40B4-BE49-F238E27FC236}">
                <a16:creationId xmlns:a16="http://schemas.microsoft.com/office/drawing/2014/main" id="{38B79F49-320D-D2A3-06D9-520046756A3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>
            <a:extLst>
              <a:ext uri="{FF2B5EF4-FFF2-40B4-BE49-F238E27FC236}">
                <a16:creationId xmlns:a16="http://schemas.microsoft.com/office/drawing/2014/main" id="{66A23471-A7DE-2648-2B71-96020B0A862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>
            <a:extLst>
              <a:ext uri="{FF2B5EF4-FFF2-40B4-BE49-F238E27FC236}">
                <a16:creationId xmlns:a16="http://schemas.microsoft.com/office/drawing/2014/main" id="{621B3573-9CED-4471-3A5E-D2B807F8C67E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Hipótese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198" name="Google Shape;198;p18">
            <a:extLst>
              <a:ext uri="{FF2B5EF4-FFF2-40B4-BE49-F238E27FC236}">
                <a16:creationId xmlns:a16="http://schemas.microsoft.com/office/drawing/2014/main" id="{16867032-DB49-273C-7C64-63CD5254AE69}"/>
              </a:ext>
            </a:extLst>
          </p:cNvPr>
          <p:cNvGrpSpPr/>
          <p:nvPr/>
        </p:nvGrpSpPr>
        <p:grpSpPr>
          <a:xfrm>
            <a:off x="2340651" y="1960510"/>
            <a:ext cx="5736900" cy="1723518"/>
            <a:chOff x="2641300" y="1615231"/>
            <a:chExt cx="5736900" cy="821868"/>
          </a:xfrm>
        </p:grpSpPr>
        <p:sp>
          <p:nvSpPr>
            <p:cNvPr id="199" name="Google Shape;199;p18">
              <a:extLst>
                <a:ext uri="{FF2B5EF4-FFF2-40B4-BE49-F238E27FC236}">
                  <a16:creationId xmlns:a16="http://schemas.microsoft.com/office/drawing/2014/main" id="{31756582-6BD6-67FD-C092-7DCB836300FC}"/>
                </a:ext>
              </a:extLst>
            </p:cNvPr>
            <p:cNvSpPr/>
            <p:nvPr/>
          </p:nvSpPr>
          <p:spPr>
            <a:xfrm>
              <a:off x="2641300" y="1616225"/>
              <a:ext cx="5736900" cy="812400"/>
            </a:xfrm>
            <a:prstGeom prst="roundRect">
              <a:avLst>
                <a:gd name="adj" fmla="val 16667"/>
              </a:avLst>
            </a:prstGeom>
            <a:solidFill>
              <a:srgbClr val="567091"/>
            </a:solidFill>
            <a:ln w="9525" cap="flat" cmpd="sng">
              <a:solidFill>
                <a:srgbClr val="56709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38100" dir="2280000" algn="bl" rotWithShape="0">
                <a:srgbClr val="000000">
                  <a:alpha val="6499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2F2F2"/>
                </a:solidFill>
              </a:endParaRPr>
            </a:p>
          </p:txBody>
        </p:sp>
        <p:sp>
          <p:nvSpPr>
            <p:cNvPr id="201" name="Google Shape;201;p18">
              <a:extLst>
                <a:ext uri="{FF2B5EF4-FFF2-40B4-BE49-F238E27FC236}">
                  <a16:creationId xmlns:a16="http://schemas.microsoft.com/office/drawing/2014/main" id="{3F1B86B4-C68F-09AA-D3D6-BBA690DBF80D}"/>
                </a:ext>
              </a:extLst>
            </p:cNvPr>
            <p:cNvSpPr txBox="1"/>
            <p:nvPr/>
          </p:nvSpPr>
          <p:spPr>
            <a:xfrm>
              <a:off x="2729400" y="1615231"/>
              <a:ext cx="5462400" cy="8218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0" indent="0" algn="just">
                <a:buNone/>
                <a:defRPr sz="1800">
                  <a:solidFill>
                    <a:srgbClr val="F2F2F2"/>
                  </a:solidFill>
                  <a:latin typeface="Helvetica Neue"/>
                  <a:ea typeface="Helvetica Neue"/>
                  <a:cs typeface="Helvetica Neue"/>
                </a:defRPr>
              </a:lvl1pPr>
            </a:lstStyle>
            <a:p>
              <a:r>
                <a:rPr lang="pt-BR" sz="2000" b="1" i="1" dirty="0"/>
                <a:t>Técnicas de </a:t>
              </a:r>
              <a:r>
                <a:rPr lang="pt-BR" sz="2000" b="1" i="1" dirty="0" err="1"/>
                <a:t>TinyML</a:t>
              </a:r>
              <a:r>
                <a:rPr lang="pt-BR" sz="2000" b="1" i="1" dirty="0"/>
                <a:t> permitem executar modelos de aprendizado de máquina diretamente em dispositivos de baixo recurso, tornando viável substituir ou complementar arquiteturas IoT baseadas em nuvem.</a:t>
              </a:r>
              <a:endParaRPr sz="2000" b="1" i="1" dirty="0">
                <a:sym typeface="Helvetica Neue"/>
              </a:endParaRPr>
            </a:p>
          </p:txBody>
        </p:sp>
      </p:grpSp>
      <p:sp>
        <p:nvSpPr>
          <p:cNvPr id="2" name="CaixaDeTexto 1">
            <a:extLst>
              <a:ext uri="{FF2B5EF4-FFF2-40B4-BE49-F238E27FC236}">
                <a16:creationId xmlns:a16="http://schemas.microsoft.com/office/drawing/2014/main" id="{6EC936AC-9A2A-0149-3B47-D2DB978B03C9}"/>
              </a:ext>
            </a:extLst>
          </p:cNvPr>
          <p:cNvSpPr txBox="1"/>
          <p:nvPr/>
        </p:nvSpPr>
        <p:spPr>
          <a:xfrm>
            <a:off x="1493784" y="1268898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Hipótese</a:t>
            </a:r>
            <a:endParaRPr lang="pt-BR" sz="2800" b="1" dirty="0"/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EE403FF4-8925-DD53-12FA-EC08F70F5681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B2CC5554-8520-3935-D234-6E5C2F52A390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6AE313EC-D59F-C3E8-B9E8-F30791DB87B9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7F3F819-BFEE-8B87-25F9-2FB4A33454A1}"/>
              </a:ext>
            </a:extLst>
          </p:cNvPr>
          <p:cNvSpPr txBox="1"/>
          <p:nvPr/>
        </p:nvSpPr>
        <p:spPr>
          <a:xfrm>
            <a:off x="1524468" y="4625281"/>
            <a:ext cx="7369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Para testar a hipótese: </a:t>
            </a:r>
            <a:r>
              <a:rPr lang="pt-BR" sz="2400" b="1" i="1" dirty="0">
                <a:solidFill>
                  <a:srgbClr val="00B050"/>
                </a:solidFill>
              </a:rPr>
              <a:t>Estudo de caso</a:t>
            </a:r>
            <a:r>
              <a:rPr lang="pt-BR" sz="2400" b="1" i="1" dirty="0"/>
              <a:t> aplicando </a:t>
            </a:r>
            <a:r>
              <a:rPr lang="pt-BR" sz="2400" b="1" i="1" dirty="0" err="1"/>
              <a:t>TinyML</a:t>
            </a:r>
            <a:r>
              <a:rPr lang="pt-BR" sz="2400" b="1" i="1" dirty="0"/>
              <a:t> para Classificação de Resíduos!</a:t>
            </a:r>
          </a:p>
        </p:txBody>
      </p:sp>
    </p:spTree>
    <p:extLst>
      <p:ext uri="{BB962C8B-B14F-4D97-AF65-F5344CB8AC3E}">
        <p14:creationId xmlns:p14="http://schemas.microsoft.com/office/powerpoint/2010/main" val="3813407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>
          <a:extLst>
            <a:ext uri="{FF2B5EF4-FFF2-40B4-BE49-F238E27FC236}">
              <a16:creationId xmlns:a16="http://schemas.microsoft.com/office/drawing/2014/main" id="{1A28A3E8-57E1-D3C4-1E18-5167263E1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9">
            <a:extLst>
              <a:ext uri="{FF2B5EF4-FFF2-40B4-BE49-F238E27FC236}">
                <a16:creationId xmlns:a16="http://schemas.microsoft.com/office/drawing/2014/main" id="{BCBCA0BF-EE11-C5FD-43C3-92AFF9914D5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9">
            <a:extLst>
              <a:ext uri="{FF2B5EF4-FFF2-40B4-BE49-F238E27FC236}">
                <a16:creationId xmlns:a16="http://schemas.microsoft.com/office/drawing/2014/main" id="{B81C8EB0-6E94-ABC1-2427-7E583A63B98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8" name="Google Shape;218;p19">
            <a:extLst>
              <a:ext uri="{FF2B5EF4-FFF2-40B4-BE49-F238E27FC236}">
                <a16:creationId xmlns:a16="http://schemas.microsoft.com/office/drawing/2014/main" id="{5812DEE3-EBF0-5AC4-40DD-35A2CCFC3F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>
            <a:extLst>
              <a:ext uri="{FF2B5EF4-FFF2-40B4-BE49-F238E27FC236}">
                <a16:creationId xmlns:a16="http://schemas.microsoft.com/office/drawing/2014/main" id="{FAD4749F-86AA-C00E-0CF9-2673EA794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>
            <a:extLst>
              <a:ext uri="{FF2B5EF4-FFF2-40B4-BE49-F238E27FC236}">
                <a16:creationId xmlns:a16="http://schemas.microsoft.com/office/drawing/2014/main" id="{2B2B9283-513E-1060-4B88-7D7EDEF15CDF}"/>
              </a:ext>
            </a:extLst>
          </p:cNvPr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113;p14">
            <a:extLst>
              <a:ext uri="{FF2B5EF4-FFF2-40B4-BE49-F238E27FC236}">
                <a16:creationId xmlns:a16="http://schemas.microsoft.com/office/drawing/2014/main" id="{C9ADC9A5-4FA8-48B2-7E10-AA46F8A7154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7CE01683-F5DF-8A38-64FE-57A1C81914E3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571B8B1F-61F5-9314-92CA-1F83A9501871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047052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25B9C66A-B560-0C20-EEFD-12A5D861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31D81FD7-8D4A-BCB8-F4EF-186B5A1F282B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66FD721F-F7EB-1105-A88F-210195AC6AC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5B9003D-9260-A060-F282-1A126BB2ACF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0D0653BD-E957-45DB-5299-8790BE5121D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D3377F3-4496-7B19-53F8-DF83CE413F4F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E997F8E3-1F54-656C-A002-8B03E60A60FB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4FE4EED7-C4A9-A390-D3FD-EAAF58BB4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501A3DEF-D44E-77C8-AFEB-1A92AD87A317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DA53DF16-5C29-1FD3-75EC-D56576DFD18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DA53DF16-5C29-1FD3-75EC-D56576DFD183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D031F205-91F4-72E3-E15E-0754D38E925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D031F205-91F4-72E3-E15E-0754D38E925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4DF063B1-F387-A1CF-2C65-20346225C3B5}"/>
              </a:ext>
            </a:extLst>
          </p:cNvPr>
          <p:cNvSpPr/>
          <p:nvPr/>
        </p:nvSpPr>
        <p:spPr>
          <a:xfrm>
            <a:off x="2536723" y="2379406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BBA0CCE6-C560-F6CF-A969-610931FDED71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86F5003C-DB54-87B6-F1B9-BD2C1279D1F7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41DAB813-B8B4-C8BF-26F1-27F52A51368D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008691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4631DD4-269B-B51E-53E6-018BFA75B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1BDD28E-955F-4A2E-B0D2-BA2C7AF809BE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F98CA76-D1B8-BEBD-0595-A975787F8FC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5E9E2F10-4959-A974-96A8-AA958F08FB9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5F26D0D-059E-BD41-E4CA-73FE4E14D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CDF15C2B-D85D-DF9D-E7B0-9C2DCE5B7B25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 de dados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7A083B8-1B68-3E1F-12AC-849D9CB6CDBF}"/>
              </a:ext>
            </a:extLst>
          </p:cNvPr>
          <p:cNvSpPr txBox="1"/>
          <p:nvPr/>
        </p:nvSpPr>
        <p:spPr>
          <a:xfrm>
            <a:off x="1457850" y="1137589"/>
            <a:ext cx="7277100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800" b="1" dirty="0"/>
              <a:t>Banco de dados público — </a:t>
            </a:r>
            <a:r>
              <a:rPr lang="pt-BR" sz="1800" b="1" i="1" dirty="0" err="1">
                <a:solidFill>
                  <a:srgbClr val="00B050"/>
                </a:solidFill>
              </a:rPr>
              <a:t>RealWaste</a:t>
            </a:r>
            <a:endParaRPr lang="pt-BR" sz="1800" b="1" i="1" dirty="0">
              <a:solidFill>
                <a:srgbClr val="00B050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4.752 imagens reais de resíduos coletadas em </a:t>
            </a:r>
            <a:r>
              <a:rPr lang="pt-BR" sz="1800" b="1" dirty="0"/>
              <a:t>aterros sanitários</a:t>
            </a:r>
            <a:r>
              <a:rPr lang="pt-BR" sz="1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b="1" dirty="0"/>
              <a:t>9 categorias </a:t>
            </a:r>
            <a:r>
              <a:rPr lang="pt-BR" sz="1800" dirty="0"/>
              <a:t>principais (metal, plástico, papel, vidro, têxteis, etc.).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Resolução original: </a:t>
            </a:r>
            <a:r>
              <a:rPr lang="pt-BR" sz="1800" b="1" dirty="0"/>
              <a:t>522×522 </a:t>
            </a:r>
            <a:r>
              <a:rPr lang="pt-BR" sz="1800" b="1" dirty="0" err="1"/>
              <a:t>px</a:t>
            </a:r>
            <a:r>
              <a:rPr lang="pt-BR" sz="1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Dados variados e adequados para </a:t>
            </a:r>
            <a:r>
              <a:rPr lang="pt-BR" sz="1800" b="1" dirty="0"/>
              <a:t>generalização do modelo</a:t>
            </a:r>
            <a:r>
              <a:rPr lang="pt-BR" sz="18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800" dirty="0"/>
          </a:p>
          <a:p>
            <a:pPr>
              <a:lnSpc>
                <a:spcPct val="150000"/>
              </a:lnSpc>
              <a:buNone/>
            </a:pPr>
            <a:r>
              <a:rPr lang="pt-BR" sz="1800" b="1" dirty="0"/>
              <a:t>Fonte do repositório:</a:t>
            </a:r>
            <a:endParaRPr lang="pt-BR" sz="1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800" dirty="0"/>
              <a:t>UCI Machine Learning </a:t>
            </a:r>
            <a:r>
              <a:rPr lang="pt-BR" sz="1800" dirty="0" err="1"/>
              <a:t>Repository</a:t>
            </a:r>
            <a:r>
              <a:rPr lang="pt-BR" sz="1800" dirty="0"/>
              <a:t> — </a:t>
            </a:r>
            <a:r>
              <a:rPr lang="pt-BR" sz="1800" dirty="0" err="1"/>
              <a:t>RealWaste</a:t>
            </a:r>
            <a:r>
              <a:rPr lang="pt-BR" sz="1800" dirty="0"/>
              <a:t> </a:t>
            </a:r>
            <a:r>
              <a:rPr lang="pt-BR" sz="1800" dirty="0" err="1"/>
              <a:t>Dataset</a:t>
            </a:r>
            <a:r>
              <a:rPr lang="pt-BR" sz="1800" dirty="0"/>
              <a:t> </a:t>
            </a:r>
            <a:r>
              <a:rPr lang="pt-BR" sz="1800" i="1" dirty="0"/>
              <a:t>(Single; </a:t>
            </a:r>
            <a:r>
              <a:rPr lang="pt-BR" sz="1800" i="1" dirty="0" err="1"/>
              <a:t>Iranmanesh</a:t>
            </a:r>
            <a:r>
              <a:rPr lang="pt-BR" sz="1800" i="1" dirty="0"/>
              <a:t>; Raad, 2023a)</a:t>
            </a:r>
            <a:endParaRPr lang="pt-BR" sz="1800" dirty="0"/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65974906-22AC-8221-AD26-F98556656219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BDD97E39-9450-49BA-739B-9078D128D66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B46754F2-6BD2-8C39-C7A9-DDBA37D253C4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699820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13CD24D-7DBA-782B-7078-5C4755EAC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4D5CA15-F601-E7FA-27B2-7F7905ED622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6A82390-9750-876B-32C9-ECE4C13F8FBD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8AC3BDA-80E8-9DF2-6299-4F26B97279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527E6EC2-E660-3932-759A-86D601F3B43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FBC7E291-2B28-458D-7E30-1D650DDE326A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 de dados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2ADB06B-53E9-2F5C-7FB1-7546D0EE22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9819" y="1581281"/>
            <a:ext cx="5222262" cy="4818971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56193B8-FE39-1667-29D2-4B2C2B0A098B}"/>
              </a:ext>
            </a:extLst>
          </p:cNvPr>
          <p:cNvSpPr txBox="1"/>
          <p:nvPr/>
        </p:nvSpPr>
        <p:spPr>
          <a:xfrm>
            <a:off x="1493784" y="1103566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Exemplos do </a:t>
            </a:r>
            <a:r>
              <a:rPr lang="pt-BR" sz="2400" b="1" i="1" dirty="0" err="1"/>
              <a:t>RealWaste</a:t>
            </a:r>
            <a:endParaRPr lang="pt-BR" sz="2800" b="1" i="1" dirty="0"/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C5344A8F-7D5D-6796-C903-92D1B81FA73D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503E37FD-9138-2426-FB17-0B2D57C2A207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5996F1E4-301D-A199-4D3E-D4FC0120C7D4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86144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49B327F-8723-C2A9-278F-108AC136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E4EBA2A-4114-A504-CF7D-3477872B6F59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8D12EF5-0CC7-EF9D-F3BF-823CB2F098E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06C4661-E6A2-0439-1B15-53C65BC3CE0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623446E-7836-AE85-95F3-A87277ACC79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2B6A140-3ED1-AEC3-7318-A25EC8AF8BF0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FE1478D8-6EF1-2475-79FB-E1227828D512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440AFDC8-C926-E515-43B4-2F46CBCED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1504B3F4-8AA5-59AD-D3B5-E7D013BE2FEA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9C2149EA-BB05-9A75-9EFA-668DCFECC4A5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9C2149EA-BB05-9A75-9EFA-668DCFECC4A5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14C4434B-B8E9-3B28-5550-C938ECEE78B1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14C4434B-B8E9-3B28-5550-C938ECEE78B1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5B240F95-1C30-7706-B671-AE22C5404F8B}"/>
              </a:ext>
            </a:extLst>
          </p:cNvPr>
          <p:cNvSpPr/>
          <p:nvPr/>
        </p:nvSpPr>
        <p:spPr>
          <a:xfrm>
            <a:off x="2428568" y="3197941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57FD094D-BDD9-BFCC-E05D-53F6636E01B0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E4464FB9-2DC6-93C2-A06E-2B9710A33B73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1386B7D4-58B2-A3A2-138B-5635AE36898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481994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02306C4E-FB31-40A4-69C2-BE76A0E21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FF495C0C-E96A-E8F4-E0FF-A289981BF7C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42B8810-EAFD-4F81-28C0-325A10B4C0A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9F067B07-E7B4-000B-993D-790A668DADA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2E1A16F4-AFCB-94C8-E525-B0D62552C4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94B87FE-756D-154D-2A25-C4CE1BC8FFC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9B6C0DB-2540-3A91-C578-188DBB908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7061" y="1658523"/>
            <a:ext cx="6567777" cy="480513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F09E1CA-E272-9FEA-59F8-608A1A958E83}"/>
              </a:ext>
            </a:extLst>
          </p:cNvPr>
          <p:cNvSpPr txBox="1"/>
          <p:nvPr/>
        </p:nvSpPr>
        <p:spPr>
          <a:xfrm>
            <a:off x="1485633" y="1005422"/>
            <a:ext cx="7430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Todo código disponível no GitHub!</a:t>
            </a:r>
            <a:endParaRPr lang="pt-BR" sz="2800" b="1" i="1" dirty="0"/>
          </a:p>
        </p:txBody>
      </p:sp>
      <p:sp>
        <p:nvSpPr>
          <p:cNvPr id="7" name="Google Shape;113;p14">
            <a:extLst>
              <a:ext uri="{FF2B5EF4-FFF2-40B4-BE49-F238E27FC236}">
                <a16:creationId xmlns:a16="http://schemas.microsoft.com/office/drawing/2014/main" id="{70EEE99C-6A5E-4448-16E2-8A75D76E7D53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15;p14">
            <a:extLst>
              <a:ext uri="{FF2B5EF4-FFF2-40B4-BE49-F238E27FC236}">
                <a16:creationId xmlns:a16="http://schemas.microsoft.com/office/drawing/2014/main" id="{5C610B66-7392-34B9-2912-CD171E75572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9" name="Google Shape;116;p14">
            <a:extLst>
              <a:ext uri="{FF2B5EF4-FFF2-40B4-BE49-F238E27FC236}">
                <a16:creationId xmlns:a16="http://schemas.microsoft.com/office/drawing/2014/main" id="{C4B51565-0D5C-2A92-2409-5AB9913E09E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58401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EE6B5B82-7521-CAAB-8E7C-9ABACB53C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EEB1E35-99A7-1BB6-5BFC-ED15B2C2225C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0F4D3407-4B06-73A0-4970-6E442C4DE232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9559B41-8DBB-0A8D-F346-92C471BDCC5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0C890A5A-EEFE-BA17-6221-0322A05A8AD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89C9E9F5-C248-66C9-4894-9F67CE010301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i="0" u="none" strike="noStrike" cap="none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</a:t>
            </a: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-processamento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31BBA74-086E-219F-2B5E-D127E0B1AD63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A classe mais populosa tem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921 imagens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. Todas as demais foram aumentadas até atingir esse valor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</a:t>
            </a: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1B7C89FB-BBF6-C8DE-E350-B1CC57FF6808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A49FBC3E-2AB4-6B7E-E04D-15E06788C28D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2BDFC1CD-9AD4-C3C9-6E00-B628C9937336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70403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69B0AB1-00C8-1361-8882-8407418C4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727A73A-CEAA-CDD5-2FF2-A00EB219238A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806CE3D-831C-AC68-00A3-C48DBDC390CA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43098C3B-AF6B-9754-F7BF-A0A45FBF88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8B019711-95CD-A521-2DA0-8ACA705322C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66CEA713-1759-5881-FFEF-1FF0968E0DF2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B2E8C8-9FD2-EDF6-0C83-0C9FA547FBBC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</a:t>
            </a: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FD37E198-4E6F-621E-8362-D628A89A97A0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5872DB82-46DA-3CCF-9282-D25D4DB927D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7532B82E-953E-2643-A45C-BB0DFE31FC9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63098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09A308A-5772-46C7-D937-09656764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C56FB406-4557-24B0-6622-ED16E31AAFFE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0943A0B1-5997-7AA3-B3E3-B632D18EEA83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AB7B1CF1-6ED7-4D6A-73F5-FD47954E5F2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C3638CEE-9CD6-3FF0-D879-214A623A042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50736733-B175-55C3-E841-63F5591B71E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04501C-D352-9536-6219-11C1A46096FF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No máximo </a:t>
            </a:r>
            <a:r>
              <a:rPr lang="pt-BR" sz="1800" b="1" dirty="0">
                <a:solidFill>
                  <a:schemeClr val="bg1">
                    <a:lumMod val="75000"/>
                  </a:schemeClr>
                </a:solidFill>
              </a:rPr>
              <a:t>10 variações por imagem base</a:t>
            </a:r>
            <a:r>
              <a:rPr lang="pt-BR" sz="1800" dirty="0">
                <a:solidFill>
                  <a:schemeClr val="bg1">
                    <a:lumMod val="75000"/>
                  </a:schemeClr>
                </a:solidFill>
              </a:rPr>
              <a:t> → evita redundância</a:t>
            </a: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C7BC5E77-FD7A-904B-6726-0EFE5FEC1F8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41C899E3-2378-2457-732A-49CDBA0EDFAD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C7A7D915-7E4D-6089-4D00-4807A2F3A8A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856719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605DDC6E-A518-BA27-565E-7ED06432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88EF8C46-DC3C-BE10-F0AD-44FC42BAE5D8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A5CF784-74C3-4E48-4960-C195595A1A96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90BDFC93-07E7-EF0C-1E75-E3C8995EBAC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CC57F31C-96E1-6478-6C86-53ACD59629C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137A53C3-1538-B044-BAF0-F8269C6B8CD2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Pré-processamento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569341-4046-DFDE-DE97-3D3BAB0951DB}"/>
              </a:ext>
            </a:extLst>
          </p:cNvPr>
          <p:cNvSpPr txBox="1"/>
          <p:nvPr/>
        </p:nvSpPr>
        <p:spPr>
          <a:xfrm>
            <a:off x="1257900" y="908100"/>
            <a:ext cx="78861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1" dirty="0"/>
              <a:t>1) Redimensionamento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522×522 </a:t>
            </a:r>
            <a:r>
              <a:rPr lang="pt-BR" sz="1800" dirty="0" err="1"/>
              <a:t>px</a:t>
            </a:r>
            <a:r>
              <a:rPr lang="pt-BR" sz="1800" dirty="0"/>
              <a:t> → 224×224 </a:t>
            </a:r>
            <a:r>
              <a:rPr lang="pt-BR" sz="1800" dirty="0" err="1"/>
              <a:t>px</a:t>
            </a:r>
            <a:br>
              <a:rPr lang="pt-BR" sz="1800" dirty="0"/>
            </a:br>
            <a:endParaRPr lang="pt-BR" sz="1800" dirty="0"/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2) Balanceamento das classes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A classe mais populosa tem </a:t>
            </a:r>
            <a:r>
              <a:rPr lang="pt-BR" sz="1800" b="1" dirty="0">
                <a:solidFill>
                  <a:schemeClr val="tx1"/>
                </a:solidFill>
              </a:rPr>
              <a:t>921 imagens</a:t>
            </a:r>
            <a:r>
              <a:rPr lang="pt-BR" sz="1800" dirty="0">
                <a:solidFill>
                  <a:schemeClr val="tx1"/>
                </a:solidFill>
              </a:rPr>
              <a:t>. Todas as demais foram aumentadas até atingir esse valor.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3) Aumento de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Rotação (±20°)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Deslocamentos horizontais/verticais (até 20%)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Cisalhamento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Zoom (0,15)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Espelhamento horizontal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Variação de brilho (0,7–1,3)</a:t>
            </a:r>
            <a:br>
              <a:rPr lang="pt-BR" sz="1800" dirty="0">
                <a:solidFill>
                  <a:schemeClr val="bg1">
                    <a:lumMod val="75000"/>
                  </a:schemeClr>
                </a:solidFill>
              </a:rPr>
            </a:br>
            <a:endParaRPr lang="pt-BR" sz="18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buNone/>
            </a:pPr>
            <a:r>
              <a:rPr lang="pt-BR" sz="1800" b="1" dirty="0">
                <a:solidFill>
                  <a:schemeClr val="tx1"/>
                </a:solidFill>
              </a:rPr>
              <a:t>4) Limite de variações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>
                <a:solidFill>
                  <a:schemeClr val="tx1"/>
                </a:solidFill>
              </a:rPr>
              <a:t>No máximo </a:t>
            </a:r>
            <a:r>
              <a:rPr lang="pt-BR" sz="1800" b="1" dirty="0">
                <a:solidFill>
                  <a:schemeClr val="tx1"/>
                </a:solidFill>
              </a:rPr>
              <a:t>10 variações por imagem base</a:t>
            </a:r>
            <a:r>
              <a:rPr lang="pt-BR" sz="1800" dirty="0">
                <a:solidFill>
                  <a:schemeClr val="tx1"/>
                </a:solidFill>
              </a:rPr>
              <a:t> → evita redundância</a:t>
            </a: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FF8431E9-860E-291C-C9DE-ADA3663BD64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76519F87-4156-92D4-27E7-66348C0F8928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7A2DB696-ACBE-3C0B-FEAD-C54C25331C6A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52604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097D250-329E-AFA6-F8A3-4CB6D63E7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EEBD6CF6-A910-092F-0998-AED2185F312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4419DE92-7CD7-1C17-5613-7259E41CB02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EC4302D7-C13A-F6CA-6F22-76245822B4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1B1D4DB0-51C3-2896-043D-4DA06A3120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B77D3B0B-1F20-2FC7-2293-09CD2281AB8C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8817C34-C677-3397-D4B7-A6465FC307A2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14147A7A-D9F0-B1C8-629C-3C49A7E21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CE9463AB-8A09-2FEF-5808-4B29772E9857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73697BF1-E948-D8F9-7175-B27991788D8E}"/>
              </a:ext>
            </a:extLst>
          </p:cNvPr>
          <p:cNvSpPr/>
          <p:nvPr/>
        </p:nvSpPr>
        <p:spPr>
          <a:xfrm>
            <a:off x="2448233" y="4061088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8E6D4C3F-981D-6C46-E907-0BAD323E5A3B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80A3F91F-2B5F-8AEB-F05E-4C6D14CA07AC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FF586A0A-599B-5A99-FC14-D07E690CA95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2482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CE5299C0-2222-0B04-7818-6E633E29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5D7E81C-3EA7-EE45-408C-85DBA03C504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F9571C0-87E1-B489-C410-D24FAFAC71C2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D0F56EBF-A529-D510-14BB-37C0B413BC3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96D6CC6D-0BDE-5A7F-D111-597925B560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95835179-845F-E2AA-8CE3-6BF138AA9606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Treinamento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C9EED34F-0669-972D-ED80-B1ABA5005B3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A25671BA-9F2B-2040-E2C0-38DF84AA5273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11" name="Google Shape;116;p14">
            <a:extLst>
              <a:ext uri="{FF2B5EF4-FFF2-40B4-BE49-F238E27FC236}">
                <a16:creationId xmlns:a16="http://schemas.microsoft.com/office/drawing/2014/main" id="{C26636AB-3A7D-A235-DC78-20913ABAFA4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4713D0FF-C335-7E36-AC66-84CE35436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2575" y="1987509"/>
            <a:ext cx="4712187" cy="434350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60E11A28-666B-172C-78F5-EB3C9B909423}"/>
              </a:ext>
            </a:extLst>
          </p:cNvPr>
          <p:cNvSpPr txBox="1"/>
          <p:nvPr/>
        </p:nvSpPr>
        <p:spPr>
          <a:xfrm>
            <a:off x="1354162" y="1011829"/>
            <a:ext cx="6936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800" b="1" dirty="0"/>
              <a:t>Ferramenta Utilizada para Desenvolvimento da Rede Neural: </a:t>
            </a:r>
            <a:r>
              <a:rPr lang="pt-BR" sz="1800" dirty="0" err="1"/>
              <a:t>TensorFlow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300299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009584C-3CA6-DCB0-DFF1-8F7AD86E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FBC60F9F-CDEF-BD9F-584E-49E60BD0D638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6F7E884-0A5D-CB26-F688-82BFEFD6FF76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A8BCE43F-2655-B0F9-82D2-C6602C92A51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F62470FE-71DF-0D53-3E30-1B56665590A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AEA5C384-8006-C8ED-CA2D-632FE240806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Treinamento</a:t>
            </a:r>
            <a:endParaRPr lang="pt-BR" sz="3000" b="1" i="1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8A1464DD-FC28-E410-ADDB-D74FEF559CAE}"/>
              </a:ext>
            </a:extLst>
          </p:cNvPr>
          <p:cNvSpPr/>
          <p:nvPr/>
        </p:nvSpPr>
        <p:spPr>
          <a:xfrm>
            <a:off x="2209092" y="2654288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800" b="1" dirty="0">
                <a:solidFill>
                  <a:schemeClr val="bg1"/>
                </a:solidFill>
              </a:rPr>
              <a:t>MobileNetV2</a:t>
            </a:r>
            <a:endParaRPr lang="pt-BR" sz="1600" b="1" dirty="0">
              <a:solidFill>
                <a:schemeClr val="bg1"/>
              </a:solidFill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E95A75F-4355-9845-6980-A0538F6B044B}"/>
              </a:ext>
            </a:extLst>
          </p:cNvPr>
          <p:cNvSpPr/>
          <p:nvPr/>
        </p:nvSpPr>
        <p:spPr>
          <a:xfrm>
            <a:off x="2209092" y="4858291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b="1" dirty="0" err="1">
                <a:solidFill>
                  <a:schemeClr val="bg1"/>
                </a:solidFill>
              </a:rPr>
              <a:t>Dense</a:t>
            </a:r>
            <a:r>
              <a:rPr lang="pt-BR" b="1" dirty="0">
                <a:solidFill>
                  <a:schemeClr val="bg1"/>
                </a:solidFill>
              </a:rPr>
              <a:t> final (</a:t>
            </a:r>
            <a:r>
              <a:rPr lang="pt-BR" b="1" dirty="0" err="1">
                <a:solidFill>
                  <a:schemeClr val="bg1"/>
                </a:solidFill>
              </a:rPr>
              <a:t>Softmax</a:t>
            </a:r>
            <a:r>
              <a:rPr lang="pt-B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346D4D2C-564F-171F-E6B6-1CDBC1EF00FE}"/>
              </a:ext>
            </a:extLst>
          </p:cNvPr>
          <p:cNvSpPr/>
          <p:nvPr/>
        </p:nvSpPr>
        <p:spPr>
          <a:xfrm>
            <a:off x="2209092" y="4309007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Dense</a:t>
            </a:r>
            <a:r>
              <a:rPr lang="pt-BR" dirty="0">
                <a:solidFill>
                  <a:schemeClr val="bg1"/>
                </a:solidFill>
              </a:rPr>
              <a:t> 128 (</a:t>
            </a:r>
            <a:r>
              <a:rPr lang="pt-BR" dirty="0" err="1">
                <a:solidFill>
                  <a:schemeClr val="bg1"/>
                </a:solidFill>
              </a:rPr>
              <a:t>ReLU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CC79596-4025-4CB2-CF9C-7CE24F665852}"/>
              </a:ext>
            </a:extLst>
          </p:cNvPr>
          <p:cNvSpPr/>
          <p:nvPr/>
        </p:nvSpPr>
        <p:spPr>
          <a:xfrm>
            <a:off x="2209092" y="3757434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Dropout</a:t>
            </a:r>
            <a:r>
              <a:rPr lang="pt-BR" dirty="0">
                <a:solidFill>
                  <a:schemeClr val="bg1"/>
                </a:solidFill>
              </a:rPr>
              <a:t> (0,2)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84DD62AC-D844-9345-4A2C-1289EA88DB0C}"/>
              </a:ext>
            </a:extLst>
          </p:cNvPr>
          <p:cNvSpPr/>
          <p:nvPr/>
        </p:nvSpPr>
        <p:spPr>
          <a:xfrm>
            <a:off x="2209092" y="3205861"/>
            <a:ext cx="2366563" cy="551573"/>
          </a:xfrm>
          <a:prstGeom prst="roundRect">
            <a:avLst/>
          </a:prstGeom>
          <a:solidFill>
            <a:srgbClr val="292929">
              <a:alpha val="60000"/>
            </a:srgb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GlobalAveragePooling2D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700A3892-FD60-B17A-505B-7907300120CF}"/>
              </a:ext>
            </a:extLst>
          </p:cNvPr>
          <p:cNvSpPr/>
          <p:nvPr/>
        </p:nvSpPr>
        <p:spPr>
          <a:xfrm>
            <a:off x="2739874" y="5802621"/>
            <a:ext cx="289255" cy="551573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4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E2C0642-1AFE-E4C3-3438-412E7BF6EFF6}"/>
              </a:ext>
            </a:extLst>
          </p:cNvPr>
          <p:cNvSpPr/>
          <p:nvPr/>
        </p:nvSpPr>
        <p:spPr>
          <a:xfrm>
            <a:off x="3231625" y="5782079"/>
            <a:ext cx="289255" cy="55157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5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8B8B6CA-6CA6-47A8-F1EA-75D08CEB0239}"/>
              </a:ext>
            </a:extLst>
          </p:cNvPr>
          <p:cNvSpPr/>
          <p:nvPr/>
        </p:nvSpPr>
        <p:spPr>
          <a:xfrm>
            <a:off x="3663682" y="5802619"/>
            <a:ext cx="289255" cy="55157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6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9D02231-F168-3CBF-F02D-66F10E084E1E}"/>
              </a:ext>
            </a:extLst>
          </p:cNvPr>
          <p:cNvSpPr/>
          <p:nvPr/>
        </p:nvSpPr>
        <p:spPr>
          <a:xfrm>
            <a:off x="4125586" y="5802620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7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87C44A49-ECF1-F6D1-5236-FB5891B8205D}"/>
              </a:ext>
            </a:extLst>
          </p:cNvPr>
          <p:cNvSpPr/>
          <p:nvPr/>
        </p:nvSpPr>
        <p:spPr>
          <a:xfrm>
            <a:off x="4587490" y="5802619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8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8E39E5D-23AE-0CE1-747E-5D7865B872DC}"/>
              </a:ext>
            </a:extLst>
          </p:cNvPr>
          <p:cNvSpPr/>
          <p:nvPr/>
        </p:nvSpPr>
        <p:spPr>
          <a:xfrm>
            <a:off x="5049394" y="5805394"/>
            <a:ext cx="289255" cy="55157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9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AD1FC4A-14AB-D051-5FB7-B8825540140B}"/>
              </a:ext>
            </a:extLst>
          </p:cNvPr>
          <p:cNvSpPr/>
          <p:nvPr/>
        </p:nvSpPr>
        <p:spPr>
          <a:xfrm>
            <a:off x="1354162" y="5797073"/>
            <a:ext cx="289255" cy="55157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1</a:t>
            </a:r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F35F5541-5A74-1B94-5F11-AEF401DB70FD}"/>
              </a:ext>
            </a:extLst>
          </p:cNvPr>
          <p:cNvSpPr/>
          <p:nvPr/>
        </p:nvSpPr>
        <p:spPr>
          <a:xfrm>
            <a:off x="1816066" y="5797072"/>
            <a:ext cx="289255" cy="55157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2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B3A4800B-DA5D-63F0-2A2C-68F788E37C84}"/>
              </a:ext>
            </a:extLst>
          </p:cNvPr>
          <p:cNvSpPr/>
          <p:nvPr/>
        </p:nvSpPr>
        <p:spPr>
          <a:xfrm>
            <a:off x="2277970" y="5797071"/>
            <a:ext cx="289255" cy="55157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/>
              <a:t>3</a:t>
            </a:r>
          </a:p>
        </p:txBody>
      </p: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4975A466-DDCA-ACC8-4228-13226362BB24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 flipH="1">
            <a:off x="1498790" y="5409864"/>
            <a:ext cx="1893584" cy="387209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3E831ECB-6CE4-03B1-2FFA-14E7BFBA505E}"/>
              </a:ext>
            </a:extLst>
          </p:cNvPr>
          <p:cNvCxnSpPr>
            <a:cxnSpLocks/>
            <a:stCxn id="7" idx="2"/>
            <a:endCxn id="19" idx="0"/>
          </p:cNvCxnSpPr>
          <p:nvPr/>
        </p:nvCxnSpPr>
        <p:spPr>
          <a:xfrm flipH="1">
            <a:off x="1960694" y="5409864"/>
            <a:ext cx="1431680" cy="387208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5B67F1A7-73AF-1FC0-E239-6DDF6FB8A07B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 flipH="1">
            <a:off x="2422598" y="5409864"/>
            <a:ext cx="969776" cy="387207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BD06BD77-90CC-5746-6470-BE25DB3AA956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flipH="1">
            <a:off x="2884502" y="5409864"/>
            <a:ext cx="507872" cy="392757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680104BF-FC01-6901-899A-7A826E0C4D32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flipH="1">
            <a:off x="3376253" y="5409864"/>
            <a:ext cx="16121" cy="37221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ED56A306-7EFF-B5D9-3BB7-F63727438654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3392374" y="5409864"/>
            <a:ext cx="415936" cy="39275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E8CCC175-9AFD-F465-F696-1BC53F3F13E4}"/>
              </a:ext>
            </a:extLst>
          </p:cNvPr>
          <p:cNvCxnSpPr>
            <a:cxnSpLocks/>
            <a:stCxn id="7" idx="2"/>
            <a:endCxn id="15" idx="0"/>
          </p:cNvCxnSpPr>
          <p:nvPr/>
        </p:nvCxnSpPr>
        <p:spPr>
          <a:xfrm>
            <a:off x="3392374" y="5409864"/>
            <a:ext cx="877840" cy="39275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6D1D2473-38D4-755E-A9B2-514CCA68C7B2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>
            <a:off x="3392374" y="5409864"/>
            <a:ext cx="1339744" cy="392755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336804BE-3C60-79FD-6F5B-9EB108A7749C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3392374" y="5409864"/>
            <a:ext cx="1801648" cy="39553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54" name="Imagem 53">
            <a:extLst>
              <a:ext uri="{FF2B5EF4-FFF2-40B4-BE49-F238E27FC236}">
                <a16:creationId xmlns:a16="http://schemas.microsoft.com/office/drawing/2014/main" id="{2855D68A-C5EF-5A6A-4CC3-90D3CD54D6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5425" y="1046644"/>
            <a:ext cx="1470284" cy="1458233"/>
          </a:xfrm>
          <a:prstGeom prst="rect">
            <a:avLst/>
          </a:prstGeom>
        </p:spPr>
      </p:pic>
      <p:cxnSp>
        <p:nvCxnSpPr>
          <p:cNvPr id="56" name="Conector: Angulado 55">
            <a:extLst>
              <a:ext uri="{FF2B5EF4-FFF2-40B4-BE49-F238E27FC236}">
                <a16:creationId xmlns:a16="http://schemas.microsoft.com/office/drawing/2014/main" id="{3F4E86F4-CBB3-95D1-5129-A235571B4E5D}"/>
              </a:ext>
            </a:extLst>
          </p:cNvPr>
          <p:cNvCxnSpPr>
            <a:cxnSpLocks/>
            <a:stCxn id="6" idx="0"/>
            <a:endCxn id="52" idx="3"/>
          </p:cNvCxnSpPr>
          <p:nvPr/>
        </p:nvCxnSpPr>
        <p:spPr>
          <a:xfrm rot="5400000" flipH="1" flipV="1">
            <a:off x="4025490" y="1478828"/>
            <a:ext cx="542345" cy="1808576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" name="Agrupar 2">
            <a:extLst>
              <a:ext uri="{FF2B5EF4-FFF2-40B4-BE49-F238E27FC236}">
                <a16:creationId xmlns:a16="http://schemas.microsoft.com/office/drawing/2014/main" id="{9D88E4D8-0779-85B3-C3E0-31896CF422B8}"/>
              </a:ext>
            </a:extLst>
          </p:cNvPr>
          <p:cNvGrpSpPr/>
          <p:nvPr/>
        </p:nvGrpSpPr>
        <p:grpSpPr>
          <a:xfrm flipH="1">
            <a:off x="5200950" y="941177"/>
            <a:ext cx="2789887" cy="1771313"/>
            <a:chOff x="2385918" y="2614010"/>
            <a:chExt cx="3005891" cy="1972476"/>
          </a:xfrm>
        </p:grpSpPr>
        <p:pic>
          <p:nvPicPr>
            <p:cNvPr id="52" name="Imagem 51" descr="Câmera fotográfica preta&#10;&#10;O conteúdo gerado por IA pode estar incorreto.">
              <a:extLst>
                <a:ext uri="{FF2B5EF4-FFF2-40B4-BE49-F238E27FC236}">
                  <a16:creationId xmlns:a16="http://schemas.microsoft.com/office/drawing/2014/main" id="{056BA018-F8E1-4875-8438-0F503DB68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666" t="23683" r="13020" b="15224"/>
            <a:stretch>
              <a:fillRect/>
            </a:stretch>
          </p:blipFill>
          <p:spPr>
            <a:xfrm>
              <a:off x="3831621" y="3309175"/>
              <a:ext cx="1560188" cy="1217122"/>
            </a:xfrm>
            <a:prstGeom prst="rect">
              <a:avLst/>
            </a:prstGeom>
          </p:spPr>
        </p:pic>
        <p:cxnSp>
          <p:nvCxnSpPr>
            <p:cNvPr id="61" name="Conector reto 60">
              <a:extLst>
                <a:ext uri="{FF2B5EF4-FFF2-40B4-BE49-F238E27FC236}">
                  <a16:creationId xmlns:a16="http://schemas.microsoft.com/office/drawing/2014/main" id="{FBEAF725-C84F-BE6D-1215-794AB7423C66}"/>
                </a:ext>
              </a:extLst>
            </p:cNvPr>
            <p:cNvCxnSpPr/>
            <p:nvPr/>
          </p:nvCxnSpPr>
          <p:spPr>
            <a:xfrm flipH="1" flipV="1">
              <a:off x="2385918" y="2614010"/>
              <a:ext cx="2015613" cy="825909"/>
            </a:xfrm>
            <a:prstGeom prst="line">
              <a:avLst/>
            </a:prstGeom>
            <a:ln w="28575" cap="flat" cmpd="sng" algn="ctr">
              <a:solidFill>
                <a:srgbClr val="00B0F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2" name="Conector reto 61">
              <a:extLst>
                <a:ext uri="{FF2B5EF4-FFF2-40B4-BE49-F238E27FC236}">
                  <a16:creationId xmlns:a16="http://schemas.microsoft.com/office/drawing/2014/main" id="{59458B4D-B93D-2273-0B4C-884BD15549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7534" y="3760577"/>
              <a:ext cx="2015613" cy="825909"/>
            </a:xfrm>
            <a:prstGeom prst="line">
              <a:avLst/>
            </a:prstGeom>
            <a:ln w="28575" cap="flat" cmpd="sng" algn="ctr">
              <a:solidFill>
                <a:srgbClr val="00B0F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FA0B74EF-2ACB-EC85-B742-175F850A10A2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F96E498C-2EAF-1202-A807-3F7BE93354A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11" name="Google Shape;116;p14">
            <a:extLst>
              <a:ext uri="{FF2B5EF4-FFF2-40B4-BE49-F238E27FC236}">
                <a16:creationId xmlns:a16="http://schemas.microsoft.com/office/drawing/2014/main" id="{3FA621D1-DA2C-0482-88AB-8FB679B0AA27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" name="Chave Direita 26">
            <a:extLst>
              <a:ext uri="{FF2B5EF4-FFF2-40B4-BE49-F238E27FC236}">
                <a16:creationId xmlns:a16="http://schemas.microsoft.com/office/drawing/2014/main" id="{DCF4D2A9-0D91-7924-0E20-210051C356BD}"/>
              </a:ext>
            </a:extLst>
          </p:cNvPr>
          <p:cNvSpPr/>
          <p:nvPr/>
        </p:nvSpPr>
        <p:spPr>
          <a:xfrm>
            <a:off x="4587490" y="3262850"/>
            <a:ext cx="461904" cy="1523835"/>
          </a:xfrm>
          <a:prstGeom prst="rightBrac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4B9DAE19-5BE6-07BF-546C-63E7DD3EE609}"/>
              </a:ext>
            </a:extLst>
          </p:cNvPr>
          <p:cNvSpPr txBox="1"/>
          <p:nvPr/>
        </p:nvSpPr>
        <p:spPr>
          <a:xfrm>
            <a:off x="5200950" y="3853624"/>
            <a:ext cx="1308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Desempenho</a:t>
            </a:r>
          </a:p>
        </p:txBody>
      </p:sp>
      <p:sp>
        <p:nvSpPr>
          <p:cNvPr id="30" name="Chave Direita 29">
            <a:extLst>
              <a:ext uri="{FF2B5EF4-FFF2-40B4-BE49-F238E27FC236}">
                <a16:creationId xmlns:a16="http://schemas.microsoft.com/office/drawing/2014/main" id="{1BA07186-2B53-762B-8315-65BECDC58911}"/>
              </a:ext>
            </a:extLst>
          </p:cNvPr>
          <p:cNvSpPr/>
          <p:nvPr/>
        </p:nvSpPr>
        <p:spPr>
          <a:xfrm>
            <a:off x="4587490" y="4899457"/>
            <a:ext cx="461904" cy="454363"/>
          </a:xfrm>
          <a:prstGeom prst="rightBrac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BE6BA38B-B112-C791-565E-195D4F3BE265}"/>
              </a:ext>
            </a:extLst>
          </p:cNvPr>
          <p:cNvSpPr txBox="1"/>
          <p:nvPr/>
        </p:nvSpPr>
        <p:spPr>
          <a:xfrm>
            <a:off x="5200950" y="4961682"/>
            <a:ext cx="13276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Classificação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E4F1DEA-C6F1-0205-5377-184670DD5210}"/>
              </a:ext>
            </a:extLst>
          </p:cNvPr>
          <p:cNvSpPr txBox="1"/>
          <p:nvPr/>
        </p:nvSpPr>
        <p:spPr>
          <a:xfrm>
            <a:off x="1354162" y="993348"/>
            <a:ext cx="2710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800" b="1" dirty="0"/>
              <a:t>Escolha de Arquitetura</a:t>
            </a:r>
          </a:p>
        </p:txBody>
      </p:sp>
    </p:spTree>
    <p:extLst>
      <p:ext uri="{BB962C8B-B14F-4D97-AF65-F5344CB8AC3E}">
        <p14:creationId xmlns:p14="http://schemas.microsoft.com/office/powerpoint/2010/main" val="6545988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AC22223B-5EC8-FBFE-1C02-702EC7FBC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F5173A08-81C4-FF72-CABD-4B4E96847FDB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193395D7-1AAA-534C-694D-84B3F5077D6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1C8525F-0C07-327F-DF06-2C25A71E858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54832CF4-FC7D-6FB1-3214-A6499240719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FD5B177A-F9CA-198B-3397-C21A12420675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Configuração do Treino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83AE0A2-F5C7-4B4E-8E1A-BB65E22EAF60}"/>
              </a:ext>
            </a:extLst>
          </p:cNvPr>
          <p:cNvSpPr txBox="1"/>
          <p:nvPr/>
        </p:nvSpPr>
        <p:spPr>
          <a:xfrm>
            <a:off x="1354162" y="1175123"/>
            <a:ext cx="7886100" cy="1616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600" b="1" dirty="0"/>
              <a:t>Divisão dos dados: </a:t>
            </a:r>
            <a:r>
              <a:rPr lang="pt-BR" sz="2000" b="1" dirty="0">
                <a:solidFill>
                  <a:srgbClr val="FF0000"/>
                </a:solidFill>
              </a:rPr>
              <a:t>80% treino </a:t>
            </a:r>
            <a:r>
              <a:rPr lang="pt-BR" sz="2000" b="1" dirty="0"/>
              <a:t>/ </a:t>
            </a:r>
            <a:r>
              <a:rPr lang="pt-BR" sz="2000" b="1" dirty="0">
                <a:solidFill>
                  <a:srgbClr val="00B0F0"/>
                </a:solidFill>
              </a:rPr>
              <a:t>20% validação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600" b="1" dirty="0" err="1">
                <a:solidFill>
                  <a:schemeClr val="tx1"/>
                </a:solidFill>
              </a:rPr>
              <a:t>EarlyStopping</a:t>
            </a:r>
            <a:r>
              <a:rPr lang="pt-BR" sz="1600" b="1" dirty="0">
                <a:solidFill>
                  <a:schemeClr val="tx1"/>
                </a:solidFill>
              </a:rPr>
              <a:t>:</a:t>
            </a:r>
            <a:r>
              <a:rPr lang="pt-BR" sz="1600" dirty="0">
                <a:solidFill>
                  <a:schemeClr val="tx1"/>
                </a:solidFill>
              </a:rPr>
              <a:t> monitora </a:t>
            </a:r>
            <a:r>
              <a:rPr lang="pt-BR" sz="1600" i="1" dirty="0" err="1">
                <a:solidFill>
                  <a:schemeClr val="tx1"/>
                </a:solidFill>
              </a:rPr>
              <a:t>val_loss</a:t>
            </a:r>
            <a:r>
              <a:rPr lang="pt-BR" sz="1600" dirty="0">
                <a:solidFill>
                  <a:schemeClr val="tx1"/>
                </a:solidFill>
              </a:rPr>
              <a:t>, </a:t>
            </a:r>
            <a:r>
              <a:rPr lang="pt-BR" sz="1600" dirty="0" err="1">
                <a:solidFill>
                  <a:schemeClr val="tx1"/>
                </a:solidFill>
              </a:rPr>
              <a:t>patience</a:t>
            </a:r>
            <a:r>
              <a:rPr lang="pt-BR" sz="1600" dirty="0">
                <a:solidFill>
                  <a:schemeClr val="tx1"/>
                </a:solidFill>
              </a:rPr>
              <a:t> = 10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600" b="1" dirty="0" err="1">
                <a:solidFill>
                  <a:schemeClr val="tx1"/>
                </a:solidFill>
              </a:rPr>
              <a:t>ReduceLROnPlateau</a:t>
            </a:r>
            <a:r>
              <a:rPr lang="pt-BR" sz="1600" b="1" dirty="0">
                <a:solidFill>
                  <a:schemeClr val="tx1"/>
                </a:solidFill>
              </a:rPr>
              <a:t>:</a:t>
            </a:r>
            <a:r>
              <a:rPr lang="pt-BR" sz="1600" dirty="0">
                <a:solidFill>
                  <a:schemeClr val="tx1"/>
                </a:solidFill>
              </a:rPr>
              <a:t> reduz LR quando validação estagna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600" dirty="0">
                <a:solidFill>
                  <a:schemeClr val="tx1"/>
                </a:solidFill>
              </a:rPr>
              <a:t>Treinamento com limite de até </a:t>
            </a:r>
            <a:r>
              <a:rPr lang="pt-BR" sz="1600" b="1" dirty="0">
                <a:solidFill>
                  <a:schemeClr val="tx1"/>
                </a:solidFill>
              </a:rPr>
              <a:t>150 épocas</a:t>
            </a:r>
            <a:endParaRPr lang="pt-BR" sz="1600" dirty="0">
              <a:solidFill>
                <a:schemeClr val="tx1"/>
              </a:solidFill>
            </a:endParaRP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902C088F-5D80-9D2B-60AF-CC6825142C6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32CD1125-BA4F-5BE5-EE6C-E6ECA4AEA6CD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010793A5-0FEF-6C74-300F-854980AF8ECF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DC53FBC3-E6A7-E183-EEF9-1D58D0FECF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9816" y="3058487"/>
            <a:ext cx="7142267" cy="333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94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2725F95-6A32-1438-28D6-C6DCD36A6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7976D44E-5F7E-9293-BB06-2115775126B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F10DB325-D10E-B71B-4906-3ABEB2C0309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64161B31-8970-3B2A-ACCE-4592F9277D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BDA36E06-8755-7ACC-B2F2-C9012818FBB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E750C4CF-641A-7D65-FBEF-EDF7CC7FDA3C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29F2108A-86B5-BD7B-300B-988E5681BBA1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77F79D37-08E1-F94D-5FC1-9A657D299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9154CBD0-0F1F-5FFE-8DB5-5F0CDD0A28C5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1EA84C5C-F172-7905-78BE-BB850451C2CF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B9DD772B-006B-0D87-5F3B-21FE211EE676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05B8C8D2-FFC6-FC39-6394-1B1D347B962E}"/>
              </a:ext>
            </a:extLst>
          </p:cNvPr>
          <p:cNvSpPr/>
          <p:nvPr/>
        </p:nvSpPr>
        <p:spPr>
          <a:xfrm>
            <a:off x="2511844" y="4809586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074EF72F-661C-9FF4-5C50-752388C8C8C9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7E95E750-FF35-708A-A044-E384BBB284E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1FB69F88-0483-0D41-C17E-6BEF8134D9D3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3313803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345F5A16-283E-0018-E08E-498D6F9E7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163F9F5C-D844-6838-F3AB-A4D0000C6653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34709305-E780-B47B-F4C1-150FF0EB15A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8153C9D6-545C-B25C-FEB8-95F83A9557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B3A44D50-99F6-6044-9E1E-D7E1043BC8F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A52B17FC-1C8C-7842-53E3-AB9B842188E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Quantização</a:t>
            </a:r>
            <a:endParaRPr sz="3000" b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0B7C200-B1A7-C8B7-5546-4D1ECF2FA0B7}"/>
              </a:ext>
            </a:extLst>
          </p:cNvPr>
          <p:cNvSpPr txBox="1"/>
          <p:nvPr/>
        </p:nvSpPr>
        <p:spPr>
          <a:xfrm>
            <a:off x="5458376" y="4757344"/>
            <a:ext cx="36856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4: Comparação Float32 x Int8</a:t>
            </a:r>
          </a:p>
          <a:p>
            <a:r>
              <a:rPr lang="pt-BR" sz="900" dirty="0"/>
              <a:t>Adaptado de: </a:t>
            </a:r>
            <a:r>
              <a:rPr lang="pt-BR" sz="900" b="1" dirty="0" err="1"/>
              <a:t>Semiconductor</a:t>
            </a:r>
            <a:r>
              <a:rPr lang="pt-BR" sz="900" b="1" dirty="0"/>
              <a:t> </a:t>
            </a:r>
            <a:r>
              <a:rPr lang="pt-BR" sz="900" b="1" dirty="0" err="1"/>
              <a:t>Engineering</a:t>
            </a:r>
            <a:endParaRPr lang="pt-BR" sz="900" b="1" dirty="0"/>
          </a:p>
          <a:p>
            <a:r>
              <a:rPr lang="pt-BR" sz="900" dirty="0"/>
              <a:t>https://semiengineering.com/data-formats-for-inference-on-the-edge/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343997-B746-A18D-A56E-D601016EBC4A}"/>
              </a:ext>
            </a:extLst>
          </p:cNvPr>
          <p:cNvSpPr txBox="1"/>
          <p:nvPr/>
        </p:nvSpPr>
        <p:spPr>
          <a:xfrm>
            <a:off x="1354163" y="1035076"/>
            <a:ext cx="7569944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800" b="1" dirty="0"/>
              <a:t>Modelo resultante usa muita memória, pois trabalha com tipo de variável maior (ponto flutuante).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15644CB2-98C9-DFBD-4D5E-335129587B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162" y="2021401"/>
            <a:ext cx="7569944" cy="1074648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E483721-0074-BBDA-8C88-476824D7B3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388" y="4015616"/>
            <a:ext cx="2719490" cy="728297"/>
          </a:xfrm>
          <a:prstGeom prst="rect">
            <a:avLst/>
          </a:prstGeom>
        </p:spPr>
      </p:pic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B81FDB9D-47BB-6F92-7925-88BD08572225}"/>
              </a:ext>
            </a:extLst>
          </p:cNvPr>
          <p:cNvSpPr/>
          <p:nvPr/>
        </p:nvSpPr>
        <p:spPr>
          <a:xfrm>
            <a:off x="4809154" y="3133582"/>
            <a:ext cx="659959" cy="61828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ACD06EC-E187-676E-2CFB-9FD78E25C7AB}"/>
              </a:ext>
            </a:extLst>
          </p:cNvPr>
          <p:cNvSpPr txBox="1"/>
          <p:nvPr/>
        </p:nvSpPr>
        <p:spPr>
          <a:xfrm>
            <a:off x="1546354" y="5510266"/>
            <a:ext cx="713034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pt-BR" sz="1800" b="1" i="1" dirty="0" err="1"/>
              <a:t>TensorFlow</a:t>
            </a:r>
            <a:r>
              <a:rPr lang="pt-BR" sz="1800" b="1" i="1" dirty="0"/>
              <a:t> Lite:</a:t>
            </a:r>
            <a:r>
              <a:rPr lang="pt-BR" sz="1800" i="1" dirty="0"/>
              <a:t> Economia de até 75% no uso de RAM para pesos e ativações.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EEC9CD77-DB5D-9ADB-F2E0-E9241D1B63B8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EBE25749-8E11-BB24-C480-2D44447118F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F376716A-20C0-1B47-E483-08E82878900C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4911343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F9A83891-2B6C-CBD5-0BB5-C97D8396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B1628F8A-5073-7F2C-BBB8-F1CA1B11CCD8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5839A269-77A8-59DE-0C18-5343C58E838D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D34C97BD-AD50-441F-4856-69F4775B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077028C0-AF26-D825-7D8B-AFBFC40927C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31C7C035-DCC9-08FC-3FA0-846231B1C66A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Metodologia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BA3BF636-CB9B-F562-9433-4F87D6250825}"/>
              </a:ext>
            </a:extLst>
          </p:cNvPr>
          <p:cNvGrpSpPr/>
          <p:nvPr/>
        </p:nvGrpSpPr>
        <p:grpSpPr>
          <a:xfrm>
            <a:off x="3487459" y="908100"/>
            <a:ext cx="3758600" cy="5637899"/>
            <a:chOff x="1442350" y="933500"/>
            <a:chExt cx="3758600" cy="5637899"/>
          </a:xfrm>
        </p:grpSpPr>
        <p:pic>
          <p:nvPicPr>
            <p:cNvPr id="17" name="Imagem 16" descr="Diagrama&#10;&#10;O conteúdo gerado por IA pode estar incorreto.">
              <a:extLst>
                <a:ext uri="{FF2B5EF4-FFF2-40B4-BE49-F238E27FC236}">
                  <a16:creationId xmlns:a16="http://schemas.microsoft.com/office/drawing/2014/main" id="{E206D4E9-7581-BED2-A14C-BC8250592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2350" y="933500"/>
              <a:ext cx="3758600" cy="5637899"/>
            </a:xfrm>
            <a:prstGeom prst="rect">
              <a:avLst/>
            </a:prstGeom>
          </p:spPr>
        </p:pic>
        <p:grpSp>
          <p:nvGrpSpPr>
            <p:cNvPr id="33" name="Agrupar 32">
              <a:extLst>
                <a:ext uri="{FF2B5EF4-FFF2-40B4-BE49-F238E27FC236}">
                  <a16:creationId xmlns:a16="http://schemas.microsoft.com/office/drawing/2014/main" id="{5216AC13-E016-30B5-5E19-2A1CEF04EC9E}"/>
                </a:ext>
              </a:extLst>
            </p:cNvPr>
            <p:cNvGrpSpPr/>
            <p:nvPr/>
          </p:nvGrpSpPr>
          <p:grpSpPr>
            <a:xfrm>
              <a:off x="3731299" y="2485399"/>
              <a:ext cx="45360" cy="19800"/>
              <a:chOff x="3731299" y="2485399"/>
              <a:chExt cx="4536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Tinta 30">
                    <a:extLst>
                      <a:ext uri="{FF2B5EF4-FFF2-40B4-BE49-F238E27FC236}">
                        <a16:creationId xmlns:a16="http://schemas.microsoft.com/office/drawing/2014/main" id="{08420BC1-A8DA-F15D-5DF8-7DE1677113C6}"/>
                      </a:ext>
                    </a:extLst>
                  </p14:cNvPr>
                  <p14:cNvContentPartPr/>
                  <p14:nvPr/>
                </p14:nvContentPartPr>
                <p14:xfrm>
                  <a:off x="3731299" y="2485399"/>
                  <a:ext cx="45360" cy="14040"/>
                </p14:xfrm>
              </p:contentPart>
            </mc:Choice>
            <mc:Fallback xmlns="">
              <p:pic>
                <p:nvPicPr>
                  <p:cNvPr id="31" name="Tinta 30">
                    <a:extLst>
                      <a:ext uri="{FF2B5EF4-FFF2-40B4-BE49-F238E27FC236}">
                        <a16:creationId xmlns:a16="http://schemas.microsoft.com/office/drawing/2014/main" id="{B6A21800-4B77-F01F-B275-9A2C37718F57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726979" y="2481079"/>
                    <a:ext cx="54000" cy="22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2" name="Tinta 31">
                    <a:extLst>
                      <a:ext uri="{FF2B5EF4-FFF2-40B4-BE49-F238E27FC236}">
                        <a16:creationId xmlns:a16="http://schemas.microsoft.com/office/drawing/2014/main" id="{161A1312-0D38-C4F8-C927-D898F68F06BF}"/>
                      </a:ext>
                    </a:extLst>
                  </p14:cNvPr>
                  <p14:cNvContentPartPr/>
                  <p14:nvPr/>
                </p14:nvContentPartPr>
                <p14:xfrm>
                  <a:off x="3731299" y="2495839"/>
                  <a:ext cx="28800" cy="9360"/>
                </p14:xfrm>
              </p:contentPart>
            </mc:Choice>
            <mc:Fallback xmlns="">
              <p:pic>
                <p:nvPicPr>
                  <p:cNvPr id="32" name="Tinta 31">
                    <a:extLst>
                      <a:ext uri="{FF2B5EF4-FFF2-40B4-BE49-F238E27FC236}">
                        <a16:creationId xmlns:a16="http://schemas.microsoft.com/office/drawing/2014/main" id="{8F804219-FC01-7FF1-CE7B-2A917B022C23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726979" y="2491519"/>
                    <a:ext cx="3744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5" name="Seta: para a Direita 34">
            <a:extLst>
              <a:ext uri="{FF2B5EF4-FFF2-40B4-BE49-F238E27FC236}">
                <a16:creationId xmlns:a16="http://schemas.microsoft.com/office/drawing/2014/main" id="{3D8CA7C0-93E4-3D49-2872-7CDA388AB111}"/>
              </a:ext>
            </a:extLst>
          </p:cNvPr>
          <p:cNvSpPr/>
          <p:nvPr/>
        </p:nvSpPr>
        <p:spPr>
          <a:xfrm>
            <a:off x="2487990" y="5448454"/>
            <a:ext cx="1319100" cy="501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AQUI!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18DE16CF-7158-8C68-A524-A5FCE91E1FF9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8B5DCD3A-21E3-78AD-496F-AE1F095B2B09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CC2C8211-39A3-6178-14A5-9722A21F84D1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779406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70C4BAF4-F556-9E74-20DD-87AA85C9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>
            <a:extLst>
              <a:ext uri="{FF2B5EF4-FFF2-40B4-BE49-F238E27FC236}">
                <a16:creationId xmlns:a16="http://schemas.microsoft.com/office/drawing/2014/main" id="{93BB709F-D4DE-9E95-24D2-5B4A5C9DE6C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6">
            <a:extLst>
              <a:ext uri="{FF2B5EF4-FFF2-40B4-BE49-F238E27FC236}">
                <a16:creationId xmlns:a16="http://schemas.microsoft.com/office/drawing/2014/main" id="{DB499E33-549E-3A6B-ADB7-111545C0B71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4" name="Google Shape;154;p16">
            <a:extLst>
              <a:ext uri="{FF2B5EF4-FFF2-40B4-BE49-F238E27FC236}">
                <a16:creationId xmlns:a16="http://schemas.microsoft.com/office/drawing/2014/main" id="{868DC7F6-7A89-C10E-CFD3-F72106AE39A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>
            <a:extLst>
              <a:ext uri="{FF2B5EF4-FFF2-40B4-BE49-F238E27FC236}">
                <a16:creationId xmlns:a16="http://schemas.microsoft.com/office/drawing/2014/main" id="{36819DF2-11EF-5AB5-22F5-FC777F578B1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>
            <a:extLst>
              <a:ext uri="{FF2B5EF4-FFF2-40B4-BE49-F238E27FC236}">
                <a16:creationId xmlns:a16="http://schemas.microsoft.com/office/drawing/2014/main" id="{46AFED10-BAB1-D764-1DF3-B4ED0857EB00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Implementação no Hardware</a:t>
            </a:r>
            <a:endParaRPr sz="3000" b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D6583D0-58D0-9833-221B-C3DBFD23C3A3}"/>
              </a:ext>
            </a:extLst>
          </p:cNvPr>
          <p:cNvSpPr txBox="1"/>
          <p:nvPr/>
        </p:nvSpPr>
        <p:spPr>
          <a:xfrm>
            <a:off x="1398618" y="3945713"/>
            <a:ext cx="36856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Figura 5: </a:t>
            </a:r>
            <a:r>
              <a:rPr lang="pt-BR" dirty="0" err="1"/>
              <a:t>Raspberry</a:t>
            </a:r>
            <a:r>
              <a:rPr lang="pt-BR" dirty="0"/>
              <a:t> Pi 3 B+</a:t>
            </a:r>
          </a:p>
          <a:p>
            <a:r>
              <a:rPr lang="pt-BR" sz="900" dirty="0"/>
              <a:t>Fonte: </a:t>
            </a:r>
            <a:r>
              <a:rPr lang="pt-BR" sz="900" b="1" dirty="0" err="1"/>
              <a:t>Raspberry</a:t>
            </a:r>
            <a:r>
              <a:rPr lang="pt-BR" sz="900" b="1" dirty="0"/>
              <a:t> Pi</a:t>
            </a:r>
          </a:p>
          <a:p>
            <a:r>
              <a:rPr lang="pt-BR" sz="900" dirty="0"/>
              <a:t>https://www.raspberrypi.com/products/raspberry-pi-3-model-b-plus/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5151E8F-7AF3-AC5A-C926-B4A14F3801CA}"/>
              </a:ext>
            </a:extLst>
          </p:cNvPr>
          <p:cNvSpPr txBox="1"/>
          <p:nvPr/>
        </p:nvSpPr>
        <p:spPr>
          <a:xfrm>
            <a:off x="1299895" y="5842454"/>
            <a:ext cx="6199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800" b="1" dirty="0"/>
              <a:t> </a:t>
            </a:r>
            <a:r>
              <a:rPr lang="pt-BR" sz="1800" b="1" dirty="0" err="1"/>
              <a:t>Raspiberry</a:t>
            </a:r>
            <a:r>
              <a:rPr lang="pt-BR" sz="1800" b="1" dirty="0"/>
              <a:t> Pi OS + Python + </a:t>
            </a:r>
            <a:r>
              <a:rPr lang="pt-BR" sz="1800" b="1" dirty="0" err="1"/>
              <a:t>TensorFlow</a:t>
            </a:r>
            <a:r>
              <a:rPr lang="pt-BR" sz="1800" b="1" dirty="0"/>
              <a:t> Lite Runtime</a:t>
            </a:r>
          </a:p>
        </p:txBody>
      </p:sp>
      <p:pic>
        <p:nvPicPr>
          <p:cNvPr id="4" name="Imagem 3" descr="Uma imagem contendo eletrônico, circuito&#10;&#10;O conteúdo gerado por IA pode estar incorreto.">
            <a:extLst>
              <a:ext uri="{FF2B5EF4-FFF2-40B4-BE49-F238E27FC236}">
                <a16:creationId xmlns:a16="http://schemas.microsoft.com/office/drawing/2014/main" id="{3D4D8851-4006-A51B-E158-BD09A57891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32" r="7440"/>
          <a:stretch>
            <a:fillRect/>
          </a:stretch>
        </p:blipFill>
        <p:spPr>
          <a:xfrm>
            <a:off x="1398618" y="1079323"/>
            <a:ext cx="3541631" cy="2661037"/>
          </a:xfrm>
          <a:prstGeom prst="rect">
            <a:avLst/>
          </a:prstGeom>
        </p:spPr>
      </p:pic>
      <p:pic>
        <p:nvPicPr>
          <p:cNvPr id="7" name="Imagem 6" descr="Câmera fotográfica preta&#10;&#10;O conteúdo gerado por IA pode estar incorreto.">
            <a:extLst>
              <a:ext uri="{FF2B5EF4-FFF2-40B4-BE49-F238E27FC236}">
                <a16:creationId xmlns:a16="http://schemas.microsoft.com/office/drawing/2014/main" id="{DBC21418-A6C2-1EC5-ADE1-55E95987EF8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14" t="21919" r="14836" b="16592"/>
          <a:stretch>
            <a:fillRect/>
          </a:stretch>
        </p:blipFill>
        <p:spPr>
          <a:xfrm>
            <a:off x="5434940" y="1079322"/>
            <a:ext cx="3217641" cy="266103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AF62531-101B-4663-E063-3A9F6E4CE463}"/>
              </a:ext>
            </a:extLst>
          </p:cNvPr>
          <p:cNvSpPr txBox="1"/>
          <p:nvPr/>
        </p:nvSpPr>
        <p:spPr>
          <a:xfrm>
            <a:off x="5084242" y="3965456"/>
            <a:ext cx="391903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Figura 6: Webcam USB Genérica</a:t>
            </a:r>
          </a:p>
          <a:p>
            <a:r>
              <a:rPr lang="pt-BR" sz="900" dirty="0"/>
              <a:t>Fonte: </a:t>
            </a:r>
            <a:r>
              <a:rPr lang="pt-BR" sz="900" b="1" dirty="0"/>
              <a:t>Cirilo Cabos</a:t>
            </a:r>
          </a:p>
          <a:p>
            <a:r>
              <a:rPr lang="pt-BR" sz="900" dirty="0"/>
              <a:t>https://www.cirilocabos.com.br/webcam-full-hd-1080-p-usb-301/p?srsltid=AfmBOoqvf-BX8MzpcmCMz30q90Dy-A1tzHnQ2163zNNkpnoddoXAnFC0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0DB2D185-A603-D321-821F-D5EEE9822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8364" y="4755584"/>
            <a:ext cx="3996112" cy="8720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 ARM Cortex-A53 (1.4 GHz)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GB RAM</a:t>
            </a:r>
          </a:p>
        </p:txBody>
      </p:sp>
      <p:sp>
        <p:nvSpPr>
          <p:cNvPr id="3" name="Google Shape;113;p14">
            <a:extLst>
              <a:ext uri="{FF2B5EF4-FFF2-40B4-BE49-F238E27FC236}">
                <a16:creationId xmlns:a16="http://schemas.microsoft.com/office/drawing/2014/main" id="{739E2585-4271-E55C-241B-C2DA7789F89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5;p14">
            <a:extLst>
              <a:ext uri="{FF2B5EF4-FFF2-40B4-BE49-F238E27FC236}">
                <a16:creationId xmlns:a16="http://schemas.microsoft.com/office/drawing/2014/main" id="{E03F70B3-E062-8EF6-7095-4FBC18955A3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10" name="Google Shape;116;p14">
            <a:extLst>
              <a:ext uri="{FF2B5EF4-FFF2-40B4-BE49-F238E27FC236}">
                <a16:creationId xmlns:a16="http://schemas.microsoft.com/office/drawing/2014/main" id="{CCA76CF3-3D7C-399F-1B3C-F8CBCD6B97D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544900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EA92046E-97D9-4F7B-912F-7BCE6553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9919D5A-2049-5D31-9E34-8E73D3F30841}"/>
              </a:ext>
            </a:extLst>
          </p:cNvPr>
          <p:cNvSpPr/>
          <p:nvPr/>
        </p:nvSpPr>
        <p:spPr>
          <a:xfrm>
            <a:off x="1045363" y="742949"/>
            <a:ext cx="8098637" cy="604681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E4419105-1CD7-F1DC-6D73-A79D2E5F8B04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AF43FAC5-1646-E03D-81C8-373A3B7D3B4E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2C28391A-C1AA-6E3C-121A-754D9A4D66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A546E5F7-D70E-B0E5-7580-276B5362D4C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E32C6526-BB37-67DF-D465-6D981B6F87DD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3200"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Implementação no Hardware</a:t>
            </a:r>
          </a:p>
        </p:txBody>
      </p:sp>
      <p:pic>
        <p:nvPicPr>
          <p:cNvPr id="3" name="Imagem 2" descr="Uma imagem contendo no interior, edifício, piso, pequeno&#10;&#10;O conteúdo gerado por IA pode estar incorreto.">
            <a:extLst>
              <a:ext uri="{FF2B5EF4-FFF2-40B4-BE49-F238E27FC236}">
                <a16:creationId xmlns:a16="http://schemas.microsoft.com/office/drawing/2014/main" id="{D5F449A2-C3BC-2498-DB31-7701ED5677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908100"/>
            <a:ext cx="4248150" cy="5656079"/>
          </a:xfrm>
          <a:prstGeom prst="rect">
            <a:avLst/>
          </a:prstGeom>
        </p:spPr>
      </p:pic>
      <p:sp>
        <p:nvSpPr>
          <p:cNvPr id="4" name="Google Shape;113;p14">
            <a:extLst>
              <a:ext uri="{FF2B5EF4-FFF2-40B4-BE49-F238E27FC236}">
                <a16:creationId xmlns:a16="http://schemas.microsoft.com/office/drawing/2014/main" id="{A0F5ED34-32F5-98F2-B1D9-5EF35725CF64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5;p14">
            <a:extLst>
              <a:ext uri="{FF2B5EF4-FFF2-40B4-BE49-F238E27FC236}">
                <a16:creationId xmlns:a16="http://schemas.microsoft.com/office/drawing/2014/main" id="{F4DAD104-032F-F70B-7B6D-88D62081C112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6" name="Google Shape;116;p14">
            <a:extLst>
              <a:ext uri="{FF2B5EF4-FFF2-40B4-BE49-F238E27FC236}">
                <a16:creationId xmlns:a16="http://schemas.microsoft.com/office/drawing/2014/main" id="{62C0036B-4E29-C25C-4CBD-A78BC5901B9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20129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1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1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B3CAFE0E-E1F7-8F16-0CB8-E28379AD16D0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5;p14">
            <a:extLst>
              <a:ext uri="{FF2B5EF4-FFF2-40B4-BE49-F238E27FC236}">
                <a16:creationId xmlns:a16="http://schemas.microsoft.com/office/drawing/2014/main" id="{33BFB676-2524-CAF4-33DC-B63291206CB8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4" name="Google Shape;116;p14">
            <a:extLst>
              <a:ext uri="{FF2B5EF4-FFF2-40B4-BE49-F238E27FC236}">
                <a16:creationId xmlns:a16="http://schemas.microsoft.com/office/drawing/2014/main" id="{0BBEEC4D-3073-78A5-E7CE-4EB410126DBF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C508548B-32DB-9572-45AB-78A390CA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7BEBA95D-B6D6-95FA-323B-A3AB4905B42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6B24CC51-5787-5EB5-3AAF-21C873997E45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482BCE4F-DDFA-8E57-BC23-3DFAA5AA97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D6B024C5-AD10-BCD8-BE7E-6EDE3A6DD00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5D281258-F589-C470-BA59-742F2835426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0E6B502F-7B94-C06E-0E73-44377AFB9B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551" y="1137589"/>
            <a:ext cx="5868120" cy="5254728"/>
          </a:xfrm>
          <a:prstGeom prst="rect">
            <a:avLst/>
          </a:prstGeom>
        </p:spPr>
      </p:pic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15A22C4F-95E1-2528-B608-0B18D3E284C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F7992767-82B7-CEBA-81E7-B8197775F777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5DAD790E-AAC0-6575-66BB-86300CF2D929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7508047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739A0EA-B544-B9CC-BB48-B8EE22AFAB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254" y="2106312"/>
            <a:ext cx="7705746" cy="2645375"/>
          </a:xfrm>
          <a:prstGeom prst="rect">
            <a:avLst/>
          </a:prstGeom>
        </p:spPr>
      </p:pic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0A4357D8-4128-27E3-7081-4E71D48E2003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5;p14">
            <a:extLst>
              <a:ext uri="{FF2B5EF4-FFF2-40B4-BE49-F238E27FC236}">
                <a16:creationId xmlns:a16="http://schemas.microsoft.com/office/drawing/2014/main" id="{EE3C2C43-9B23-548E-47CA-3AECAFE04A46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4" name="Google Shape;116;p14">
            <a:extLst>
              <a:ext uri="{FF2B5EF4-FFF2-40B4-BE49-F238E27FC236}">
                <a16:creationId xmlns:a16="http://schemas.microsoft.com/office/drawing/2014/main" id="{0DFA11A9-9AD6-34DC-CAA1-EA8D0744916F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1DB3E211-5B37-D1A5-373E-1EFAABE06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53FB6F0E-5F61-455C-B41F-5D6A1C731BC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BE9680C5-DE42-76B0-EA13-2337C36286E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5DDF6AA7-A760-B5C4-C735-99106205E10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E952F191-99F5-93E6-A62C-4CA5AF7229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9A6FF0E0-E44E-D55E-E5AC-57405A977508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Resultados do treinamento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Gráfico, Diagrama&#10;&#10;O conteúdo gerado por IA pode estar incorreto.">
            <a:extLst>
              <a:ext uri="{FF2B5EF4-FFF2-40B4-BE49-F238E27FC236}">
                <a16:creationId xmlns:a16="http://schemas.microsoft.com/office/drawing/2014/main" id="{42E7044D-1309-E459-0900-8F267D8B9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976338"/>
            <a:ext cx="7886100" cy="5462605"/>
          </a:xfrm>
          <a:prstGeom prst="rect">
            <a:avLst/>
          </a:prstGeom>
        </p:spPr>
      </p:pic>
      <p:sp>
        <p:nvSpPr>
          <p:cNvPr id="6" name="Google Shape;113;p14">
            <a:extLst>
              <a:ext uri="{FF2B5EF4-FFF2-40B4-BE49-F238E27FC236}">
                <a16:creationId xmlns:a16="http://schemas.microsoft.com/office/drawing/2014/main" id="{5B3B0F6D-C9B3-7DA8-BB71-04BC2FD92D79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15;p14">
            <a:extLst>
              <a:ext uri="{FF2B5EF4-FFF2-40B4-BE49-F238E27FC236}">
                <a16:creationId xmlns:a16="http://schemas.microsoft.com/office/drawing/2014/main" id="{676CDFB4-C144-CA62-B2D0-B2C5948687E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8" name="Google Shape;116;p14">
            <a:extLst>
              <a:ext uri="{FF2B5EF4-FFF2-40B4-BE49-F238E27FC236}">
                <a16:creationId xmlns:a16="http://schemas.microsoft.com/office/drawing/2014/main" id="{876874C5-192E-CD89-065C-589A32288DC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8583136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8A1F3F71-8676-1AD1-57B5-6C4F6F7FC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>
            <a:extLst>
              <a:ext uri="{FF2B5EF4-FFF2-40B4-BE49-F238E27FC236}">
                <a16:creationId xmlns:a16="http://schemas.microsoft.com/office/drawing/2014/main" id="{E2F41844-94DA-F349-3AA0-04C9BFB2989F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1">
            <a:extLst>
              <a:ext uri="{FF2B5EF4-FFF2-40B4-BE49-F238E27FC236}">
                <a16:creationId xmlns:a16="http://schemas.microsoft.com/office/drawing/2014/main" id="{4B417A66-A5A3-ECE9-490A-62E1E736B992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21">
            <a:extLst>
              <a:ext uri="{FF2B5EF4-FFF2-40B4-BE49-F238E27FC236}">
                <a16:creationId xmlns:a16="http://schemas.microsoft.com/office/drawing/2014/main" id="{B60A2C86-8B0B-7F60-490D-8EF0C3B6B2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>
            <a:extLst>
              <a:ext uri="{FF2B5EF4-FFF2-40B4-BE49-F238E27FC236}">
                <a16:creationId xmlns:a16="http://schemas.microsoft.com/office/drawing/2014/main" id="{923A822E-09CA-2072-98F1-8A41CE09B18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1">
            <a:extLst>
              <a:ext uri="{FF2B5EF4-FFF2-40B4-BE49-F238E27FC236}">
                <a16:creationId xmlns:a16="http://schemas.microsoft.com/office/drawing/2014/main" id="{5B2A508F-CC37-A407-D824-279BE0602B89}"/>
              </a:ext>
            </a:extLst>
          </p:cNvPr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dirty="0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557491E5-3BE3-8AC4-A1B9-0E570A0B9E2B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5;p14">
            <a:extLst>
              <a:ext uri="{FF2B5EF4-FFF2-40B4-BE49-F238E27FC236}">
                <a16:creationId xmlns:a16="http://schemas.microsoft.com/office/drawing/2014/main" id="{13C45B27-52D2-C50A-C19D-EE99D219355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4" name="Google Shape;116;p14">
            <a:extLst>
              <a:ext uri="{FF2B5EF4-FFF2-40B4-BE49-F238E27FC236}">
                <a16:creationId xmlns:a16="http://schemas.microsoft.com/office/drawing/2014/main" id="{834921A5-F756-5B3E-3AED-230984C7A62C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13460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39A97048-F7F5-23E0-130D-A2004C1C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18995837-452A-84C9-66CF-2B50DFE88450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FA7CBDF2-B8C7-8B5B-2D38-6EDAF3C9B70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C288905A-2783-8C75-83A9-3F3E7D23490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CCE1327E-63B7-9566-6A11-261DEA32AC5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8DF2AFB8-564C-C7AB-1ECA-303356D11C48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" name="Imagem 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257ECA43-AF10-2EF4-0E62-0D4805A8B2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297927"/>
            <a:ext cx="7886100" cy="4928813"/>
          </a:xfrm>
          <a:prstGeom prst="rect">
            <a:avLst/>
          </a:prstGeom>
        </p:spPr>
      </p:pic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EB97F95F-583F-EFC2-7FA3-B0053E6E950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5;p14">
            <a:extLst>
              <a:ext uri="{FF2B5EF4-FFF2-40B4-BE49-F238E27FC236}">
                <a16:creationId xmlns:a16="http://schemas.microsoft.com/office/drawing/2014/main" id="{5466D55D-86CB-7EF4-6EDD-E98A581BA208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63528A33-E009-4AB1-E9A0-9AAA2BD45754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7697008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EF13A2C1-62DC-F531-BE6E-8382EF3B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4D65F826-E7B1-4F7B-5838-57A566EF668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448EAD90-A3EB-5A4C-44E1-DC5F13290A5F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0C0A4491-EE15-C962-7004-B022CF3DBC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5CC4B200-A5C3-2059-D79B-AC9467EC30B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75A90E80-2209-AC5B-946D-970DADC7A857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D16CAA6-5EA9-45EF-600F-7ADAE4A503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1" y="1263172"/>
            <a:ext cx="7886100" cy="4928813"/>
          </a:xfrm>
          <a:prstGeom prst="rect">
            <a:avLst/>
          </a:prstGeom>
        </p:spPr>
      </p:pic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A8E77797-66BC-322E-3453-350B3D212085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E81E652D-2ABD-6CA5-68B7-F0D142363702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99BB028D-AA47-A3FF-8598-3757FE72840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8618904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EE28519D-3946-1E4E-A197-5F61715A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499D74D7-D2D6-851D-F809-6AE20A69BA8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66CEDB76-974D-0A9A-536A-9CEB05A3A8B4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BC8B412E-BDE8-DD37-2B56-5273A2F161E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C441E6D3-781C-CBEC-3E1F-85F241B9CF4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EF5BEEB0-E325-5DE1-AA7C-99E7750EBE8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22C95610-BCA0-73A2-DB9B-3214704B7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235345"/>
            <a:ext cx="7886100" cy="4928812"/>
          </a:xfrm>
          <a:prstGeom prst="rect">
            <a:avLst/>
          </a:prstGeom>
        </p:spPr>
      </p:pic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0F82DB25-DE67-EA0C-9A8A-9764A1EAEFC3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B318BE8B-E4BB-3418-F01A-ADAE00971D0B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860A9201-A44D-95CE-60DC-88EFDFCEB07D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628515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B57B03F4-4A00-B6C7-CE9A-E281743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9C0F0C28-67EB-E58F-7C11-26FF6EBE551D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402D243D-D420-EC14-756D-C6BC45A41C79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2F8B3891-0416-9F5E-03EC-2379D907FA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8E6DFECA-288C-661D-5AA9-325415FE8DE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9BC291A2-91FD-31A7-8925-9276A2EE54F9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Ensaios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Imagem 2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9B58CD67-F023-973F-55BE-904D98387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900" y="1342686"/>
            <a:ext cx="7886100" cy="4928813"/>
          </a:xfrm>
          <a:prstGeom prst="rect">
            <a:avLst/>
          </a:prstGeom>
        </p:spPr>
      </p:pic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AAE69733-A415-61C8-D1C4-7C6FC380B80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DD64B3B7-32C7-4852-7111-F9474DC80585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DB3CF8BA-9C13-E019-38EC-D35351281A47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3002931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>
          <a:extLst>
            <a:ext uri="{FF2B5EF4-FFF2-40B4-BE49-F238E27FC236}">
              <a16:creationId xmlns:a16="http://schemas.microsoft.com/office/drawing/2014/main" id="{19629EF6-B4DA-7AB9-3A9A-98B7CB6AF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2">
            <a:extLst>
              <a:ext uri="{FF2B5EF4-FFF2-40B4-BE49-F238E27FC236}">
                <a16:creationId xmlns:a16="http://schemas.microsoft.com/office/drawing/2014/main" id="{91555B3D-5381-36D3-E313-D3761DC3B076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2">
            <a:extLst>
              <a:ext uri="{FF2B5EF4-FFF2-40B4-BE49-F238E27FC236}">
                <a16:creationId xmlns:a16="http://schemas.microsoft.com/office/drawing/2014/main" id="{D45B7828-F602-A812-FB6F-2401B991C7BB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4" name="Google Shape;264;p22">
            <a:extLst>
              <a:ext uri="{FF2B5EF4-FFF2-40B4-BE49-F238E27FC236}">
                <a16:creationId xmlns:a16="http://schemas.microsoft.com/office/drawing/2014/main" id="{A5B061C1-2F1A-F77C-2EDB-D8D0DB888C2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2">
            <a:extLst>
              <a:ext uri="{FF2B5EF4-FFF2-40B4-BE49-F238E27FC236}">
                <a16:creationId xmlns:a16="http://schemas.microsoft.com/office/drawing/2014/main" id="{F86C6441-900E-CDAB-7D2D-56082F8338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>
            <a:extLst>
              <a:ext uri="{FF2B5EF4-FFF2-40B4-BE49-F238E27FC236}">
                <a16:creationId xmlns:a16="http://schemas.microsoft.com/office/drawing/2014/main" id="{52AEA778-3FDB-0BE6-9B24-DBEC689C8B63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Comparativo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FD012636-3D2D-3538-52EE-16801AC3B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41974"/>
              </p:ext>
            </p:extLst>
          </p:nvPr>
        </p:nvGraphicFramePr>
        <p:xfrm>
          <a:off x="1389504" y="1529064"/>
          <a:ext cx="7673009" cy="3196422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2478046">
                  <a:extLst>
                    <a:ext uri="{9D8B030D-6E8A-4147-A177-3AD203B41FA5}">
                      <a16:colId xmlns:a16="http://schemas.microsoft.com/office/drawing/2014/main" val="2959689637"/>
                    </a:ext>
                  </a:extLst>
                </a:gridCol>
                <a:gridCol w="2353968">
                  <a:extLst>
                    <a:ext uri="{9D8B030D-6E8A-4147-A177-3AD203B41FA5}">
                      <a16:colId xmlns:a16="http://schemas.microsoft.com/office/drawing/2014/main" val="3465590992"/>
                    </a:ext>
                  </a:extLst>
                </a:gridCol>
                <a:gridCol w="2840995">
                  <a:extLst>
                    <a:ext uri="{9D8B030D-6E8A-4147-A177-3AD203B41FA5}">
                      <a16:colId xmlns:a16="http://schemas.microsoft.com/office/drawing/2014/main" val="511963040"/>
                    </a:ext>
                  </a:extLst>
                </a:gridCol>
              </a:tblGrid>
              <a:tr h="5937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CARACTERÍSTICA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MELHOR MODELO DO ARTIGO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MODELO DESTE TCC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39209235"/>
                  </a:ext>
                </a:extLst>
              </a:tr>
              <a:tr h="59376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Resolução das imagens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524 × 524 </a:t>
                      </a:r>
                      <a:r>
                        <a:rPr lang="pt-BR" sz="1600" u="none" strike="noStrike" dirty="0" err="1">
                          <a:effectLst/>
                        </a:rPr>
                        <a:t>px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224 × 224 </a:t>
                      </a:r>
                      <a:r>
                        <a:rPr lang="pt-BR" sz="1600" u="none" strike="noStrike" dirty="0" err="1">
                          <a:effectLst/>
                        </a:rPr>
                        <a:t>px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5360599"/>
                  </a:ext>
                </a:extLst>
              </a:tr>
              <a:tr h="6258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Arquitetura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InceptionV3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MobileNetV2</a:t>
                      </a:r>
                      <a:endParaRPr lang="pt-BR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19186145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Acurácia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89,19%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68%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71918815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Precisão (</a:t>
                      </a:r>
                      <a:r>
                        <a:rPr lang="pt-BR" sz="1600" b="1" u="none" strike="noStrike" dirty="0" err="1">
                          <a:effectLst/>
                        </a:rPr>
                        <a:t>Precision</a:t>
                      </a:r>
                      <a:r>
                        <a:rPr lang="pt-BR" sz="1600" b="1" u="none" strike="noStrike" dirty="0">
                          <a:effectLst/>
                        </a:rPr>
                        <a:t>)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>
                          <a:effectLst/>
                        </a:rPr>
                        <a:t>91,34%</a:t>
                      </a:r>
                      <a:endParaRPr lang="pt-BR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69%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58109699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Sensibilidade (Recall)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>
                          <a:effectLst/>
                        </a:rPr>
                        <a:t>87,73%</a:t>
                      </a:r>
                      <a:endParaRPr lang="pt-BR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68%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003602"/>
                  </a:ext>
                </a:extLst>
              </a:tr>
              <a:tr h="3457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600" b="1" u="none" strike="noStrike" dirty="0">
                          <a:effectLst/>
                        </a:rPr>
                        <a:t>F1-score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>
                          <a:effectLst/>
                        </a:rPr>
                        <a:t>90,25%</a:t>
                      </a:r>
                      <a:endParaRPr lang="pt-BR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u="none" strike="noStrike" dirty="0">
                          <a:effectLst/>
                        </a:rPr>
                        <a:t>≈ 68%</a:t>
                      </a:r>
                      <a:endParaRPr lang="pt-BR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0091774"/>
                  </a:ext>
                </a:extLst>
              </a:tr>
            </a:tbl>
          </a:graphicData>
        </a:graphic>
      </p:graphicFrame>
      <p:sp>
        <p:nvSpPr>
          <p:cNvPr id="12" name="CaixaDeTexto 11">
            <a:extLst>
              <a:ext uri="{FF2B5EF4-FFF2-40B4-BE49-F238E27FC236}">
                <a16:creationId xmlns:a16="http://schemas.microsoft.com/office/drawing/2014/main" id="{97C65B73-C0CD-EB5D-E56D-2EDEB389FFDE}"/>
              </a:ext>
            </a:extLst>
          </p:cNvPr>
          <p:cNvSpPr txBox="1"/>
          <p:nvPr/>
        </p:nvSpPr>
        <p:spPr>
          <a:xfrm>
            <a:off x="1354162" y="4944513"/>
            <a:ext cx="7999582" cy="568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100" b="1" dirty="0"/>
              <a:t>Fonte do repositório:</a:t>
            </a:r>
            <a:endParaRPr lang="pt-BR" sz="11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/>
              <a:t>UCI Machine Learning </a:t>
            </a:r>
            <a:r>
              <a:rPr lang="pt-BR" sz="1100" dirty="0" err="1"/>
              <a:t>Repository</a:t>
            </a:r>
            <a:r>
              <a:rPr lang="pt-BR" sz="1100" dirty="0"/>
              <a:t> — </a:t>
            </a:r>
            <a:r>
              <a:rPr lang="pt-BR" sz="1100" dirty="0" err="1"/>
              <a:t>RealWaste</a:t>
            </a:r>
            <a:r>
              <a:rPr lang="pt-BR" sz="1100" dirty="0"/>
              <a:t> </a:t>
            </a:r>
            <a:r>
              <a:rPr lang="pt-BR" sz="1100" dirty="0" err="1"/>
              <a:t>Dataset</a:t>
            </a:r>
            <a:r>
              <a:rPr lang="pt-BR" sz="1100" dirty="0"/>
              <a:t> </a:t>
            </a:r>
            <a:r>
              <a:rPr lang="pt-BR" sz="1100" i="1" dirty="0"/>
              <a:t>(Single; </a:t>
            </a:r>
            <a:r>
              <a:rPr lang="pt-BR" sz="1100" i="1" dirty="0" err="1"/>
              <a:t>Iranmanesh</a:t>
            </a:r>
            <a:r>
              <a:rPr lang="pt-BR" sz="1100" i="1" dirty="0"/>
              <a:t>; Raad, 2023a)</a:t>
            </a:r>
            <a:endParaRPr lang="pt-BR" sz="1100" dirty="0"/>
          </a:p>
        </p:txBody>
      </p:sp>
      <p:sp>
        <p:nvSpPr>
          <p:cNvPr id="5" name="Google Shape;113;p14">
            <a:extLst>
              <a:ext uri="{FF2B5EF4-FFF2-40B4-BE49-F238E27FC236}">
                <a16:creationId xmlns:a16="http://schemas.microsoft.com/office/drawing/2014/main" id="{9EC8B8C3-DFD6-C670-E055-5ED66DA71D32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5;p14">
            <a:extLst>
              <a:ext uri="{FF2B5EF4-FFF2-40B4-BE49-F238E27FC236}">
                <a16:creationId xmlns:a16="http://schemas.microsoft.com/office/drawing/2014/main" id="{23F97BF4-C8AE-B2D6-2FBE-5F061EA5834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7" name="Google Shape;116;p14">
            <a:extLst>
              <a:ext uri="{FF2B5EF4-FFF2-40B4-BE49-F238E27FC236}">
                <a16:creationId xmlns:a16="http://schemas.microsoft.com/office/drawing/2014/main" id="{D00A3EAA-034B-74E4-E187-787E1BA8DCD8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101025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4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24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6" name="Google Shape;2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4"/>
          <p:cNvSpPr/>
          <p:nvPr/>
        </p:nvSpPr>
        <p:spPr>
          <a:xfrm>
            <a:off x="1638888" y="2974950"/>
            <a:ext cx="7124100" cy="9081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8C27D584-8537-E14D-6F25-646F69502D0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15;p14">
            <a:extLst>
              <a:ext uri="{FF2B5EF4-FFF2-40B4-BE49-F238E27FC236}">
                <a16:creationId xmlns:a16="http://schemas.microsoft.com/office/drawing/2014/main" id="{4DD272FB-54EA-D53E-B910-3428CBE534BE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4" name="Google Shape;116;p14">
            <a:extLst>
              <a:ext uri="{FF2B5EF4-FFF2-40B4-BE49-F238E27FC236}">
                <a16:creationId xmlns:a16="http://schemas.microsoft.com/office/drawing/2014/main" id="{734C07ED-7451-AD9E-C5C3-88DFCC3EA3A5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/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5"/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C060B31-760A-B52B-18E1-0C7CC962DEAE}"/>
              </a:ext>
            </a:extLst>
          </p:cNvPr>
          <p:cNvSpPr txBox="1"/>
          <p:nvPr/>
        </p:nvSpPr>
        <p:spPr>
          <a:xfrm>
            <a:off x="1535389" y="1069352"/>
            <a:ext cx="7527124" cy="5485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600" dirty="0"/>
              <a:t>• </a:t>
            </a:r>
            <a:r>
              <a:rPr lang="pt-BR" sz="1600" b="1" dirty="0"/>
              <a:t>Aplicação de aprendizado de máquina em hardware de baixo custo é viável;</a:t>
            </a:r>
          </a:p>
          <a:p>
            <a:pPr>
              <a:lnSpc>
                <a:spcPct val="150000"/>
              </a:lnSpc>
              <a:buNone/>
            </a:pPr>
            <a:endParaRPr lang="pt-BR" sz="1600" dirty="0"/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desempenho menor em relação ao estudo original¹ é esperado.</a:t>
            </a:r>
            <a:br>
              <a:rPr lang="pt-BR" sz="1600" dirty="0">
                <a:solidFill>
                  <a:schemeClr val="tx1"/>
                </a:solidFill>
              </a:rPr>
            </a:br>
            <a:endParaRPr lang="pt-BR" sz="1600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 modelo mantém bom desempenho considerando as restrições embarcadas.</a:t>
            </a:r>
          </a:p>
          <a:p>
            <a:pPr>
              <a:lnSpc>
                <a:spcPct val="150000"/>
              </a:lnSpc>
              <a:buNone/>
            </a:pPr>
            <a:endParaRPr lang="pt-BR" sz="1600" dirty="0">
              <a:solidFill>
                <a:schemeClr val="bg1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600" dirty="0">
                <a:solidFill>
                  <a:schemeClr val="tx1"/>
                </a:solidFill>
              </a:rPr>
              <a:t>• </a:t>
            </a:r>
            <a:r>
              <a:rPr lang="pt-BR" sz="1600" b="1" dirty="0">
                <a:solidFill>
                  <a:schemeClr val="tx1"/>
                </a:solidFill>
              </a:rPr>
              <a:t>Os dois estudos se complementam.</a:t>
            </a:r>
          </a:p>
          <a:p>
            <a:pPr>
              <a:lnSpc>
                <a:spcPct val="150000"/>
              </a:lnSpc>
              <a:buNone/>
            </a:pPr>
            <a:endParaRPr lang="pt-BR" sz="16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endParaRPr lang="pt-BR" sz="16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endParaRPr lang="pt-BR" sz="16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endParaRPr lang="pt-BR" sz="16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endParaRPr lang="pt-BR" sz="16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pt-BR" sz="1100" dirty="0"/>
              <a:t>¹ Single, S., </a:t>
            </a:r>
            <a:r>
              <a:rPr lang="pt-BR" sz="1100" dirty="0" err="1"/>
              <a:t>Iranmanesh</a:t>
            </a:r>
            <a:r>
              <a:rPr lang="pt-BR" sz="1100" dirty="0"/>
              <a:t>, S., &amp; Raad, R. (2023)</a:t>
            </a:r>
            <a:endParaRPr lang="pt-BR" sz="1100" dirty="0">
              <a:solidFill>
                <a:schemeClr val="tx1"/>
              </a:solidFill>
            </a:endParaRP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05D3C41A-71DF-6B7D-B5EA-BB69F460FADA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4E19FF58-D976-E5CC-DFE8-86AF5515F184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B57D52E6-D3F0-EF1F-1FA1-B5FE76E7FA3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D20F9AD7-0D78-07DA-C53B-8E242784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10D8F635-B37D-4243-6F9C-481E6EDE74C3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C8CFEC89-BAFF-045C-859A-F9E841DF27D1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73B49015-876A-D80E-9E7A-C550EEC48BA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7AEA8E80-0EDB-B151-63E1-D752B7FEF51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B3B4AF6B-8A97-C650-0EBD-AF57386A101D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 dirty="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F8424E2-31F3-03D0-ADA1-7814182D568B}"/>
              </a:ext>
            </a:extLst>
          </p:cNvPr>
          <p:cNvSpPr txBox="1"/>
          <p:nvPr/>
        </p:nvSpPr>
        <p:spPr>
          <a:xfrm>
            <a:off x="1400587" y="1078955"/>
            <a:ext cx="7743413" cy="294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800" b="1" dirty="0"/>
              <a:t>Limitações observadas</a:t>
            </a:r>
          </a:p>
          <a:p>
            <a:pPr>
              <a:lnSpc>
                <a:spcPct val="150000"/>
              </a:lnSpc>
            </a:pPr>
            <a:r>
              <a:rPr lang="pt-BR" sz="1800" dirty="0"/>
              <a:t>• Confusões entre </a:t>
            </a:r>
            <a:r>
              <a:rPr lang="pt-BR" sz="1800" b="1" dirty="0"/>
              <a:t>vidro / plástico / metal</a:t>
            </a:r>
            <a:r>
              <a:rPr lang="pt-BR" sz="1800" dirty="0"/>
              <a:t>, confirmadas pelo F1 ≈ 0,68.</a:t>
            </a:r>
            <a:br>
              <a:rPr lang="pt-BR" sz="1800" dirty="0"/>
            </a:br>
            <a:r>
              <a:rPr lang="pt-BR" sz="1800" dirty="0"/>
              <a:t>• Sensibilidade à iluminação e posição dos objetos.</a:t>
            </a:r>
            <a:br>
              <a:rPr lang="pt-BR" sz="1800" dirty="0"/>
            </a:br>
            <a:r>
              <a:rPr lang="pt-BR" sz="1800" dirty="0"/>
              <a:t>• </a:t>
            </a:r>
            <a:r>
              <a:rPr lang="pt-BR" sz="1800" dirty="0" err="1"/>
              <a:t>Dataset</a:t>
            </a:r>
            <a:r>
              <a:rPr lang="pt-BR" sz="1800" dirty="0"/>
              <a:t> público útil, mas </a:t>
            </a:r>
            <a:r>
              <a:rPr lang="pt-BR" sz="1800" b="1" dirty="0"/>
              <a:t>não totalmente adequado ao contexto real</a:t>
            </a:r>
            <a:r>
              <a:rPr lang="pt-BR" sz="1800" dirty="0"/>
              <a:t>.</a:t>
            </a:r>
            <a:br>
              <a:rPr lang="pt-BR" sz="1800" dirty="0"/>
            </a:br>
            <a:r>
              <a:rPr lang="pt-BR" sz="1800" dirty="0"/>
              <a:t>• Câmera com ruído/granulação afetou a qualidade das imagens.</a:t>
            </a:r>
            <a:br>
              <a:rPr lang="pt-BR" sz="1800" dirty="0"/>
            </a:br>
            <a:r>
              <a:rPr lang="pt-BR" sz="1800" dirty="0"/>
              <a:t>• </a:t>
            </a:r>
            <a:r>
              <a:rPr lang="pt-BR" sz="1800" dirty="0" err="1"/>
              <a:t>Hiperparâmetros</a:t>
            </a:r>
            <a:r>
              <a:rPr lang="pt-BR" sz="1800" dirty="0"/>
              <a:t> e o aumento de dados ainda têm margem de otimização.</a:t>
            </a: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F8BD5259-F915-7ED4-A5C2-86E09927059B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5D4A59AA-5AB9-9F78-2742-99FDB01020D6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AC5359C6-48EC-F96F-3667-FEB7675DF0A2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4636428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>
          <a:extLst>
            <a:ext uri="{FF2B5EF4-FFF2-40B4-BE49-F238E27FC236}">
              <a16:creationId xmlns:a16="http://schemas.microsoft.com/office/drawing/2014/main" id="{5B554CC8-C328-E59F-5428-65AB4EFA5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>
            <a:extLst>
              <a:ext uri="{FF2B5EF4-FFF2-40B4-BE49-F238E27FC236}">
                <a16:creationId xmlns:a16="http://schemas.microsoft.com/office/drawing/2014/main" id="{CEA00662-DF75-587B-88E1-08D6EB431981}"/>
              </a:ext>
            </a:extLst>
          </p:cNvPr>
          <p:cNvSpPr/>
          <p:nvPr/>
        </p:nvSpPr>
        <p:spPr>
          <a:xfrm>
            <a:off x="0" y="0"/>
            <a:ext cx="1257900" cy="6858000"/>
          </a:xfrm>
          <a:prstGeom prst="rect">
            <a:avLst/>
          </a:prstGeom>
          <a:solidFill>
            <a:srgbClr val="2036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5">
            <a:extLst>
              <a:ext uri="{FF2B5EF4-FFF2-40B4-BE49-F238E27FC236}">
                <a16:creationId xmlns:a16="http://schemas.microsoft.com/office/drawing/2014/main" id="{313B46CE-C3C8-5938-61D2-D10D02E32B97}"/>
              </a:ext>
            </a:extLst>
          </p:cNvPr>
          <p:cNvSpPr/>
          <p:nvPr/>
        </p:nvSpPr>
        <p:spPr>
          <a:xfrm>
            <a:off x="1257900" y="0"/>
            <a:ext cx="7886100" cy="9081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1" name="Google Shape;311;p25">
            <a:extLst>
              <a:ext uri="{FF2B5EF4-FFF2-40B4-BE49-F238E27FC236}">
                <a16:creationId xmlns:a16="http://schemas.microsoft.com/office/drawing/2014/main" id="{9B64946B-8914-5F0E-043E-5BBCD4838B8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3738" y="68227"/>
            <a:ext cx="771625" cy="771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5">
            <a:extLst>
              <a:ext uri="{FF2B5EF4-FFF2-40B4-BE49-F238E27FC236}">
                <a16:creationId xmlns:a16="http://schemas.microsoft.com/office/drawing/2014/main" id="{0B1B0E0C-8907-52C8-2478-5EA066DA279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0888" y="68238"/>
            <a:ext cx="771625" cy="77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5">
            <a:extLst>
              <a:ext uri="{FF2B5EF4-FFF2-40B4-BE49-F238E27FC236}">
                <a16:creationId xmlns:a16="http://schemas.microsoft.com/office/drawing/2014/main" id="{380919CA-5AC4-548A-BFE4-2140B4CE89B1}"/>
              </a:ext>
            </a:extLst>
          </p:cNvPr>
          <p:cNvSpPr txBox="1"/>
          <p:nvPr/>
        </p:nvSpPr>
        <p:spPr>
          <a:xfrm>
            <a:off x="1354162" y="229489"/>
            <a:ext cx="6090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pt-BR" sz="30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Conclusões</a:t>
            </a:r>
            <a:endParaRPr sz="3000" b="1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64CE195-8E33-4B61-2CC9-F6791E0F1EB9}"/>
              </a:ext>
            </a:extLst>
          </p:cNvPr>
          <p:cNvSpPr txBox="1"/>
          <p:nvPr/>
        </p:nvSpPr>
        <p:spPr>
          <a:xfrm>
            <a:off x="1400587" y="1078955"/>
            <a:ext cx="7743413" cy="2118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800" b="1" dirty="0"/>
              <a:t>Sugestões de trabalhos futuros</a:t>
            </a:r>
          </a:p>
          <a:p>
            <a:pPr>
              <a:lnSpc>
                <a:spcPct val="150000"/>
              </a:lnSpc>
            </a:pPr>
            <a:r>
              <a:rPr lang="pt-BR" sz="1800" dirty="0"/>
              <a:t>• Criar </a:t>
            </a:r>
            <a:r>
              <a:rPr lang="pt-BR" sz="1800" b="1" dirty="0" err="1"/>
              <a:t>dataset</a:t>
            </a:r>
            <a:r>
              <a:rPr lang="pt-BR" sz="1800" b="1" dirty="0"/>
              <a:t> próprio</a:t>
            </a:r>
            <a:r>
              <a:rPr lang="pt-BR" sz="1800" dirty="0"/>
              <a:t> com captura padronizada;</a:t>
            </a:r>
            <a:br>
              <a:rPr lang="pt-BR" sz="1800" dirty="0"/>
            </a:br>
            <a:r>
              <a:rPr lang="pt-BR" sz="1800" dirty="0"/>
              <a:t>• Usar câmeras melhores ou consistentes entre </a:t>
            </a:r>
            <a:r>
              <a:rPr lang="pt-BR" sz="1800" b="1" dirty="0"/>
              <a:t>treino</a:t>
            </a:r>
            <a:r>
              <a:rPr lang="pt-BR" sz="1800" dirty="0"/>
              <a:t> e </a:t>
            </a:r>
            <a:r>
              <a:rPr lang="pt-BR" sz="1800" b="1" dirty="0"/>
              <a:t>inferência</a:t>
            </a:r>
            <a:r>
              <a:rPr lang="pt-BR" sz="1800" dirty="0"/>
              <a:t>;</a:t>
            </a:r>
            <a:br>
              <a:rPr lang="pt-BR" sz="1800" dirty="0"/>
            </a:br>
            <a:r>
              <a:rPr lang="pt-BR" sz="1800" dirty="0"/>
              <a:t>• Testar arquiteturas leves mais modernas (MobileNetV3, por exemplo);</a:t>
            </a:r>
            <a:br>
              <a:rPr lang="pt-BR" sz="1800" dirty="0"/>
            </a:br>
            <a:r>
              <a:rPr lang="pt-BR" sz="1800" dirty="0"/>
              <a:t>• Ajustar </a:t>
            </a:r>
            <a:r>
              <a:rPr lang="pt-BR" sz="1800" dirty="0" err="1"/>
              <a:t>hiperparâmetros</a:t>
            </a:r>
            <a:r>
              <a:rPr lang="pt-BR" sz="1800" dirty="0"/>
              <a:t> de forma sistemática;</a:t>
            </a:r>
          </a:p>
        </p:txBody>
      </p:sp>
      <p:sp>
        <p:nvSpPr>
          <p:cNvPr id="2" name="Google Shape;113;p14">
            <a:extLst>
              <a:ext uri="{FF2B5EF4-FFF2-40B4-BE49-F238E27FC236}">
                <a16:creationId xmlns:a16="http://schemas.microsoft.com/office/drawing/2014/main" id="{53B639DE-D508-5FD1-CBEC-A0D34D55CFD7}"/>
              </a:ext>
            </a:extLst>
          </p:cNvPr>
          <p:cNvSpPr/>
          <p:nvPr/>
        </p:nvSpPr>
        <p:spPr>
          <a:xfrm>
            <a:off x="0" y="6560975"/>
            <a:ext cx="9144000" cy="297000"/>
          </a:xfrm>
          <a:prstGeom prst="rect">
            <a:avLst/>
          </a:prstGeom>
          <a:solidFill>
            <a:srgbClr val="56709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5;p14">
            <a:extLst>
              <a:ext uri="{FF2B5EF4-FFF2-40B4-BE49-F238E27FC236}">
                <a16:creationId xmlns:a16="http://schemas.microsoft.com/office/drawing/2014/main" id="{3327E6E9-D7FC-2AD3-B2AC-FB3CB80ADF3F}"/>
              </a:ext>
            </a:extLst>
          </p:cNvPr>
          <p:cNvSpPr txBox="1"/>
          <p:nvPr/>
        </p:nvSpPr>
        <p:spPr>
          <a:xfrm>
            <a:off x="2915825" y="6566225"/>
            <a:ext cx="5328600" cy="307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Aplicação e Avaliação de Machine Learning em Dispositivos Embarcados</a:t>
            </a:r>
          </a:p>
        </p:txBody>
      </p:sp>
      <p:sp>
        <p:nvSpPr>
          <p:cNvPr id="5" name="Google Shape;116;p14">
            <a:extLst>
              <a:ext uri="{FF2B5EF4-FFF2-40B4-BE49-F238E27FC236}">
                <a16:creationId xmlns:a16="http://schemas.microsoft.com/office/drawing/2014/main" id="{31D85FCA-F940-CD6D-67E1-4EBD4254AF77}"/>
              </a:ext>
            </a:extLst>
          </p:cNvPr>
          <p:cNvSpPr txBox="1"/>
          <p:nvPr/>
        </p:nvSpPr>
        <p:spPr>
          <a:xfrm>
            <a:off x="0" y="6577025"/>
            <a:ext cx="2915700" cy="2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TCC</a:t>
            </a:r>
            <a:endParaRPr sz="1200" i="1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8308198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Avião sobrevoando água&#10;&#10;O conteúdo gerado por IA pode estar incorreto.">
            <a:extLst>
              <a:ext uri="{FF2B5EF4-FFF2-40B4-BE49-F238E27FC236}">
                <a16:creationId xmlns:a16="http://schemas.microsoft.com/office/drawing/2014/main" id="{C7E4457C-924D-D6F4-9ED5-6D681DA926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49" t="116" r="5704" b="158"/>
          <a:stretch>
            <a:fillRect/>
          </a:stretch>
        </p:blipFill>
        <p:spPr>
          <a:xfrm>
            <a:off x="-1" y="-1"/>
            <a:ext cx="9143989" cy="6858001"/>
          </a:xfrm>
          <a:prstGeom prst="rect">
            <a:avLst/>
          </a:prstGeom>
        </p:spPr>
      </p:pic>
      <p:sp>
        <p:nvSpPr>
          <p:cNvPr id="329" name="Google Shape;329;p26"/>
          <p:cNvSpPr/>
          <p:nvPr/>
        </p:nvSpPr>
        <p:spPr>
          <a:xfrm>
            <a:off x="-13" y="774427"/>
            <a:ext cx="9144013" cy="908100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>
                <a:solidFill>
                  <a:srgbClr val="F2F2F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Obrigado!</a:t>
            </a:r>
            <a:endParaRPr sz="3000" b="1">
              <a:solidFill>
                <a:srgbClr val="F2F2F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30" name="Google Shape;330;p26"/>
          <p:cNvSpPr txBox="1"/>
          <p:nvPr/>
        </p:nvSpPr>
        <p:spPr>
          <a:xfrm>
            <a:off x="-12" y="5341199"/>
            <a:ext cx="9144000" cy="638181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1800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Maxwell Rodrigues da Silva</a:t>
            </a:r>
            <a:br>
              <a:rPr lang="pt-BR" sz="1600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pt-BR" sz="1600" b="1" u="sng" dirty="0">
                <a:solidFill>
                  <a:srgbClr val="00B0F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maxwell.silva@ufrgs.br</a:t>
            </a:r>
            <a:endParaRPr sz="1600" b="1" dirty="0">
              <a:solidFill>
                <a:srgbClr val="00B0F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br>
              <a:rPr lang="pt-BR" sz="1800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lang="pt-BR" sz="1800" i="0" u="none" strike="noStrike" cap="none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br>
              <a:rPr lang="pt-BR" sz="1800" i="0" u="none" strike="noStrike" cap="none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sz="1800" i="0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i="0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i="0" u="none" strike="noStrike" cap="none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31" name="Google Shape;331;p26"/>
          <p:cNvSpPr txBox="1"/>
          <p:nvPr/>
        </p:nvSpPr>
        <p:spPr>
          <a:xfrm>
            <a:off x="0" y="5979380"/>
            <a:ext cx="9144000" cy="431100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chemeClr val="bg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Dezembro de 2025</a:t>
            </a:r>
            <a:endParaRPr sz="1600" b="1" dirty="0">
              <a:solidFill>
                <a:schemeClr val="bg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60B888B-9EBC-5A68-F894-B7561B2948CD}"/>
              </a:ext>
            </a:extLst>
          </p:cNvPr>
          <p:cNvSpPr txBox="1"/>
          <p:nvPr/>
        </p:nvSpPr>
        <p:spPr>
          <a:xfrm>
            <a:off x="6902681" y="6480351"/>
            <a:ext cx="2241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</a:rPr>
              <a:t>Foto: F-39 Gripen – FAB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8575" cap="flat" cmpd="sng" algn="ctr">
          <a:solidFill>
            <a:schemeClr val="dk1"/>
          </a:solidFill>
          <a:prstDash val="solid"/>
          <a:round/>
          <a:headEnd type="none" w="med" len="med"/>
          <a:tailEnd type="arrow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6ec7f58a-8404-4877-b736-bea143f77ded}" enabled="1" method="Standard" siteId="{84d9a216-e285-4aac-b163-0dfd0c07454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1625</Words>
  <Application>Microsoft Office PowerPoint</Application>
  <PresentationFormat>Apresentação na tela (4:3)</PresentationFormat>
  <Paragraphs>352</Paragraphs>
  <Slides>41</Slides>
  <Notes>41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41</vt:i4>
      </vt:variant>
    </vt:vector>
  </HeadingPairs>
  <TitlesOfParts>
    <vt:vector size="46" baseType="lpstr">
      <vt:lpstr>Calibri</vt:lpstr>
      <vt:lpstr>Helvetica Neue</vt:lpstr>
      <vt:lpstr>Arial</vt:lpstr>
      <vt:lpstr>Aptos Narrow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Maxwell Rodrigues</dc:creator>
  <cp:lastModifiedBy>RODRIGUES DA SILVA, MAXWELL</cp:lastModifiedBy>
  <cp:revision>11</cp:revision>
  <dcterms:modified xsi:type="dcterms:W3CDTF">2025-12-03T10:38:48Z</dcterms:modified>
</cp:coreProperties>
</file>