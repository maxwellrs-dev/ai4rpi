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9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1" r:id="rId6"/>
    <p:sldId id="270" r:id="rId7"/>
    <p:sldId id="262" r:id="rId8"/>
    <p:sldId id="271" r:id="rId9"/>
    <p:sldId id="274" r:id="rId10"/>
    <p:sldId id="272" r:id="rId11"/>
    <p:sldId id="275" r:id="rId12"/>
    <p:sldId id="273" r:id="rId13"/>
    <p:sldId id="282" r:id="rId14"/>
    <p:sldId id="277" r:id="rId15"/>
    <p:sldId id="279" r:id="rId16"/>
    <p:sldId id="280" r:id="rId17"/>
    <p:sldId id="281" r:id="rId18"/>
    <p:sldId id="283" r:id="rId19"/>
    <p:sldId id="284" r:id="rId20"/>
    <p:sldId id="264" r:id="rId21"/>
    <p:sldId id="265" r:id="rId22"/>
    <p:sldId id="266" r:id="rId23"/>
    <p:sldId id="267" r:id="rId24"/>
    <p:sldId id="268" r:id="rId25"/>
    <p:sldId id="269" r:id="rId26"/>
  </p:sldIdLst>
  <p:sldSz cx="9144000" cy="6858000" type="screen4x3"/>
  <p:notesSz cx="6858000" cy="9144000"/>
  <p:embeddedFontLst>
    <p:embeddedFont>
      <p:font typeface="Helvetica Neue" panose="020B0604020202020204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929"/>
    <a:srgbClr val="357D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51" autoAdjust="0"/>
    <p:restoredTop sz="94660"/>
  </p:normalViewPr>
  <p:slideViewPr>
    <p:cSldViewPr snapToGrid="0">
      <p:cViewPr varScale="1">
        <p:scale>
          <a:sx n="97" d="100"/>
          <a:sy n="97" d="100"/>
        </p:scale>
        <p:origin x="2004" y="30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5.226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20 8 24575,'25'-3'0,"25"-1"0,-49 3 0,1 1 0,-1 0 0,0 0 0,0 0 0,1 1 0,-1-1 0,0 0 0,0 0 0,0 1 0,0-1 0,1 1 0,-1-1 0,0 1 0,0-1 0,0 1 0,0-1 0,0 1 0,0 0 0,0 0 0,0 0 0,-1 0 0,1-1 0,0 1 0,0 0 0,-1 0 0,1 0 0,0 1 0,-1-1 0,1 0 0,0 2 0,-1-3 0,0 1 0,0 0 0,0-1 0,-1 1 0,1 0 0,0 0 0,0-1 0,0 1 0,-1 0 0,1-1 0,0 1 0,-1 0 0,1-1 0,0 1 0,-1-1 0,1 1 0,-1 0 0,1-1 0,-1 1 0,1-1 0,-1 0 0,1 1 0,-1-1 0,0 1 0,1-1 0,-1 0 0,0 1 0,1-1 0,-1 0 0,0 0 0,1 0 0,-1 1 0,0-1 0,0 0 0,1 0 0,-1 0 0,0 0 0,1 0 0,-1 0 0,0 0 0,0-1 0,1 1 0,-1 0 0,0 0 0,1 0 0,-2-1 0,-40-9 0,37 9 0,-42-3-1365,41 4-5461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7.752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0 26 24575,'3'-2'0,"1"0"0,1-1 0,2-1 0,-1 1 0,1 0 0,0 1 0,0 1 0,0 0 0,0 0 0,0-1 0,0 1 0,-2 0-8191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5.226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20 8 24575,'25'-3'0,"25"-1"0,-49 3 0,1 1 0,-1 0 0,0 0 0,0 0 0,1 1 0,-1-1 0,0 0 0,0 0 0,0 1 0,0-1 0,1 1 0,-1-1 0,0 1 0,0-1 0,0 1 0,0-1 0,0 1 0,0 0 0,0 0 0,0 0 0,-1 0 0,1-1 0,0 1 0,0 0 0,-1 0 0,1 0 0,0 1 0,-1-1 0,1 0 0,0 2 0,-1-3 0,0 1 0,0 0 0,0-1 0,-1 1 0,1 0 0,0 0 0,0-1 0,0 1 0,-1 0 0,1-1 0,0 1 0,-1 0 0,1-1 0,0 1 0,-1-1 0,1 1 0,-1 0 0,1-1 0,-1 1 0,1-1 0,-1 0 0,1 1 0,-1-1 0,0 1 0,1-1 0,-1 0 0,0 1 0,1-1 0,-1 0 0,0 0 0,1 0 0,-1 1 0,0-1 0,0 0 0,1 0 0,-1 0 0,0 0 0,1 0 0,-1 0 0,0 0 0,0-1 0,1 1 0,-1 0 0,0 0 0,1 0 0,-2-1 0,-40-9 0,37 9 0,-42-3-1365,41 4-5461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7.752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0 26 24575,'3'-2'0,"1"0"0,1-1 0,2-1 0,-1 1 0,1 0 0,0 1 0,0 1 0,0 0 0,0 0 0,0-1 0,0 1 0,-2 0-8191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5.226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20 8 24575,'25'-3'0,"25"-1"0,-49 3 0,1 1 0,-1 0 0,0 0 0,0 0 0,1 1 0,-1-1 0,0 0 0,0 0 0,0 1 0,0-1 0,1 1 0,-1-1 0,0 1 0,0-1 0,0 1 0,0-1 0,0 1 0,0 0 0,0 0 0,0 0 0,-1 0 0,1-1 0,0 1 0,0 0 0,-1 0 0,1 0 0,0 1 0,-1-1 0,1 0 0,0 2 0,-1-3 0,0 1 0,0 0 0,0-1 0,-1 1 0,1 0 0,0 0 0,0-1 0,0 1 0,-1 0 0,1-1 0,0 1 0,-1 0 0,1-1 0,0 1 0,-1-1 0,1 1 0,-1 0 0,1-1 0,-1 1 0,1-1 0,-1 0 0,1 1 0,-1-1 0,0 1 0,1-1 0,-1 0 0,0 1 0,1-1 0,-1 0 0,0 0 0,1 0 0,-1 1 0,0-1 0,0 0 0,1 0 0,-1 0 0,0 0 0,1 0 0,-1 0 0,0 0 0,0-1 0,1 1 0,-1 0 0,0 0 0,1 0 0,-2-1 0,-40-9 0,37 9 0,-42-3-1365,41 4-5461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7.752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0 26 24575,'3'-2'0,"1"0"0,1-1 0,2-1 0,-1 1 0,1 0 0,0 1 0,0 1 0,0 0 0,0 0 0,0-1 0,0 1 0,-2 0-8191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f3499cbe4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g13f3499cbe4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g13f3499cbe4_0_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15c6bb4ace9_0_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15c6bb4ace9_0_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g15c6bb4ace9_0_12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3f4f86f171_0_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3f4f86f171_0_3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g13f4f86f171_0_37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15c6bb4b051_5_3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15c6bb4b051_5_3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g15c6bb4b051_5_37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>
          <a:extLst>
            <a:ext uri="{FF2B5EF4-FFF2-40B4-BE49-F238E27FC236}">
              <a16:creationId xmlns:a16="http://schemas.microsoft.com/office/drawing/2014/main" id="{52499E11-8DA7-BBA4-AD19-0BC00FE80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15c6bb4b051_5_376:notes">
            <a:extLst>
              <a:ext uri="{FF2B5EF4-FFF2-40B4-BE49-F238E27FC236}">
                <a16:creationId xmlns:a16="http://schemas.microsoft.com/office/drawing/2014/main" id="{4C3DE513-7775-BC9D-ABD9-A8FA2C526A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15c6bb4b051_5_376:notes">
            <a:extLst>
              <a:ext uri="{FF2B5EF4-FFF2-40B4-BE49-F238E27FC236}">
                <a16:creationId xmlns:a16="http://schemas.microsoft.com/office/drawing/2014/main" id="{8D27FBC6-8538-78BF-3A1E-EFFA78471A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g15c6bb4b051_5_376:notes">
            <a:extLst>
              <a:ext uri="{FF2B5EF4-FFF2-40B4-BE49-F238E27FC236}">
                <a16:creationId xmlns:a16="http://schemas.microsoft.com/office/drawing/2014/main" id="{C961FAA7-F40B-E496-E9DE-0D0833121F2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95424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15c6bb4ace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15c6bb4ace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g15c6bb4ace9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EBD61264-A81D-BE8B-FB62-5D95FFA48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B1F0307F-604A-281C-8203-9F571F9E4C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9F18C239-128B-4BDB-17A5-CB33B75A62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FD714619-6106-CEF5-C2AD-8788BD9145E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064514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>
          <a:extLst>
            <a:ext uri="{FF2B5EF4-FFF2-40B4-BE49-F238E27FC236}">
              <a16:creationId xmlns:a16="http://schemas.microsoft.com/office/drawing/2014/main" id="{DF61ED7C-0237-A27A-663E-DC0720D21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15c6bb4ace9_0_0:notes">
            <a:extLst>
              <a:ext uri="{FF2B5EF4-FFF2-40B4-BE49-F238E27FC236}">
                <a16:creationId xmlns:a16="http://schemas.microsoft.com/office/drawing/2014/main" id="{44F209B2-BBA7-607D-6FBD-CDF9CF698E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15c6bb4ace9_0_0:notes">
            <a:extLst>
              <a:ext uri="{FF2B5EF4-FFF2-40B4-BE49-F238E27FC236}">
                <a16:creationId xmlns:a16="http://schemas.microsoft.com/office/drawing/2014/main" id="{E4740051-B852-C721-8240-BFFFF3F891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g15c6bb4ace9_0_0:notes">
            <a:extLst>
              <a:ext uri="{FF2B5EF4-FFF2-40B4-BE49-F238E27FC236}">
                <a16:creationId xmlns:a16="http://schemas.microsoft.com/office/drawing/2014/main" id="{8E05E082-BC44-95E1-5CFF-78BC0DBE55F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803481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25305A00-5231-E5CE-C4A0-C1E7B2263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0378557D-F940-DEDB-E1AD-AAF26E9D0B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D3764C4D-555C-70CE-36CB-AE4F44BBD5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9B694E2A-5551-14F9-3102-C0F8B80ADAF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51020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938BD292-184B-34D1-0F6C-B406931A7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45E30FC5-FDA5-07ED-28FF-755040CD7C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6073CCD6-B376-7687-8DD8-C581FD287E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975E95D7-0A62-1E69-65A7-762FB48EC4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074628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E4FC97F1-0A0B-4E9D-5328-34E7B8AFD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27746699-420B-4384-2542-60A80CE405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D11FFDF4-9C12-D6E7-48EA-4FEE9E1452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2DB079C6-928C-F56B-EC0F-7AE1C22CC56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968137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87870213-FD2D-22BE-B46A-AA086194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2174DE42-0774-4C73-A50A-9852C30623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766DD74F-CFC1-B91B-DBD3-C9A949508D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265B531A-4F88-1AE3-4138-0098E2C02E1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161325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8A8681BD-35A2-4645-AC2E-832C34865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FD16E3FE-B1BC-9AB9-C268-8261B63F23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A5310CE3-F9C8-39AD-4E95-0FEE138019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B9AFDCD1-DB0A-5EE6-7D27-DAE29540A0F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490435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4064BABC-9566-31F2-D584-D06FC9B3B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80642355-CB4C-0E41-6FB6-B5E874929A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2B4E7229-35C2-3209-27CE-C4F8A7738D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73126341-AE51-DD91-14A1-8F5FD31DD65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552663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DF0C3866-3FC1-F334-8A01-F5FCE5199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6C1C7B53-1D40-D58D-290F-0A295932A1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761302B8-E124-7918-72D8-F00A768127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CE8EE470-425F-3561-734A-948BBF8BE01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50051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B1B7A0D0-DD83-48E9-B122-E8B05EE5D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5594A0A7-B4E5-B763-4D92-27B846FB08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1C486686-8800-035F-D7DA-5B68C8656B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1D814F8D-F492-1CAA-8721-49FFC3B321D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827673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A4FA8CEC-4395-E15C-5FD1-F469B7795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CA4B18B9-7597-3EE0-E99E-AB7A03FB0A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F914CDC5-C37A-945C-5748-B2AB67A5DC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159D1614-C31F-262B-DDAA-3F44F634F50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195612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C61F778D-E488-7080-D6CC-0E63008FB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26C7B7D4-3251-BC27-18B4-CAD3DB49CF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E19B4BC4-0ACF-DC98-840F-9F5E7CA170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A2BF840F-11BB-3465-8829-81871B993E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851445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1df028f5a1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1df028f5a1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1df028f5a1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df028f5a16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df028f5a16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1df028f5a16_0_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1df028f5a16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1df028f5a16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g1df028f5a16_0_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13f4f86f171_0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13f4f86f171_0_3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13f4f86f171_0_35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15c6bb4b051_5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15c6bb4b051_5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g15c6bb4b051_5_17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15c6bb4ace9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15c6bb4ace9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g15c6bb4ace9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Partes de Conteúdo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ção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9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9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mente título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údo com Legenda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400" cy="11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4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com Legenda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2308949" y="-251550"/>
            <a:ext cx="452610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is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4732349" y="2171688"/>
            <a:ext cx="58515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541350" y="190488"/>
            <a:ext cx="5851500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1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jpg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5" Type="http://schemas.openxmlformats.org/officeDocument/2006/relationships/image" Target="../media/image11.png"/><Relationship Id="rId4" Type="http://schemas.openxmlformats.org/officeDocument/2006/relationships/image" Target="../media/image1.png"/><Relationship Id="rId9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.xml"/><Relationship Id="rId5" Type="http://schemas.openxmlformats.org/officeDocument/2006/relationships/image" Target="../media/image11.png"/><Relationship Id="rId4" Type="http://schemas.openxmlformats.org/officeDocument/2006/relationships/image" Target="../media/image1.png"/><Relationship Id="rId9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customXml" Target="../ink/ink6.xml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5.xml"/><Relationship Id="rId5" Type="http://schemas.openxmlformats.org/officeDocument/2006/relationships/image" Target="../media/image11.png"/><Relationship Id="rId4" Type="http://schemas.openxmlformats.org/officeDocument/2006/relationships/image" Target="../media/image1.png"/><Relationship Id="rId9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hyperlink" Target="mailto:email.do.aluno@ufrgs.br" TargetMode="Externa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/>
        </p:nvSpPr>
        <p:spPr>
          <a:xfrm>
            <a:off x="29840" y="4293096"/>
            <a:ext cx="9144000" cy="21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pt-BR" sz="1600" b="1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Aluno:</a:t>
            </a:r>
            <a:r>
              <a:rPr lang="pt-BR" sz="16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Maxwell Rodrigues da Silva</a:t>
            </a:r>
            <a:br>
              <a:rPr lang="pt-BR" sz="16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600" b="1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Orientador:</a:t>
            </a:r>
            <a:r>
              <a:rPr lang="pt-BR" sz="16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Prof. Dr. Marcelo </a:t>
            </a:r>
            <a:r>
              <a:rPr lang="pt-BR" sz="1600" dirty="0" err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Götz</a:t>
            </a:r>
            <a:endParaRPr sz="16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br>
              <a:rPr lang="pt-BR" sz="18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sz="18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pt-BR" sz="1600" b="1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Banca Examinadora:</a:t>
            </a:r>
            <a:endParaRPr sz="1600" b="1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pt-BR" sz="16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Prof. Dr. Marcelo </a:t>
            </a:r>
            <a:r>
              <a:rPr lang="pt-BR" sz="1600" dirty="0" err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Götz</a:t>
            </a:r>
            <a:endParaRPr sz="16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pt-BR" sz="16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Prof. Dr. Rafael Laranja</a:t>
            </a:r>
            <a:endParaRPr sz="16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pt-BR" sz="16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Prof. Dr. Aurélio Salton</a:t>
            </a:r>
            <a:endParaRPr sz="16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br>
              <a:rPr lang="pt-BR" sz="1800" i="0" u="none" strike="noStrike" cap="none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br>
              <a:rPr lang="pt-BR" sz="1800" i="0" u="none" strike="noStrike" cap="none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sz="1800" i="0" u="none" strike="noStrike" cap="none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i="0" u="none" strike="noStrike" cap="none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endParaRPr sz="2200" i="0" u="none" strike="noStrike" cap="none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489511" y="1601623"/>
            <a:ext cx="8164978" cy="2154300"/>
          </a:xfrm>
          <a:prstGeom prst="roundRect">
            <a:avLst>
              <a:gd name="adj" fmla="val 16667"/>
            </a:avLst>
          </a:prstGeom>
          <a:solidFill>
            <a:srgbClr val="17365D"/>
          </a:solidFill>
          <a:ln>
            <a:noFill/>
          </a:ln>
          <a:effectLst>
            <a:outerShdw blurRad="177800" dist="1524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1736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0" y="-25"/>
            <a:ext cx="9144000" cy="9963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489511" y="1828737"/>
            <a:ext cx="8164978" cy="17818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/>
            <a:r>
              <a:rPr lang="pt-BR" sz="3800" b="1" dirty="0">
                <a:solidFill>
                  <a:srgbClr val="F2F2F2"/>
                </a:solidFill>
                <a:latin typeface="Helvetica Neue"/>
              </a:rPr>
              <a:t>APLICAÇÃO E AVALIAÇÃO DE MACHINE LEARNING EM DISPOSITIVOS EMBARCADOS</a:t>
            </a:r>
            <a:endParaRPr lang="pt-BR" sz="3800" b="1" dirty="0">
              <a:solidFill>
                <a:srgbClr val="F2F2F2"/>
              </a:solidFill>
              <a:latin typeface="Helvetica Neue"/>
              <a:sym typeface="Helvetica Neue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0" y="0"/>
            <a:ext cx="9144000" cy="9081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4" name="Google Shape;9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3"/>
          <p:cNvSpPr txBox="1"/>
          <p:nvPr/>
        </p:nvSpPr>
        <p:spPr>
          <a:xfrm>
            <a:off x="3259393" y="5753962"/>
            <a:ext cx="2625213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Dezembro de 2025</a:t>
            </a:r>
            <a:endParaRPr sz="1600" b="1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7" name="Google Shape;97;p13"/>
          <p:cNvSpPr/>
          <p:nvPr/>
        </p:nvSpPr>
        <p:spPr>
          <a:xfrm>
            <a:off x="0" y="6510475"/>
            <a:ext cx="9144000" cy="3474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18;p14">
            <a:extLst>
              <a:ext uri="{FF2B5EF4-FFF2-40B4-BE49-F238E27FC236}">
                <a16:creationId xmlns:a16="http://schemas.microsoft.com/office/drawing/2014/main" id="{D76678DF-A369-7165-53A3-645E9AE03EF0}"/>
              </a:ext>
            </a:extLst>
          </p:cNvPr>
          <p:cNvSpPr txBox="1"/>
          <p:nvPr/>
        </p:nvSpPr>
        <p:spPr>
          <a:xfrm>
            <a:off x="1526699" y="94273"/>
            <a:ext cx="6090600" cy="721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/>
            <a:r>
              <a:rPr lang="pt-BR" b="1" dirty="0">
                <a:solidFill>
                  <a:schemeClr val="bg1"/>
                </a:solidFill>
              </a:rPr>
              <a:t>UNIVERSIDADE FEDERAL DO RIO GRANDE DO SUL</a:t>
            </a:r>
          </a:p>
          <a:p>
            <a:pPr algn="ctr"/>
            <a:r>
              <a:rPr lang="pt-BR" b="1" dirty="0">
                <a:solidFill>
                  <a:schemeClr val="bg1"/>
                </a:solidFill>
              </a:rPr>
              <a:t>ESCOLA DE ENGENHARIA</a:t>
            </a:r>
          </a:p>
          <a:p>
            <a:pPr algn="ctr"/>
            <a:r>
              <a:rPr lang="pt-BR" b="1" dirty="0">
                <a:solidFill>
                  <a:schemeClr val="bg1"/>
                </a:solidFill>
              </a:rPr>
              <a:t>ENGENHARIA DE CONTROLE E AUTOMAÇÃO</a:t>
            </a:r>
            <a:endParaRPr sz="3000" b="1" i="1" u="none" strike="noStrike" cap="none" dirty="0">
              <a:solidFill>
                <a:schemeClr val="bg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/>
          <p:nvPr/>
        </p:nvSpPr>
        <p:spPr>
          <a:xfrm>
            <a:off x="2479025" y="2126860"/>
            <a:ext cx="4470412" cy="402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567091"/>
              </a:solidFill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2479024" y="2707349"/>
            <a:ext cx="4470413" cy="402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567091"/>
              </a:solidFill>
            </a:endParaRPr>
          </a:p>
        </p:txBody>
      </p:sp>
      <p:sp>
        <p:nvSpPr>
          <p:cNvPr id="105" name="Google Shape;105;p14"/>
          <p:cNvSpPr/>
          <p:nvPr/>
        </p:nvSpPr>
        <p:spPr>
          <a:xfrm>
            <a:off x="2479025" y="3270360"/>
            <a:ext cx="4470414" cy="402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567091"/>
              </a:solidFill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2479025" y="3845670"/>
            <a:ext cx="4470412" cy="402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567091"/>
              </a:solidFill>
            </a:endParaRPr>
          </a:p>
        </p:txBody>
      </p:sp>
      <p:sp>
        <p:nvSpPr>
          <p:cNvPr id="107" name="Google Shape;107;p14"/>
          <p:cNvSpPr/>
          <p:nvPr/>
        </p:nvSpPr>
        <p:spPr>
          <a:xfrm>
            <a:off x="2479024" y="4418280"/>
            <a:ext cx="4470411" cy="402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567091"/>
              </a:solidFill>
            </a:endParaRPr>
          </a:p>
        </p:txBody>
      </p:sp>
      <p:sp>
        <p:nvSpPr>
          <p:cNvPr id="108" name="Google Shape;108;p14"/>
          <p:cNvSpPr/>
          <p:nvPr/>
        </p:nvSpPr>
        <p:spPr>
          <a:xfrm>
            <a:off x="2479024" y="1558960"/>
            <a:ext cx="4470415" cy="402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567091"/>
              </a:solidFill>
            </a:endParaRPr>
          </a:p>
        </p:txBody>
      </p:sp>
      <p:sp>
        <p:nvSpPr>
          <p:cNvPr id="109" name="Google Shape;109;p14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1" name="Google Shape;11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/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4"/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6" name="Google Shape;116;p14"/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7" name="Google Shape;117;p14"/>
          <p:cNvSpPr txBox="1"/>
          <p:nvPr/>
        </p:nvSpPr>
        <p:spPr>
          <a:xfrm>
            <a:off x="8209300" y="6555575"/>
            <a:ext cx="934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8" name="Google Shape;118;p14"/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Sumário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2479025" y="1557125"/>
            <a:ext cx="395100" cy="402000"/>
          </a:xfrm>
          <a:prstGeom prst="rect">
            <a:avLst/>
          </a:prstGeom>
          <a:solidFill>
            <a:srgbClr val="20365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</a:t>
            </a:r>
            <a:endParaRPr sz="16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0" name="Google Shape;120;p14"/>
          <p:cNvSpPr txBox="1"/>
          <p:nvPr/>
        </p:nvSpPr>
        <p:spPr>
          <a:xfrm>
            <a:off x="2848925" y="1527275"/>
            <a:ext cx="3993835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just">
              <a:buNone/>
              <a:defRPr sz="18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</a:defRPr>
            </a:lvl1pPr>
          </a:lstStyle>
          <a:p>
            <a:r>
              <a:rPr lang="pt-BR" dirty="0"/>
              <a:t>Introdução: Motivações e Objetivos</a:t>
            </a:r>
            <a:endParaRPr dirty="0">
              <a:sym typeface="Helvetica Neue"/>
            </a:endParaRPr>
          </a:p>
        </p:txBody>
      </p:sp>
      <p:sp>
        <p:nvSpPr>
          <p:cNvPr id="121" name="Google Shape;121;p14"/>
          <p:cNvSpPr/>
          <p:nvPr/>
        </p:nvSpPr>
        <p:spPr>
          <a:xfrm>
            <a:off x="2479025" y="2128875"/>
            <a:ext cx="395100" cy="402000"/>
          </a:xfrm>
          <a:prstGeom prst="rect">
            <a:avLst/>
          </a:prstGeom>
          <a:solidFill>
            <a:srgbClr val="20365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</a:t>
            </a:r>
            <a:endParaRPr sz="16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2848925" y="2099025"/>
            <a:ext cx="2613091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just">
              <a:buNone/>
              <a:defRPr sz="18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</a:defRPr>
            </a:lvl1pPr>
          </a:lstStyle>
          <a:p>
            <a:r>
              <a:rPr lang="pt-BR" dirty="0"/>
              <a:t>Problema e hipótese</a:t>
            </a:r>
            <a:endParaRPr dirty="0">
              <a:sym typeface="Helvetica Neue"/>
            </a:endParaRPr>
          </a:p>
        </p:txBody>
      </p:sp>
      <p:sp>
        <p:nvSpPr>
          <p:cNvPr id="123" name="Google Shape;123;p14"/>
          <p:cNvSpPr/>
          <p:nvPr/>
        </p:nvSpPr>
        <p:spPr>
          <a:xfrm>
            <a:off x="2479025" y="2700625"/>
            <a:ext cx="395100" cy="402000"/>
          </a:xfrm>
          <a:prstGeom prst="rect">
            <a:avLst/>
          </a:prstGeom>
          <a:solidFill>
            <a:srgbClr val="20365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</a:t>
            </a:r>
            <a:endParaRPr sz="16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4" name="Google Shape;124;p14"/>
          <p:cNvSpPr txBox="1"/>
          <p:nvPr/>
        </p:nvSpPr>
        <p:spPr>
          <a:xfrm>
            <a:off x="2848925" y="2670775"/>
            <a:ext cx="2235139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just"/>
            <a:r>
              <a:rPr lang="pt-BR" sz="1800" b="1" dirty="0">
                <a:solidFill>
                  <a:srgbClr val="F2F2F2"/>
                </a:solidFill>
                <a:latin typeface="Helvetica Neue"/>
              </a:rPr>
              <a:t>Metodologia</a:t>
            </a:r>
            <a:r>
              <a:rPr lang="pt-BR" sz="1800" dirty="0"/>
              <a:t> </a:t>
            </a:r>
            <a:endParaRPr sz="18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5" name="Google Shape;125;p14"/>
          <p:cNvSpPr/>
          <p:nvPr/>
        </p:nvSpPr>
        <p:spPr>
          <a:xfrm>
            <a:off x="2479025" y="3272375"/>
            <a:ext cx="395100" cy="402000"/>
          </a:xfrm>
          <a:prstGeom prst="rect">
            <a:avLst/>
          </a:prstGeom>
          <a:solidFill>
            <a:srgbClr val="20365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4</a:t>
            </a:r>
            <a:endParaRPr sz="16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6" name="Google Shape;126;p14"/>
          <p:cNvSpPr txBox="1"/>
          <p:nvPr/>
        </p:nvSpPr>
        <p:spPr>
          <a:xfrm>
            <a:off x="2848925" y="3242525"/>
            <a:ext cx="410051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just">
              <a:defRPr sz="1800" b="1">
                <a:solidFill>
                  <a:srgbClr val="F2F2F2"/>
                </a:solidFill>
                <a:latin typeface="Helvetica Neue"/>
              </a:defRPr>
            </a:lvl1pPr>
          </a:lstStyle>
          <a:p>
            <a:r>
              <a:rPr lang="pt-BR" dirty="0"/>
              <a:t>Estudo de Caso: Categorização de lixo</a:t>
            </a:r>
            <a:endParaRPr dirty="0">
              <a:sym typeface="Helvetica Neue"/>
            </a:endParaRPr>
          </a:p>
        </p:txBody>
      </p:sp>
      <p:sp>
        <p:nvSpPr>
          <p:cNvPr id="127" name="Google Shape;127;p14"/>
          <p:cNvSpPr/>
          <p:nvPr/>
        </p:nvSpPr>
        <p:spPr>
          <a:xfrm>
            <a:off x="2479025" y="3844125"/>
            <a:ext cx="395100" cy="402000"/>
          </a:xfrm>
          <a:prstGeom prst="rect">
            <a:avLst/>
          </a:prstGeom>
          <a:solidFill>
            <a:srgbClr val="20365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5</a:t>
            </a:r>
            <a:endParaRPr sz="16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8" name="Google Shape;128;p14"/>
          <p:cNvSpPr txBox="1"/>
          <p:nvPr/>
        </p:nvSpPr>
        <p:spPr>
          <a:xfrm>
            <a:off x="2848925" y="3814275"/>
            <a:ext cx="2930083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just">
              <a:defRPr sz="1800" b="1">
                <a:solidFill>
                  <a:srgbClr val="F2F2F2"/>
                </a:solidFill>
                <a:latin typeface="Helvetica Neue"/>
              </a:defRPr>
            </a:lvl1pPr>
          </a:lstStyle>
          <a:p>
            <a:r>
              <a:rPr lang="pt-BR" dirty="0"/>
              <a:t>Modelo e Quantização</a:t>
            </a:r>
            <a:endParaRPr dirty="0">
              <a:sym typeface="Helvetica Neue"/>
            </a:endParaRPr>
          </a:p>
        </p:txBody>
      </p:sp>
      <p:sp>
        <p:nvSpPr>
          <p:cNvPr id="129" name="Google Shape;129;p14"/>
          <p:cNvSpPr/>
          <p:nvPr/>
        </p:nvSpPr>
        <p:spPr>
          <a:xfrm>
            <a:off x="2479025" y="4415875"/>
            <a:ext cx="395100" cy="402000"/>
          </a:xfrm>
          <a:prstGeom prst="rect">
            <a:avLst/>
          </a:prstGeom>
          <a:solidFill>
            <a:srgbClr val="20365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6</a:t>
            </a:r>
            <a:endParaRPr sz="16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0" name="Google Shape;130;p14"/>
          <p:cNvSpPr txBox="1"/>
          <p:nvPr/>
        </p:nvSpPr>
        <p:spPr>
          <a:xfrm>
            <a:off x="2848925" y="4386025"/>
            <a:ext cx="410051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just">
              <a:defRPr sz="1800" b="1">
                <a:solidFill>
                  <a:srgbClr val="F2F2F2"/>
                </a:solidFill>
                <a:latin typeface="Helvetica Neue"/>
              </a:defRPr>
            </a:lvl1pPr>
          </a:lstStyle>
          <a:p>
            <a:r>
              <a:rPr lang="pt-BR" dirty="0"/>
              <a:t>Implementação no Dispositivo</a:t>
            </a:r>
            <a:endParaRPr dirty="0">
              <a:sym typeface="Helvetica Neue"/>
            </a:endParaRPr>
          </a:p>
        </p:txBody>
      </p:sp>
      <p:sp>
        <p:nvSpPr>
          <p:cNvPr id="4" name="Google Shape;107;p14">
            <a:extLst>
              <a:ext uri="{FF2B5EF4-FFF2-40B4-BE49-F238E27FC236}">
                <a16:creationId xmlns:a16="http://schemas.microsoft.com/office/drawing/2014/main" id="{81093208-8156-A73E-579E-BE5E5A73AA75}"/>
              </a:ext>
            </a:extLst>
          </p:cNvPr>
          <p:cNvSpPr/>
          <p:nvPr/>
        </p:nvSpPr>
        <p:spPr>
          <a:xfrm>
            <a:off x="2479025" y="4967681"/>
            <a:ext cx="4470410" cy="402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567091"/>
              </a:solidFill>
            </a:endParaRPr>
          </a:p>
        </p:txBody>
      </p:sp>
      <p:sp>
        <p:nvSpPr>
          <p:cNvPr id="5" name="Google Shape;129;p14">
            <a:extLst>
              <a:ext uri="{FF2B5EF4-FFF2-40B4-BE49-F238E27FC236}">
                <a16:creationId xmlns:a16="http://schemas.microsoft.com/office/drawing/2014/main" id="{AA2389B9-92A1-5735-0C4E-5969D6F141B1}"/>
              </a:ext>
            </a:extLst>
          </p:cNvPr>
          <p:cNvSpPr/>
          <p:nvPr/>
        </p:nvSpPr>
        <p:spPr>
          <a:xfrm>
            <a:off x="2479025" y="4965276"/>
            <a:ext cx="395100" cy="402000"/>
          </a:xfrm>
          <a:prstGeom prst="rect">
            <a:avLst/>
          </a:prstGeom>
          <a:solidFill>
            <a:srgbClr val="20365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7</a:t>
            </a:r>
            <a:endParaRPr sz="16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" name="Google Shape;130;p14">
            <a:extLst>
              <a:ext uri="{FF2B5EF4-FFF2-40B4-BE49-F238E27FC236}">
                <a16:creationId xmlns:a16="http://schemas.microsoft.com/office/drawing/2014/main" id="{2042CBC7-CA8E-8E1A-14BA-E06E96867641}"/>
              </a:ext>
            </a:extLst>
          </p:cNvPr>
          <p:cNvSpPr txBox="1"/>
          <p:nvPr/>
        </p:nvSpPr>
        <p:spPr>
          <a:xfrm>
            <a:off x="2874125" y="4940444"/>
            <a:ext cx="2783779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just">
              <a:defRPr sz="1800" b="1">
                <a:solidFill>
                  <a:srgbClr val="F2F2F2"/>
                </a:solidFill>
                <a:latin typeface="Helvetica Neue"/>
              </a:defRPr>
            </a:lvl1pPr>
          </a:lstStyle>
          <a:p>
            <a:r>
              <a:rPr lang="pt-BR" dirty="0"/>
              <a:t>Resultados e Conclusões</a:t>
            </a:r>
            <a:endParaRPr dirty="0">
              <a:sym typeface="Helvetica Neue"/>
            </a:endParaRPr>
          </a:p>
        </p:txBody>
      </p:sp>
      <p:sp>
        <p:nvSpPr>
          <p:cNvPr id="7" name="Google Shape;225;p19">
            <a:extLst>
              <a:ext uri="{FF2B5EF4-FFF2-40B4-BE49-F238E27FC236}">
                <a16:creationId xmlns:a16="http://schemas.microsoft.com/office/drawing/2014/main" id="{509511DA-686D-FA3C-D694-AE37EA399ACC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Hipótese</a:t>
            </a:r>
            <a:endParaRPr sz="1000" b="1" dirty="0">
              <a:solidFill>
                <a:schemeClr val="bg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5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5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9" name="Google Shape;13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5"/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15"/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5"/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4" name="Google Shape;144;p15"/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5" name="Google Shape;145;p15"/>
          <p:cNvSpPr/>
          <p:nvPr/>
        </p:nvSpPr>
        <p:spPr>
          <a:xfrm>
            <a:off x="1638888" y="2974950"/>
            <a:ext cx="7124100" cy="9081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30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6" name="Google Shape;146;p15"/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325ECDFC-D18F-4798-E2F0-5945955895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9749" y="1660079"/>
            <a:ext cx="6364669" cy="46115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 número de dispositivos IoT cresce continuamente e muitas aplicações exigem decisões em tempo real. </a:t>
            </a:r>
            <a:r>
              <a:rPr kumimoji="0" lang="pt-BR" altLang="pt-BR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(Sinha, 2024)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Soluções baseadas em nuvem apresentam latência significativa e dependem de conectividade estável, o que limita aplicações críticas. </a:t>
            </a:r>
            <a:r>
              <a:rPr kumimoji="0" lang="pt-BR" altLang="pt-BR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(Zen et al., 2022)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pt-BR" altLang="pt-B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TinyML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permite processamento local no próprio dispositivo, reduzindo a latência em 35–40% e aumentando a eficiência. </a:t>
            </a:r>
            <a:r>
              <a:rPr kumimoji="0" lang="pt-BR" altLang="pt-BR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pt-BR" altLang="pt-BR" sz="18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Saraswathi</a:t>
            </a:r>
            <a:r>
              <a:rPr kumimoji="0" lang="pt-BR" altLang="pt-BR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2025)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2" name="Google Shape;152;p16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6"/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16"/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9" name="Google Shape;159;p16"/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0" name="Google Shape;160;p16"/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/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i="0" u="none" strike="noStrike" cap="none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2" name="Google Shape;162;p16"/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8DA2993-B45A-645D-67AA-33C8693DBE73}"/>
              </a:ext>
            </a:extLst>
          </p:cNvPr>
          <p:cNvSpPr txBox="1"/>
          <p:nvPr/>
        </p:nvSpPr>
        <p:spPr>
          <a:xfrm>
            <a:off x="1493784" y="1103566"/>
            <a:ext cx="7430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/>
              <a:t>Motivações</a:t>
            </a:r>
            <a:endParaRPr lang="pt-BR" sz="2800" b="1" dirty="0"/>
          </a:p>
        </p:txBody>
      </p:sp>
      <p:pic>
        <p:nvPicPr>
          <p:cNvPr id="9" name="Gráfico 8" descr="Tendência ascendente com preenchimento sólido">
            <a:extLst>
              <a:ext uri="{FF2B5EF4-FFF2-40B4-BE49-F238E27FC236}">
                <a16:creationId xmlns:a16="http://schemas.microsoft.com/office/drawing/2014/main" id="{347CEAC4-A302-4003-AA78-EECB16D5360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93784" y="1908173"/>
            <a:ext cx="914400" cy="914400"/>
          </a:xfrm>
          <a:prstGeom prst="rect">
            <a:avLst/>
          </a:prstGeom>
        </p:spPr>
      </p:pic>
      <p:pic>
        <p:nvPicPr>
          <p:cNvPr id="11" name="Gráfico 10" descr="Baixar da nuvem com preenchimento sólido">
            <a:extLst>
              <a:ext uri="{FF2B5EF4-FFF2-40B4-BE49-F238E27FC236}">
                <a16:creationId xmlns:a16="http://schemas.microsoft.com/office/drawing/2014/main" id="{0ACB48A0-433F-75AF-DB0C-C0739500553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3784" y="3578228"/>
            <a:ext cx="914400" cy="914400"/>
          </a:xfrm>
          <a:prstGeom prst="rect">
            <a:avLst/>
          </a:prstGeom>
        </p:spPr>
      </p:pic>
      <p:pic>
        <p:nvPicPr>
          <p:cNvPr id="13" name="Gráfico 12" descr="Processador com preenchimento sólido">
            <a:extLst>
              <a:ext uri="{FF2B5EF4-FFF2-40B4-BE49-F238E27FC236}">
                <a16:creationId xmlns:a16="http://schemas.microsoft.com/office/drawing/2014/main" id="{0DF90D24-490D-F684-82C0-E1BEAC241AB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93784" y="5248283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8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18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6" name="Google Shape;18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8"/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18"/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18"/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1" name="Google Shape;191;p18"/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2" name="Google Shape;192;p18"/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5/xx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3" name="Google Shape;193;p18"/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Objetivos</a:t>
            </a:r>
            <a:endParaRPr sz="3000" b="1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194" name="Google Shape;194;p18"/>
          <p:cNvGrpSpPr/>
          <p:nvPr/>
        </p:nvGrpSpPr>
        <p:grpSpPr>
          <a:xfrm>
            <a:off x="2479025" y="2702050"/>
            <a:ext cx="5899175" cy="871500"/>
            <a:chOff x="2479025" y="2702050"/>
            <a:chExt cx="5899175" cy="871500"/>
          </a:xfrm>
        </p:grpSpPr>
        <p:sp>
          <p:nvSpPr>
            <p:cNvPr id="195" name="Google Shape;195;p18"/>
            <p:cNvSpPr/>
            <p:nvPr/>
          </p:nvSpPr>
          <p:spPr>
            <a:xfrm>
              <a:off x="2641300" y="2761150"/>
              <a:ext cx="5736900" cy="812400"/>
            </a:xfrm>
            <a:prstGeom prst="roundRect">
              <a:avLst>
                <a:gd name="adj" fmla="val 16667"/>
              </a:avLst>
            </a:prstGeom>
            <a:solidFill>
              <a:srgbClr val="567091"/>
            </a:solidFill>
            <a:ln w="9525" cap="flat" cmpd="sng">
              <a:solidFill>
                <a:srgbClr val="56709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38100" dir="2280000" algn="bl" rotWithShape="0">
                <a:srgbClr val="000000">
                  <a:alpha val="6499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2F2F2"/>
                </a:solidFill>
              </a:endParaRPr>
            </a:p>
          </p:txBody>
        </p:sp>
        <p:sp>
          <p:nvSpPr>
            <p:cNvPr id="196" name="Google Shape;196;p18"/>
            <p:cNvSpPr txBox="1"/>
            <p:nvPr/>
          </p:nvSpPr>
          <p:spPr>
            <a:xfrm>
              <a:off x="2848925" y="2797900"/>
              <a:ext cx="5462400" cy="738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just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800" dirty="0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Levantar e analisar as plataformas de hardware para projetos </a:t>
              </a:r>
              <a:r>
                <a:rPr lang="pt-BR" sz="1800" dirty="0" err="1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TinyML</a:t>
              </a:r>
              <a:r>
                <a:rPr lang="pt-BR" sz="1800" dirty="0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.</a:t>
              </a:r>
              <a:endParaRPr sz="1800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97" name="Google Shape;197;p18"/>
            <p:cNvSpPr/>
            <p:nvPr/>
          </p:nvSpPr>
          <p:spPr>
            <a:xfrm>
              <a:off x="2479025" y="2702050"/>
              <a:ext cx="395100" cy="402000"/>
            </a:xfrm>
            <a:prstGeom prst="rect">
              <a:avLst/>
            </a:prstGeom>
            <a:solidFill>
              <a:srgbClr val="20365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600" b="1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2</a:t>
              </a:r>
              <a:endParaRPr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98" name="Google Shape;198;p18"/>
          <p:cNvGrpSpPr/>
          <p:nvPr/>
        </p:nvGrpSpPr>
        <p:grpSpPr>
          <a:xfrm>
            <a:off x="2479025" y="1557125"/>
            <a:ext cx="5899175" cy="871500"/>
            <a:chOff x="2479025" y="1557125"/>
            <a:chExt cx="5899175" cy="871500"/>
          </a:xfrm>
        </p:grpSpPr>
        <p:sp>
          <p:nvSpPr>
            <p:cNvPr id="199" name="Google Shape;199;p18"/>
            <p:cNvSpPr/>
            <p:nvPr/>
          </p:nvSpPr>
          <p:spPr>
            <a:xfrm>
              <a:off x="2641300" y="1616225"/>
              <a:ext cx="5736900" cy="812400"/>
            </a:xfrm>
            <a:prstGeom prst="roundRect">
              <a:avLst>
                <a:gd name="adj" fmla="val 16667"/>
              </a:avLst>
            </a:prstGeom>
            <a:solidFill>
              <a:srgbClr val="567091"/>
            </a:solidFill>
            <a:ln w="9525" cap="flat" cmpd="sng">
              <a:solidFill>
                <a:srgbClr val="56709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38100" dir="2280000" algn="bl" rotWithShape="0">
                <a:srgbClr val="000000">
                  <a:alpha val="6499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2F2F2"/>
                </a:solidFill>
              </a:endParaRPr>
            </a:p>
          </p:txBody>
        </p:sp>
        <p:sp>
          <p:nvSpPr>
            <p:cNvPr id="200" name="Google Shape;200;p18"/>
            <p:cNvSpPr/>
            <p:nvPr/>
          </p:nvSpPr>
          <p:spPr>
            <a:xfrm>
              <a:off x="2479025" y="1557125"/>
              <a:ext cx="395100" cy="402000"/>
            </a:xfrm>
            <a:prstGeom prst="rect">
              <a:avLst/>
            </a:prstGeom>
            <a:solidFill>
              <a:srgbClr val="20365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600" b="1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1</a:t>
              </a:r>
              <a:endParaRPr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01" name="Google Shape;201;p18"/>
            <p:cNvSpPr txBox="1"/>
            <p:nvPr/>
          </p:nvSpPr>
          <p:spPr>
            <a:xfrm>
              <a:off x="2848925" y="1674350"/>
              <a:ext cx="5462400" cy="738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0" indent="0" algn="just">
                <a:buNone/>
                <a:defRPr sz="1800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</a:defRPr>
              </a:lvl1pPr>
            </a:lstStyle>
            <a:p>
              <a:r>
                <a:rPr lang="pt-BR" dirty="0"/>
                <a:t>Pesquisar e avaliar as ferramentas de desenvolvimento </a:t>
              </a:r>
              <a:r>
                <a:rPr lang="pt-BR" dirty="0" err="1"/>
                <a:t>TinyML</a:t>
              </a:r>
              <a:r>
                <a:rPr lang="pt-BR" dirty="0"/>
                <a:t> disponíveis.</a:t>
              </a:r>
              <a:endParaRPr dirty="0">
                <a:sym typeface="Helvetica Neue"/>
              </a:endParaRPr>
            </a:p>
          </p:txBody>
        </p:sp>
      </p:grpSp>
      <p:grpSp>
        <p:nvGrpSpPr>
          <p:cNvPr id="202" name="Google Shape;202;p18"/>
          <p:cNvGrpSpPr/>
          <p:nvPr/>
        </p:nvGrpSpPr>
        <p:grpSpPr>
          <a:xfrm>
            <a:off x="2479025" y="3906075"/>
            <a:ext cx="5899175" cy="871500"/>
            <a:chOff x="2479025" y="3906075"/>
            <a:chExt cx="5899175" cy="871500"/>
          </a:xfrm>
        </p:grpSpPr>
        <p:sp>
          <p:nvSpPr>
            <p:cNvPr id="203" name="Google Shape;203;p18"/>
            <p:cNvSpPr/>
            <p:nvPr/>
          </p:nvSpPr>
          <p:spPr>
            <a:xfrm>
              <a:off x="2641300" y="3965175"/>
              <a:ext cx="5736900" cy="812400"/>
            </a:xfrm>
            <a:prstGeom prst="roundRect">
              <a:avLst>
                <a:gd name="adj" fmla="val 16667"/>
              </a:avLst>
            </a:prstGeom>
            <a:solidFill>
              <a:srgbClr val="567091"/>
            </a:solidFill>
            <a:ln w="9525" cap="flat" cmpd="sng">
              <a:solidFill>
                <a:srgbClr val="56709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38100" dir="2280000" algn="bl" rotWithShape="0">
                <a:srgbClr val="000000">
                  <a:alpha val="6499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2F2F2"/>
                </a:solidFill>
              </a:endParaRPr>
            </a:p>
          </p:txBody>
        </p:sp>
        <p:sp>
          <p:nvSpPr>
            <p:cNvPr id="204" name="Google Shape;204;p18"/>
            <p:cNvSpPr/>
            <p:nvPr/>
          </p:nvSpPr>
          <p:spPr>
            <a:xfrm>
              <a:off x="2479025" y="3906075"/>
              <a:ext cx="395100" cy="402000"/>
            </a:xfrm>
            <a:prstGeom prst="rect">
              <a:avLst/>
            </a:prstGeom>
            <a:solidFill>
              <a:srgbClr val="20365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600" b="1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3</a:t>
              </a:r>
              <a:endParaRPr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05" name="Google Shape;205;p18"/>
            <p:cNvSpPr txBox="1"/>
            <p:nvPr/>
          </p:nvSpPr>
          <p:spPr>
            <a:xfrm>
              <a:off x="2848925" y="4001925"/>
              <a:ext cx="5462400" cy="738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just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800" dirty="0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Elaborar um fluxo de trabalho ponta-a-ponta para soluções </a:t>
              </a:r>
              <a:r>
                <a:rPr lang="pt-BR" sz="1800" dirty="0" err="1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TinyML</a:t>
              </a:r>
              <a:r>
                <a:rPr lang="pt-BR" sz="1800" dirty="0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.</a:t>
              </a:r>
              <a:endParaRPr sz="1800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06" name="Google Shape;206;p18"/>
          <p:cNvGrpSpPr/>
          <p:nvPr/>
        </p:nvGrpSpPr>
        <p:grpSpPr>
          <a:xfrm>
            <a:off x="2479025" y="5169200"/>
            <a:ext cx="5899175" cy="871500"/>
            <a:chOff x="2479025" y="5169200"/>
            <a:chExt cx="5899175" cy="871500"/>
          </a:xfrm>
        </p:grpSpPr>
        <p:sp>
          <p:nvSpPr>
            <p:cNvPr id="207" name="Google Shape;207;p18"/>
            <p:cNvSpPr/>
            <p:nvPr/>
          </p:nvSpPr>
          <p:spPr>
            <a:xfrm>
              <a:off x="2641300" y="5228300"/>
              <a:ext cx="5736900" cy="812400"/>
            </a:xfrm>
            <a:prstGeom prst="roundRect">
              <a:avLst>
                <a:gd name="adj" fmla="val 16667"/>
              </a:avLst>
            </a:prstGeom>
            <a:solidFill>
              <a:srgbClr val="567091"/>
            </a:solidFill>
            <a:ln w="9525" cap="flat" cmpd="sng">
              <a:solidFill>
                <a:srgbClr val="56709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38100" dir="2280000" algn="bl" rotWithShape="0">
                <a:srgbClr val="000000">
                  <a:alpha val="6499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2F2F2"/>
                </a:solidFill>
              </a:endParaRPr>
            </a:p>
          </p:txBody>
        </p:sp>
        <p:sp>
          <p:nvSpPr>
            <p:cNvPr id="208" name="Google Shape;208;p18"/>
            <p:cNvSpPr/>
            <p:nvPr/>
          </p:nvSpPr>
          <p:spPr>
            <a:xfrm>
              <a:off x="2479025" y="5169200"/>
              <a:ext cx="395100" cy="402000"/>
            </a:xfrm>
            <a:prstGeom prst="rect">
              <a:avLst/>
            </a:prstGeom>
            <a:solidFill>
              <a:srgbClr val="20365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600" b="1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4</a:t>
              </a:r>
              <a:endParaRPr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09" name="Google Shape;209;p18"/>
            <p:cNvSpPr txBox="1"/>
            <p:nvPr/>
          </p:nvSpPr>
          <p:spPr>
            <a:xfrm>
              <a:off x="2848925" y="5265050"/>
              <a:ext cx="5462400" cy="738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just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800" dirty="0">
                  <a:solidFill>
                    <a:srgbClr val="F2F2F2"/>
                  </a:solidFill>
                  <a:effectLst/>
                  <a:latin typeface="Helvetica Neue" panose="020B0604020202020204" charset="0"/>
                </a:rPr>
                <a:t>Estudo de caso: desenvolvimento de modelo </a:t>
              </a:r>
              <a:r>
                <a:rPr lang="pt-BR" sz="1800" dirty="0" err="1">
                  <a:solidFill>
                    <a:srgbClr val="F2F2F2"/>
                  </a:solidFill>
                  <a:effectLst/>
                  <a:latin typeface="Helvetica Neue" panose="020B0604020202020204" charset="0"/>
                </a:rPr>
                <a:t>TinyML</a:t>
              </a:r>
              <a:r>
                <a:rPr lang="pt-BR" sz="1800" dirty="0">
                  <a:solidFill>
                    <a:srgbClr val="F2F2F2"/>
                  </a:solidFill>
                  <a:effectLst/>
                  <a:latin typeface="Helvetica Neue" panose="020B0604020202020204" charset="0"/>
                </a:rPr>
                <a:t> para classificação de resíduos.</a:t>
              </a:r>
              <a:endParaRPr lang="pt-BR" sz="1800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210" name="Google Shape;210;p18"/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b="1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b="1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Objetivos</a:t>
            </a:r>
            <a:endParaRPr sz="10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>
          <a:extLst>
            <a:ext uri="{FF2B5EF4-FFF2-40B4-BE49-F238E27FC236}">
              <a16:creationId xmlns:a16="http://schemas.microsoft.com/office/drawing/2014/main" id="{072DAA5A-934B-3E24-9F89-2FD57B416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8">
            <a:extLst>
              <a:ext uri="{FF2B5EF4-FFF2-40B4-BE49-F238E27FC236}">
                <a16:creationId xmlns:a16="http://schemas.microsoft.com/office/drawing/2014/main" id="{2E5C838F-9172-E201-E080-99F5DC506D7C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18">
            <a:extLst>
              <a:ext uri="{FF2B5EF4-FFF2-40B4-BE49-F238E27FC236}">
                <a16:creationId xmlns:a16="http://schemas.microsoft.com/office/drawing/2014/main" id="{31A887BF-1DA4-8578-C4A5-2E4D734F16C7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6" name="Google Shape;186;p18">
            <a:extLst>
              <a:ext uri="{FF2B5EF4-FFF2-40B4-BE49-F238E27FC236}">
                <a16:creationId xmlns:a16="http://schemas.microsoft.com/office/drawing/2014/main" id="{F189420F-4A46-46A4-51D9-CFCE64A9F84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8">
            <a:extLst>
              <a:ext uri="{FF2B5EF4-FFF2-40B4-BE49-F238E27FC236}">
                <a16:creationId xmlns:a16="http://schemas.microsoft.com/office/drawing/2014/main" id="{5C659FF4-C68B-27C2-D52B-0BC2015E88D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8">
            <a:extLst>
              <a:ext uri="{FF2B5EF4-FFF2-40B4-BE49-F238E27FC236}">
                <a16:creationId xmlns:a16="http://schemas.microsoft.com/office/drawing/2014/main" id="{F519B14E-E6A3-4FC7-2748-AAAF4D06B898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18">
            <a:extLst>
              <a:ext uri="{FF2B5EF4-FFF2-40B4-BE49-F238E27FC236}">
                <a16:creationId xmlns:a16="http://schemas.microsoft.com/office/drawing/2014/main" id="{C0640E94-D97B-6745-C8EA-761AB4B7CFFF}"/>
              </a:ext>
            </a:extLst>
          </p:cNvPr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18">
            <a:extLst>
              <a:ext uri="{FF2B5EF4-FFF2-40B4-BE49-F238E27FC236}">
                <a16:creationId xmlns:a16="http://schemas.microsoft.com/office/drawing/2014/main" id="{66CD1441-7BCF-7827-4356-C2A05BF49B3E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1" name="Google Shape;191;p18">
            <a:extLst>
              <a:ext uri="{FF2B5EF4-FFF2-40B4-BE49-F238E27FC236}">
                <a16:creationId xmlns:a16="http://schemas.microsoft.com/office/drawing/2014/main" id="{D46A954D-3D4B-2AA5-0BDC-56F454F30DB6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2" name="Google Shape;192;p18">
            <a:extLst>
              <a:ext uri="{FF2B5EF4-FFF2-40B4-BE49-F238E27FC236}">
                <a16:creationId xmlns:a16="http://schemas.microsoft.com/office/drawing/2014/main" id="{B5C49509-2965-0EEB-FEA0-07AF82381F62}"/>
              </a:ext>
            </a:extLst>
          </p:cNvPr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5/xx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3" name="Google Shape;193;p18">
            <a:extLst>
              <a:ext uri="{FF2B5EF4-FFF2-40B4-BE49-F238E27FC236}">
                <a16:creationId xmlns:a16="http://schemas.microsoft.com/office/drawing/2014/main" id="{483D000A-1374-5656-4397-4C7BFB0ADF39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Objetivos</a:t>
            </a:r>
            <a:endParaRPr sz="3000" b="1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198" name="Google Shape;198;p18">
            <a:extLst>
              <a:ext uri="{FF2B5EF4-FFF2-40B4-BE49-F238E27FC236}">
                <a16:creationId xmlns:a16="http://schemas.microsoft.com/office/drawing/2014/main" id="{3126E194-601D-62D2-CFD4-B14B295E317D}"/>
              </a:ext>
            </a:extLst>
          </p:cNvPr>
          <p:cNvGrpSpPr/>
          <p:nvPr/>
        </p:nvGrpSpPr>
        <p:grpSpPr>
          <a:xfrm>
            <a:off x="2340651" y="1960511"/>
            <a:ext cx="5736900" cy="1447476"/>
            <a:chOff x="2641300" y="1615231"/>
            <a:chExt cx="5736900" cy="813394"/>
          </a:xfrm>
        </p:grpSpPr>
        <p:sp>
          <p:nvSpPr>
            <p:cNvPr id="199" name="Google Shape;199;p18">
              <a:extLst>
                <a:ext uri="{FF2B5EF4-FFF2-40B4-BE49-F238E27FC236}">
                  <a16:creationId xmlns:a16="http://schemas.microsoft.com/office/drawing/2014/main" id="{711D2D31-A970-CE63-2CBE-5CE68E478414}"/>
                </a:ext>
              </a:extLst>
            </p:cNvPr>
            <p:cNvSpPr/>
            <p:nvPr/>
          </p:nvSpPr>
          <p:spPr>
            <a:xfrm>
              <a:off x="2641300" y="1616225"/>
              <a:ext cx="5736900" cy="812400"/>
            </a:xfrm>
            <a:prstGeom prst="roundRect">
              <a:avLst>
                <a:gd name="adj" fmla="val 16667"/>
              </a:avLst>
            </a:prstGeom>
            <a:solidFill>
              <a:srgbClr val="567091"/>
            </a:solidFill>
            <a:ln w="9525" cap="flat" cmpd="sng">
              <a:solidFill>
                <a:srgbClr val="56709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38100" dir="2280000" algn="bl" rotWithShape="0">
                <a:srgbClr val="000000">
                  <a:alpha val="6499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2F2F2"/>
                </a:solidFill>
              </a:endParaRPr>
            </a:p>
          </p:txBody>
        </p:sp>
        <p:sp>
          <p:nvSpPr>
            <p:cNvPr id="201" name="Google Shape;201;p18">
              <a:extLst>
                <a:ext uri="{FF2B5EF4-FFF2-40B4-BE49-F238E27FC236}">
                  <a16:creationId xmlns:a16="http://schemas.microsoft.com/office/drawing/2014/main" id="{37938839-FF5C-54EA-FC75-A66FF0A01216}"/>
                </a:ext>
              </a:extLst>
            </p:cNvPr>
            <p:cNvSpPr txBox="1"/>
            <p:nvPr/>
          </p:nvSpPr>
          <p:spPr>
            <a:xfrm>
              <a:off x="2729400" y="1615231"/>
              <a:ext cx="5462400" cy="7955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0" indent="0" algn="just">
                <a:buNone/>
                <a:defRPr sz="1800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</a:defRPr>
              </a:lvl1pPr>
            </a:lstStyle>
            <a:p>
              <a:r>
                <a:rPr lang="pt-BR" sz="2000" b="1" i="1" dirty="0"/>
                <a:t>Avaliar a viabilidade de aplicar soluções baseadas em aprendizado de máquina a sistemas embarcados com recursos computacionais limitados.</a:t>
              </a:r>
              <a:endParaRPr sz="2000" b="1" i="1" dirty="0">
                <a:sym typeface="Helvetica Neue"/>
              </a:endParaRPr>
            </a:p>
          </p:txBody>
        </p:sp>
      </p:grpSp>
      <p:sp>
        <p:nvSpPr>
          <p:cNvPr id="210" name="Google Shape;210;p18">
            <a:extLst>
              <a:ext uri="{FF2B5EF4-FFF2-40B4-BE49-F238E27FC236}">
                <a16:creationId xmlns:a16="http://schemas.microsoft.com/office/drawing/2014/main" id="{CF845F95-D253-9127-8C60-177D6A565510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Objetivos</a:t>
            </a:r>
            <a:endParaRPr sz="10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34ED1736-9AEE-03D2-A384-6CACBA6DBF1A}"/>
              </a:ext>
            </a:extLst>
          </p:cNvPr>
          <p:cNvSpPr txBox="1"/>
          <p:nvPr/>
        </p:nvSpPr>
        <p:spPr>
          <a:xfrm>
            <a:off x="1493784" y="1268898"/>
            <a:ext cx="7430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/>
              <a:t>Objetivo Geral</a:t>
            </a:r>
            <a:endParaRPr lang="pt-BR" sz="2800" b="1" dirty="0"/>
          </a:p>
        </p:txBody>
      </p:sp>
    </p:spTree>
    <p:extLst>
      <p:ext uri="{BB962C8B-B14F-4D97-AF65-F5344CB8AC3E}">
        <p14:creationId xmlns:p14="http://schemas.microsoft.com/office/powerpoint/2010/main" val="31304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9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19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8" name="Google Shape;21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9"/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9"/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9"/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3" name="Google Shape;223;p19"/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4" name="Google Shape;224;p19"/>
          <p:cNvSpPr/>
          <p:nvPr/>
        </p:nvSpPr>
        <p:spPr>
          <a:xfrm>
            <a:off x="1638888" y="2974950"/>
            <a:ext cx="7124100" cy="9081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Problema e hipótese</a:t>
            </a:r>
            <a:endParaRPr sz="30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5" name="Google Shape;225;p19"/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b="1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EA2C0028-C9A5-9E16-92AA-4E11E0BE7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F361F5B7-4525-FDBE-1C16-3C05DF6D73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6239" y="1909590"/>
            <a:ext cx="5518884" cy="1703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pt-BR" sz="1800" dirty="0"/>
              <a:t>Muitos dispositivos IoT dependem de processamento na nuvem, o que </a:t>
            </a:r>
            <a:r>
              <a:rPr lang="pt-BR" sz="1800" b="1" dirty="0"/>
              <a:t>gera latência significativa</a:t>
            </a:r>
            <a:r>
              <a:rPr lang="pt-BR" sz="1800" dirty="0"/>
              <a:t> e limita aplicações que exigem </a:t>
            </a:r>
            <a:r>
              <a:rPr lang="pt-BR" sz="1800" b="1" dirty="0"/>
              <a:t>resposta em tempo real</a:t>
            </a:r>
            <a:r>
              <a:rPr lang="pt-BR" sz="1800" dirty="0"/>
              <a:t>.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38933019-4594-5F99-CFE3-0C30913DB98C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FBF2B0CD-C642-52B3-9442-7D8962F71A31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FFA0C71D-2B36-3C47-7A5A-5F51EDFEFD3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2622983D-F703-3691-7F07-13AB2E18144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74C026CF-E730-0A86-E70A-8A87442F9193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6">
            <a:extLst>
              <a:ext uri="{FF2B5EF4-FFF2-40B4-BE49-F238E27FC236}">
                <a16:creationId xmlns:a16="http://schemas.microsoft.com/office/drawing/2014/main" id="{ABFA590C-4D9B-CFF1-3909-64C870F08D76}"/>
              </a:ext>
            </a:extLst>
          </p:cNvPr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16">
            <a:extLst>
              <a:ext uri="{FF2B5EF4-FFF2-40B4-BE49-F238E27FC236}">
                <a16:creationId xmlns:a16="http://schemas.microsoft.com/office/drawing/2014/main" id="{E207CC7C-FC98-8338-6FDF-C118A7E7C4F4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CFC0C924-5358-1CD4-FED7-F450B8527615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0" name="Google Shape;160;p16">
            <a:extLst>
              <a:ext uri="{FF2B5EF4-FFF2-40B4-BE49-F238E27FC236}">
                <a16:creationId xmlns:a16="http://schemas.microsoft.com/office/drawing/2014/main" id="{531EFFAE-8E5D-7285-6E82-48C9718EE871}"/>
              </a:ext>
            </a:extLst>
          </p:cNvPr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84CE4F70-D2A0-4CD0-5387-9A53F4C24F79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Problema e hipótese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0380472-72A2-A814-1730-A2B516A1C530}"/>
              </a:ext>
            </a:extLst>
          </p:cNvPr>
          <p:cNvSpPr txBox="1"/>
          <p:nvPr/>
        </p:nvSpPr>
        <p:spPr>
          <a:xfrm>
            <a:off x="1493784" y="1103566"/>
            <a:ext cx="7430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/>
              <a:t>Problema</a:t>
            </a:r>
            <a:endParaRPr lang="pt-BR" sz="2800" b="1" dirty="0"/>
          </a:p>
        </p:txBody>
      </p:sp>
      <p:sp>
        <p:nvSpPr>
          <p:cNvPr id="2" name="Google Shape;225;p19">
            <a:extLst>
              <a:ext uri="{FF2B5EF4-FFF2-40B4-BE49-F238E27FC236}">
                <a16:creationId xmlns:a16="http://schemas.microsoft.com/office/drawing/2014/main" id="{7CEADE6A-6395-C06B-2AF2-1D0DCCDACB79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Problema</a:t>
            </a:r>
            <a:endParaRPr sz="1000" b="1" dirty="0">
              <a:solidFill>
                <a:schemeClr val="bg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Hipótese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" name="Imagem 3" descr="Circuito eletrônico azul">
            <a:extLst>
              <a:ext uri="{FF2B5EF4-FFF2-40B4-BE49-F238E27FC236}">
                <a16:creationId xmlns:a16="http://schemas.microsoft.com/office/drawing/2014/main" id="{90C4A633-8D42-34AD-B418-0FC31DB625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975" r="23296" b="3015"/>
          <a:stretch>
            <a:fillRect/>
          </a:stretch>
        </p:blipFill>
        <p:spPr>
          <a:xfrm>
            <a:off x="1683357" y="3956979"/>
            <a:ext cx="1098610" cy="1946865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93F88745-6E7B-D579-4348-59611173C9FF}"/>
              </a:ext>
            </a:extLst>
          </p:cNvPr>
          <p:cNvSpPr txBox="1"/>
          <p:nvPr/>
        </p:nvSpPr>
        <p:spPr>
          <a:xfrm>
            <a:off x="1493784" y="5970799"/>
            <a:ext cx="7350089" cy="446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Figura 1: ESP-32</a:t>
            </a:r>
          </a:p>
          <a:p>
            <a:r>
              <a:rPr lang="pt-BR" sz="900" dirty="0"/>
              <a:t>Fonte: https://br.mouser.com/ProductDetail/Espressif-Systems/ESP32-DevKitC-S1?qs=%252BEew9%252B0nqrCxC7WFWvXX3A%3D%3D</a:t>
            </a:r>
          </a:p>
        </p:txBody>
      </p:sp>
      <p:pic>
        <p:nvPicPr>
          <p:cNvPr id="10" name="Imagem 9" descr="Diagrama">
            <a:extLst>
              <a:ext uri="{FF2B5EF4-FFF2-40B4-BE49-F238E27FC236}">
                <a16:creationId xmlns:a16="http://schemas.microsoft.com/office/drawing/2014/main" id="{32D46B92-004C-DDA3-C761-74BE3A204CF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7496" t="4456" r="7896" b="4606"/>
          <a:stretch>
            <a:fillRect/>
          </a:stretch>
        </p:blipFill>
        <p:spPr>
          <a:xfrm>
            <a:off x="7298635" y="1838632"/>
            <a:ext cx="1650493" cy="1773988"/>
          </a:xfrm>
          <a:prstGeom prst="rect">
            <a:avLst/>
          </a:prstGeom>
        </p:spPr>
      </p:pic>
      <p:sp>
        <p:nvSpPr>
          <p:cNvPr id="12" name="Rectangle 4">
            <a:extLst>
              <a:ext uri="{FF2B5EF4-FFF2-40B4-BE49-F238E27FC236}">
                <a16:creationId xmlns:a16="http://schemas.microsoft.com/office/drawing/2014/main" id="{4815273C-D2F5-1224-26A8-CEF4DA7DD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57816" y="4206230"/>
            <a:ext cx="5518884" cy="12875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</a:pPr>
            <a:r>
              <a:rPr lang="pt-BR" sz="1800" dirty="0"/>
              <a:t>Muitos dispositivos têm </a:t>
            </a:r>
            <a:r>
              <a:rPr lang="pt-BR" sz="1800" b="1" dirty="0"/>
              <a:t>recursos computacionais reduzidos</a:t>
            </a:r>
            <a:r>
              <a:rPr lang="pt-BR" sz="1800" dirty="0"/>
              <a:t>, dificultando o uso de modelos tradicionais de IA.</a:t>
            </a:r>
            <a:endParaRPr lang="pt-BR" sz="1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412073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>
          <a:extLst>
            <a:ext uri="{FF2B5EF4-FFF2-40B4-BE49-F238E27FC236}">
              <a16:creationId xmlns:a16="http://schemas.microsoft.com/office/drawing/2014/main" id="{1A28A3E8-57E1-D3C4-1E18-5167263E1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9">
            <a:extLst>
              <a:ext uri="{FF2B5EF4-FFF2-40B4-BE49-F238E27FC236}">
                <a16:creationId xmlns:a16="http://schemas.microsoft.com/office/drawing/2014/main" id="{BCBCA0BF-EE11-C5FD-43C3-92AFF9914D56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19">
            <a:extLst>
              <a:ext uri="{FF2B5EF4-FFF2-40B4-BE49-F238E27FC236}">
                <a16:creationId xmlns:a16="http://schemas.microsoft.com/office/drawing/2014/main" id="{B81C8EB0-6E94-ABC1-2427-7E583A63B98F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8" name="Google Shape;218;p19">
            <a:extLst>
              <a:ext uri="{FF2B5EF4-FFF2-40B4-BE49-F238E27FC236}">
                <a16:creationId xmlns:a16="http://schemas.microsoft.com/office/drawing/2014/main" id="{5812DEE3-EBF0-5AC4-40DD-35A2CCFC3F6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19">
            <a:extLst>
              <a:ext uri="{FF2B5EF4-FFF2-40B4-BE49-F238E27FC236}">
                <a16:creationId xmlns:a16="http://schemas.microsoft.com/office/drawing/2014/main" id="{FAD4749F-86AA-C00E-0CF9-2673EA79482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9">
            <a:extLst>
              <a:ext uri="{FF2B5EF4-FFF2-40B4-BE49-F238E27FC236}">
                <a16:creationId xmlns:a16="http://schemas.microsoft.com/office/drawing/2014/main" id="{0EE76C00-DAD1-15A4-674B-9E48D9BD7F2F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9">
            <a:extLst>
              <a:ext uri="{FF2B5EF4-FFF2-40B4-BE49-F238E27FC236}">
                <a16:creationId xmlns:a16="http://schemas.microsoft.com/office/drawing/2014/main" id="{46E69321-148F-1181-7762-8B13D80E7D3E}"/>
              </a:ext>
            </a:extLst>
          </p:cNvPr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9">
            <a:extLst>
              <a:ext uri="{FF2B5EF4-FFF2-40B4-BE49-F238E27FC236}">
                <a16:creationId xmlns:a16="http://schemas.microsoft.com/office/drawing/2014/main" id="{AB86AE42-EBC2-2C32-4EEF-C9F934DA4D44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3" name="Google Shape;223;p19">
            <a:extLst>
              <a:ext uri="{FF2B5EF4-FFF2-40B4-BE49-F238E27FC236}">
                <a16:creationId xmlns:a16="http://schemas.microsoft.com/office/drawing/2014/main" id="{12318ED2-1389-70C9-D67B-4E83E033B681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4" name="Google Shape;224;p19">
            <a:extLst>
              <a:ext uri="{FF2B5EF4-FFF2-40B4-BE49-F238E27FC236}">
                <a16:creationId xmlns:a16="http://schemas.microsoft.com/office/drawing/2014/main" id="{2B2B9283-513E-1060-4B88-7D7EDEF15CDF}"/>
              </a:ext>
            </a:extLst>
          </p:cNvPr>
          <p:cNvSpPr/>
          <p:nvPr/>
        </p:nvSpPr>
        <p:spPr>
          <a:xfrm>
            <a:off x="1638888" y="2974950"/>
            <a:ext cx="7124100" cy="9081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30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5" name="Google Shape;225;p19">
            <a:extLst>
              <a:ext uri="{FF2B5EF4-FFF2-40B4-BE49-F238E27FC236}">
                <a16:creationId xmlns:a16="http://schemas.microsoft.com/office/drawing/2014/main" id="{04E237F3-5789-53A7-DB4A-FB4BD01CDFE4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0470524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25B9C66A-B560-0C20-EEFD-12A5D861E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31D81FD7-8D4A-BCB8-F4EF-186B5A1F282B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66FD721F-F7EB-1105-A88F-210195AC6ACB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E5B9003D-9260-A060-F282-1A126BB2ACF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0D0653BD-E957-45DB-5299-8790BE5121D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9207283B-31A0-4A71-191E-51E8ABC95146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44A33BC1-A6AE-D49B-48D2-DA9C3E71F8CB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8D3377F3-4496-7B19-53F8-DF83CE413F4F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225;p19">
            <a:extLst>
              <a:ext uri="{FF2B5EF4-FFF2-40B4-BE49-F238E27FC236}">
                <a16:creationId xmlns:a16="http://schemas.microsoft.com/office/drawing/2014/main" id="{2F05756C-1173-FCBD-9E7F-0B20BFFC6A55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34" name="Agrupar 33">
            <a:extLst>
              <a:ext uri="{FF2B5EF4-FFF2-40B4-BE49-F238E27FC236}">
                <a16:creationId xmlns:a16="http://schemas.microsoft.com/office/drawing/2014/main" id="{E997F8E3-1F54-656C-A002-8B03E60A60FB}"/>
              </a:ext>
            </a:extLst>
          </p:cNvPr>
          <p:cNvGrpSpPr/>
          <p:nvPr/>
        </p:nvGrpSpPr>
        <p:grpSpPr>
          <a:xfrm>
            <a:off x="3487459" y="908100"/>
            <a:ext cx="3758600" cy="5637899"/>
            <a:chOff x="1442350" y="933500"/>
            <a:chExt cx="3758600" cy="5637899"/>
          </a:xfrm>
        </p:grpSpPr>
        <p:pic>
          <p:nvPicPr>
            <p:cNvPr id="17" name="Imagem 16" descr="Diagrama&#10;&#10;O conteúdo gerado por IA pode estar incorreto.">
              <a:extLst>
                <a:ext uri="{FF2B5EF4-FFF2-40B4-BE49-F238E27FC236}">
                  <a16:creationId xmlns:a16="http://schemas.microsoft.com/office/drawing/2014/main" id="{4FE4EED7-C4A9-A390-D3FD-EAAF58BB419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42350" y="933500"/>
              <a:ext cx="3758600" cy="5637899"/>
            </a:xfrm>
            <a:prstGeom prst="rect">
              <a:avLst/>
            </a:prstGeom>
          </p:spPr>
        </p:pic>
        <p:grpSp>
          <p:nvGrpSpPr>
            <p:cNvPr id="33" name="Agrupar 32">
              <a:extLst>
                <a:ext uri="{FF2B5EF4-FFF2-40B4-BE49-F238E27FC236}">
                  <a16:creationId xmlns:a16="http://schemas.microsoft.com/office/drawing/2014/main" id="{501A3DEF-D44E-77C8-AFEB-1A92AD87A317}"/>
                </a:ext>
              </a:extLst>
            </p:cNvPr>
            <p:cNvGrpSpPr/>
            <p:nvPr/>
          </p:nvGrpSpPr>
          <p:grpSpPr>
            <a:xfrm>
              <a:off x="3731299" y="2485399"/>
              <a:ext cx="45360" cy="19800"/>
              <a:chOff x="3731299" y="2485399"/>
              <a:chExt cx="45360" cy="19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6">
                <p14:nvContentPartPr>
                  <p14:cNvPr id="31" name="Tinta 30">
                    <a:extLst>
                      <a:ext uri="{FF2B5EF4-FFF2-40B4-BE49-F238E27FC236}">
                        <a16:creationId xmlns:a16="http://schemas.microsoft.com/office/drawing/2014/main" id="{DA53DF16-5C29-1FD3-75EC-D56576DFD183}"/>
                      </a:ext>
                    </a:extLst>
                  </p14:cNvPr>
                  <p14:cNvContentPartPr/>
                  <p14:nvPr/>
                </p14:nvContentPartPr>
                <p14:xfrm>
                  <a:off x="3731299" y="2485399"/>
                  <a:ext cx="45360" cy="14040"/>
                </p14:xfrm>
              </p:contentPart>
            </mc:Choice>
            <mc:Fallback xmlns="">
              <p:pic>
                <p:nvPicPr>
                  <p:cNvPr id="31" name="Tinta 30">
                    <a:extLst>
                      <a:ext uri="{FF2B5EF4-FFF2-40B4-BE49-F238E27FC236}">
                        <a16:creationId xmlns:a16="http://schemas.microsoft.com/office/drawing/2014/main" id="{DA53DF16-5C29-1FD3-75EC-D56576DFD183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3726979" y="2481079"/>
                    <a:ext cx="54000" cy="226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32" name="Tinta 31">
                    <a:extLst>
                      <a:ext uri="{FF2B5EF4-FFF2-40B4-BE49-F238E27FC236}">
                        <a16:creationId xmlns:a16="http://schemas.microsoft.com/office/drawing/2014/main" id="{D031F205-91F4-72E3-E15E-0754D38E9253}"/>
                      </a:ext>
                    </a:extLst>
                  </p14:cNvPr>
                  <p14:cNvContentPartPr/>
                  <p14:nvPr/>
                </p14:nvContentPartPr>
                <p14:xfrm>
                  <a:off x="3731299" y="2495839"/>
                  <a:ext cx="28800" cy="9360"/>
                </p14:xfrm>
              </p:contentPart>
            </mc:Choice>
            <mc:Fallback xmlns="">
              <p:pic>
                <p:nvPicPr>
                  <p:cNvPr id="32" name="Tinta 31">
                    <a:extLst>
                      <a:ext uri="{FF2B5EF4-FFF2-40B4-BE49-F238E27FC236}">
                        <a16:creationId xmlns:a16="http://schemas.microsoft.com/office/drawing/2014/main" id="{D031F205-91F4-72E3-E15E-0754D38E9253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3726979" y="2491519"/>
                    <a:ext cx="37440" cy="1800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sp>
        <p:nvSpPr>
          <p:cNvPr id="35" name="Seta: para a Direita 34">
            <a:extLst>
              <a:ext uri="{FF2B5EF4-FFF2-40B4-BE49-F238E27FC236}">
                <a16:creationId xmlns:a16="http://schemas.microsoft.com/office/drawing/2014/main" id="{4DF063B1-F387-A1CF-2C65-20346225C3B5}"/>
              </a:ext>
            </a:extLst>
          </p:cNvPr>
          <p:cNvSpPr/>
          <p:nvPr/>
        </p:nvSpPr>
        <p:spPr>
          <a:xfrm>
            <a:off x="2536723" y="2379406"/>
            <a:ext cx="1319100" cy="5014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AQUI!</a:t>
            </a:r>
          </a:p>
        </p:txBody>
      </p:sp>
    </p:spTree>
    <p:extLst>
      <p:ext uri="{BB962C8B-B14F-4D97-AF65-F5344CB8AC3E}">
        <p14:creationId xmlns:p14="http://schemas.microsoft.com/office/powerpoint/2010/main" val="30086916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E4631DD4-269B-B51E-53E6-018BFA75B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E1BDD28E-955F-4A2E-B0D2-BA2C7AF809BE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1F98CA76-D1B8-BEBD-0595-A975787F8FC7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5E9E2F10-4959-A974-96A8-AA958F08FB9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85F26D0D-059E-BD41-E4CA-73FE4E14D05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FA7057F9-4696-8B56-A3C1-817504B0066A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12533F2E-79A0-9A47-B413-E72F2A4C763F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CDF15C2B-D85D-DF9D-E7B0-9C2DCE5B7B25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i="0" u="none" strike="noStrike" cap="none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Coleta de dados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225;p19">
            <a:extLst>
              <a:ext uri="{FF2B5EF4-FFF2-40B4-BE49-F238E27FC236}">
                <a16:creationId xmlns:a16="http://schemas.microsoft.com/office/drawing/2014/main" id="{2DD097C4-442C-7001-38A6-B89742176619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    Fluxo de desenvolvimento</a:t>
            </a:r>
            <a:b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    Tópico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17A083B8-1B68-3E1F-12AC-849D9CB6CDBF}"/>
              </a:ext>
            </a:extLst>
          </p:cNvPr>
          <p:cNvSpPr txBox="1"/>
          <p:nvPr/>
        </p:nvSpPr>
        <p:spPr>
          <a:xfrm>
            <a:off x="1457850" y="1137589"/>
            <a:ext cx="7277100" cy="37805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pt-BR" sz="1800" b="1" dirty="0" err="1"/>
              <a:t>Dataset</a:t>
            </a:r>
            <a:r>
              <a:rPr lang="pt-BR" sz="1800" b="1" dirty="0"/>
              <a:t> público — </a:t>
            </a:r>
            <a:r>
              <a:rPr lang="pt-BR" sz="1800" b="1" i="1" dirty="0" err="1">
                <a:solidFill>
                  <a:srgbClr val="00B050"/>
                </a:solidFill>
              </a:rPr>
              <a:t>RealWaste</a:t>
            </a:r>
            <a:endParaRPr lang="pt-BR" sz="1800" b="1" i="1" dirty="0">
              <a:solidFill>
                <a:srgbClr val="00B050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800" dirty="0"/>
              <a:t>4.752 imagens reais de resíduos coletadas em </a:t>
            </a:r>
            <a:r>
              <a:rPr lang="pt-BR" sz="1800" b="1" dirty="0"/>
              <a:t>aterros sanitários</a:t>
            </a:r>
            <a:r>
              <a:rPr lang="pt-BR" sz="1800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800" b="1" dirty="0"/>
              <a:t>9 categorias </a:t>
            </a:r>
            <a:r>
              <a:rPr lang="pt-BR" sz="1800" dirty="0"/>
              <a:t>principais (metal, plástico, papel, vidro, têxteis, etc.).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800" dirty="0"/>
              <a:t>Resolução original: </a:t>
            </a:r>
            <a:r>
              <a:rPr lang="pt-BR" sz="1800" b="1" dirty="0"/>
              <a:t>522×522 </a:t>
            </a:r>
            <a:r>
              <a:rPr lang="pt-BR" sz="1800" b="1" dirty="0" err="1"/>
              <a:t>px</a:t>
            </a:r>
            <a:r>
              <a:rPr lang="pt-BR" sz="1800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800" dirty="0"/>
              <a:t>Dados variados e adequados para </a:t>
            </a:r>
            <a:r>
              <a:rPr lang="pt-BR" sz="1800" b="1" dirty="0"/>
              <a:t>generalização do modelo</a:t>
            </a:r>
            <a:r>
              <a:rPr lang="pt-BR" sz="18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1800" dirty="0"/>
          </a:p>
          <a:p>
            <a:pPr>
              <a:lnSpc>
                <a:spcPct val="150000"/>
              </a:lnSpc>
              <a:buNone/>
            </a:pPr>
            <a:r>
              <a:rPr lang="pt-BR" sz="1800" b="1" dirty="0"/>
              <a:t>Fonte do repositório:</a:t>
            </a:r>
            <a:endParaRPr lang="pt-BR" sz="18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800" dirty="0"/>
              <a:t>UCI Machine Learning </a:t>
            </a:r>
            <a:r>
              <a:rPr lang="pt-BR" sz="1800" dirty="0" err="1"/>
              <a:t>Repository</a:t>
            </a:r>
            <a:r>
              <a:rPr lang="pt-BR" sz="1800" dirty="0"/>
              <a:t> — </a:t>
            </a:r>
            <a:r>
              <a:rPr lang="pt-BR" sz="1800" dirty="0" err="1"/>
              <a:t>RealWaste</a:t>
            </a:r>
            <a:r>
              <a:rPr lang="pt-BR" sz="1800" dirty="0"/>
              <a:t> </a:t>
            </a:r>
            <a:r>
              <a:rPr lang="pt-BR" sz="1800" dirty="0" err="1"/>
              <a:t>Dataset</a:t>
            </a:r>
            <a:r>
              <a:rPr lang="pt-BR" sz="1800" dirty="0"/>
              <a:t> </a:t>
            </a:r>
            <a:r>
              <a:rPr lang="pt-BR" sz="1800" i="1" dirty="0"/>
              <a:t>(Single; </a:t>
            </a:r>
            <a:r>
              <a:rPr lang="pt-BR" sz="1800" i="1" dirty="0" err="1"/>
              <a:t>Iranmanesh</a:t>
            </a:r>
            <a:r>
              <a:rPr lang="pt-BR" sz="1800" i="1" dirty="0"/>
              <a:t>; Raad, 2023a)</a:t>
            </a:r>
            <a:endParaRPr lang="pt-BR" sz="1800" dirty="0"/>
          </a:p>
        </p:txBody>
      </p:sp>
    </p:spTree>
    <p:extLst>
      <p:ext uri="{BB962C8B-B14F-4D97-AF65-F5344CB8AC3E}">
        <p14:creationId xmlns:p14="http://schemas.microsoft.com/office/powerpoint/2010/main" val="26998201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B13CD24D-7DBA-782B-7078-5C4755EAC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14D5CA15-F601-E7FA-27B2-7F7905ED6224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36A82390-9750-876B-32C9-ECE4C13F8FBD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68AC3BDA-80E8-9DF2-6299-4F26B97279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527E6EC2-E660-3932-759A-86D601F3B43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8FF1E8F9-6DA1-0478-F9B5-3F7B336B8314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D0C4D771-C672-50CE-E627-181ACC4E913E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FBC7E291-2B28-458D-7E30-1D650DDE326A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i="0" u="none" strike="noStrike" cap="none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Coleta de dados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225;p19">
            <a:extLst>
              <a:ext uri="{FF2B5EF4-FFF2-40B4-BE49-F238E27FC236}">
                <a16:creationId xmlns:a16="http://schemas.microsoft.com/office/drawing/2014/main" id="{E85E2175-DF3A-695B-F662-696BE7523901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    Fluxo de desenvolvimento</a:t>
            </a:r>
            <a:b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    Tópico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2ADB06B-53E9-2F5C-7FB1-7546D0EE22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9819" y="1581281"/>
            <a:ext cx="5222262" cy="4818971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856193B8-FE39-1667-29D2-4B2C2B0A098B}"/>
              </a:ext>
            </a:extLst>
          </p:cNvPr>
          <p:cNvSpPr txBox="1"/>
          <p:nvPr/>
        </p:nvSpPr>
        <p:spPr>
          <a:xfrm>
            <a:off x="1493784" y="1103566"/>
            <a:ext cx="7430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/>
              <a:t>Exemplos do </a:t>
            </a:r>
            <a:r>
              <a:rPr lang="pt-BR" sz="2400" b="1" i="1" dirty="0" err="1"/>
              <a:t>RealWaste</a:t>
            </a:r>
            <a:endParaRPr lang="pt-BR" sz="2800" b="1" i="1" dirty="0"/>
          </a:p>
        </p:txBody>
      </p:sp>
    </p:spTree>
    <p:extLst>
      <p:ext uri="{BB962C8B-B14F-4D97-AF65-F5344CB8AC3E}">
        <p14:creationId xmlns:p14="http://schemas.microsoft.com/office/powerpoint/2010/main" val="8861448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649B327F-8723-C2A9-278F-108AC1367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EE4EBA2A-4114-A504-CF7D-3477872B6F59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D8D12EF5-0CC7-EF9D-F3BF-823CB2F098E4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606C4661-E6A2-0439-1B15-53C65BC3CE0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8623446E-7836-AE85-95F3-A87277ACC79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595709D3-AC30-6D70-B5BB-683576E9983F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55337982-9D43-A52D-03A1-1E55ACBC438A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82B6A140-3ED1-AEC3-7318-A25EC8AF8BF0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225;p19">
            <a:extLst>
              <a:ext uri="{FF2B5EF4-FFF2-40B4-BE49-F238E27FC236}">
                <a16:creationId xmlns:a16="http://schemas.microsoft.com/office/drawing/2014/main" id="{AF53B409-9EDA-3C0F-8194-C5CCA6E97EF2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34" name="Agrupar 33">
            <a:extLst>
              <a:ext uri="{FF2B5EF4-FFF2-40B4-BE49-F238E27FC236}">
                <a16:creationId xmlns:a16="http://schemas.microsoft.com/office/drawing/2014/main" id="{FE1478D8-6EF1-2475-79FB-E1227828D512}"/>
              </a:ext>
            </a:extLst>
          </p:cNvPr>
          <p:cNvGrpSpPr/>
          <p:nvPr/>
        </p:nvGrpSpPr>
        <p:grpSpPr>
          <a:xfrm>
            <a:off x="3487459" y="908100"/>
            <a:ext cx="3758600" cy="5637899"/>
            <a:chOff x="1442350" y="933500"/>
            <a:chExt cx="3758600" cy="5637899"/>
          </a:xfrm>
        </p:grpSpPr>
        <p:pic>
          <p:nvPicPr>
            <p:cNvPr id="17" name="Imagem 16" descr="Diagrama&#10;&#10;O conteúdo gerado por IA pode estar incorreto.">
              <a:extLst>
                <a:ext uri="{FF2B5EF4-FFF2-40B4-BE49-F238E27FC236}">
                  <a16:creationId xmlns:a16="http://schemas.microsoft.com/office/drawing/2014/main" id="{440AFDC8-C926-E515-43B4-2F46CBCED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42350" y="933500"/>
              <a:ext cx="3758600" cy="5637899"/>
            </a:xfrm>
            <a:prstGeom prst="rect">
              <a:avLst/>
            </a:prstGeom>
          </p:spPr>
        </p:pic>
        <p:grpSp>
          <p:nvGrpSpPr>
            <p:cNvPr id="33" name="Agrupar 32">
              <a:extLst>
                <a:ext uri="{FF2B5EF4-FFF2-40B4-BE49-F238E27FC236}">
                  <a16:creationId xmlns:a16="http://schemas.microsoft.com/office/drawing/2014/main" id="{1504B3F4-8AA5-59AD-D3B5-E7D013BE2FEA}"/>
                </a:ext>
              </a:extLst>
            </p:cNvPr>
            <p:cNvGrpSpPr/>
            <p:nvPr/>
          </p:nvGrpSpPr>
          <p:grpSpPr>
            <a:xfrm>
              <a:off x="3731299" y="2485399"/>
              <a:ext cx="45360" cy="19800"/>
              <a:chOff x="3731299" y="2485399"/>
              <a:chExt cx="45360" cy="19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6">
                <p14:nvContentPartPr>
                  <p14:cNvPr id="31" name="Tinta 30">
                    <a:extLst>
                      <a:ext uri="{FF2B5EF4-FFF2-40B4-BE49-F238E27FC236}">
                        <a16:creationId xmlns:a16="http://schemas.microsoft.com/office/drawing/2014/main" id="{9C2149EA-BB05-9A75-9EFA-668DCFECC4A5}"/>
                      </a:ext>
                    </a:extLst>
                  </p14:cNvPr>
                  <p14:cNvContentPartPr/>
                  <p14:nvPr/>
                </p14:nvContentPartPr>
                <p14:xfrm>
                  <a:off x="3731299" y="2485399"/>
                  <a:ext cx="45360" cy="14040"/>
                </p14:xfrm>
              </p:contentPart>
            </mc:Choice>
            <mc:Fallback xmlns="">
              <p:pic>
                <p:nvPicPr>
                  <p:cNvPr id="31" name="Tinta 30">
                    <a:extLst>
                      <a:ext uri="{FF2B5EF4-FFF2-40B4-BE49-F238E27FC236}">
                        <a16:creationId xmlns:a16="http://schemas.microsoft.com/office/drawing/2014/main" id="{9C2149EA-BB05-9A75-9EFA-668DCFECC4A5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3726979" y="2481079"/>
                    <a:ext cx="54000" cy="226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32" name="Tinta 31">
                    <a:extLst>
                      <a:ext uri="{FF2B5EF4-FFF2-40B4-BE49-F238E27FC236}">
                        <a16:creationId xmlns:a16="http://schemas.microsoft.com/office/drawing/2014/main" id="{14C4434B-B8E9-3B28-5550-C938ECEE78B1}"/>
                      </a:ext>
                    </a:extLst>
                  </p14:cNvPr>
                  <p14:cNvContentPartPr/>
                  <p14:nvPr/>
                </p14:nvContentPartPr>
                <p14:xfrm>
                  <a:off x="3731299" y="2495839"/>
                  <a:ext cx="28800" cy="9360"/>
                </p14:xfrm>
              </p:contentPart>
            </mc:Choice>
            <mc:Fallback xmlns="">
              <p:pic>
                <p:nvPicPr>
                  <p:cNvPr id="32" name="Tinta 31">
                    <a:extLst>
                      <a:ext uri="{FF2B5EF4-FFF2-40B4-BE49-F238E27FC236}">
                        <a16:creationId xmlns:a16="http://schemas.microsoft.com/office/drawing/2014/main" id="{14C4434B-B8E9-3B28-5550-C938ECEE78B1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3726979" y="2491519"/>
                    <a:ext cx="37440" cy="1800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sp>
        <p:nvSpPr>
          <p:cNvPr id="35" name="Seta: para a Direita 34">
            <a:extLst>
              <a:ext uri="{FF2B5EF4-FFF2-40B4-BE49-F238E27FC236}">
                <a16:creationId xmlns:a16="http://schemas.microsoft.com/office/drawing/2014/main" id="{5B240F95-1C30-7706-B671-AE22C5404F8B}"/>
              </a:ext>
            </a:extLst>
          </p:cNvPr>
          <p:cNvSpPr/>
          <p:nvPr/>
        </p:nvSpPr>
        <p:spPr>
          <a:xfrm>
            <a:off x="2428568" y="3197941"/>
            <a:ext cx="1319100" cy="5014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AQUI!</a:t>
            </a:r>
          </a:p>
        </p:txBody>
      </p:sp>
    </p:spTree>
    <p:extLst>
      <p:ext uri="{BB962C8B-B14F-4D97-AF65-F5344CB8AC3E}">
        <p14:creationId xmlns:p14="http://schemas.microsoft.com/office/powerpoint/2010/main" val="14819945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02306C4E-FB31-40A4-69C2-BE76A0E21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FF495C0C-E96A-E8F4-E0FF-A289981BF7C1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142B8810-EAFD-4F81-28C0-325A10B4C0A3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9F067B07-E7B4-000B-993D-790A668DADA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2E1A16F4-AFCB-94C8-E525-B0D62552C48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F3DD98B9-02CF-7F9E-BE14-BF9D303EB85A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1D7ADEC5-ACB4-5BDC-4514-3761A451A355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894B87FE-756D-154D-2A25-C4CE1BC8FFC3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i="0" u="none" strike="noStrike" cap="none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Pré</a:t>
            </a: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-processamento e aumento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225;p19">
            <a:extLst>
              <a:ext uri="{FF2B5EF4-FFF2-40B4-BE49-F238E27FC236}">
                <a16:creationId xmlns:a16="http://schemas.microsoft.com/office/drawing/2014/main" id="{016761E7-DBDE-EF6C-F7D3-5AA314C933A8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    Fluxo de desenvolvimento</a:t>
            </a:r>
            <a:b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    Tópico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D6A5ACF-764D-8680-5AD2-F959E70B23E7}"/>
              </a:ext>
            </a:extLst>
          </p:cNvPr>
          <p:cNvSpPr txBox="1"/>
          <p:nvPr/>
        </p:nvSpPr>
        <p:spPr>
          <a:xfrm>
            <a:off x="1257900" y="908100"/>
            <a:ext cx="78861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1" dirty="0"/>
              <a:t>1) Redimensionamento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/>
              <a:t>522×522 </a:t>
            </a:r>
            <a:r>
              <a:rPr lang="pt-BR" sz="1800" dirty="0" err="1"/>
              <a:t>px</a:t>
            </a:r>
            <a:r>
              <a:rPr lang="pt-BR" sz="1800" dirty="0"/>
              <a:t> → 224×224 </a:t>
            </a:r>
            <a:r>
              <a:rPr lang="pt-BR" sz="1800" dirty="0" err="1"/>
              <a:t>px</a:t>
            </a:r>
            <a:br>
              <a:rPr lang="pt-BR" sz="1800" dirty="0"/>
            </a:br>
            <a:endParaRPr lang="pt-BR" sz="1800" dirty="0"/>
          </a:p>
          <a:p>
            <a:pPr>
              <a:buNone/>
            </a:pP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2) Balanceamento das classes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A classe mais populosa tem </a:t>
            </a: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921 imagens</a:t>
            </a: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. Todas as demais foram aumentadas até atingir esse valor.</a:t>
            </a:r>
          </a:p>
          <a:p>
            <a:pPr>
              <a:buFont typeface="Arial" panose="020B0604020202020204" pitchFamily="34" charset="0"/>
              <a:buChar char="•"/>
            </a:pP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3) Aumento de dados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Rotação (±20°)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Deslocamentos horizontais/verticais (até 20%)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Cisalhamento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Zoom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Espelhamento horizontal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Variação de brilho (0,7–1,3)</a:t>
            </a:r>
            <a:br>
              <a:rPr lang="pt-BR" sz="1800" dirty="0">
                <a:solidFill>
                  <a:schemeClr val="bg1">
                    <a:lumMod val="75000"/>
                  </a:schemeClr>
                </a:solidFill>
              </a:rPr>
            </a:b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4) Limite de variações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No máximo </a:t>
            </a: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10 variações por imagem base</a:t>
            </a: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 → evita redundância.</a:t>
            </a:r>
          </a:p>
        </p:txBody>
      </p:sp>
    </p:spTree>
    <p:extLst>
      <p:ext uri="{BB962C8B-B14F-4D97-AF65-F5344CB8AC3E}">
        <p14:creationId xmlns:p14="http://schemas.microsoft.com/office/powerpoint/2010/main" val="19584011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369B0AB1-00C8-1361-8882-8407418C4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8727A73A-CEAA-CDD5-2FF2-A00EB219238A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D806CE3D-831C-AC68-00A3-C48DBDC390CA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43098C3B-AF6B-9754-F7BF-A0A45FBF88D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8B019711-95CD-A521-2DA0-8ACA705322C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FF2A822B-EE27-99BF-B9A4-25C962ED2307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9D611FC0-84C6-9CBE-F84D-C5D4B257F017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66CEA713-1759-5881-FFEF-1FF0968E0DF2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Pré-processamento e aumento</a:t>
            </a:r>
            <a:endParaRPr lang="pt-BR" sz="3000" b="1" i="1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225;p19">
            <a:extLst>
              <a:ext uri="{FF2B5EF4-FFF2-40B4-BE49-F238E27FC236}">
                <a16:creationId xmlns:a16="http://schemas.microsoft.com/office/drawing/2014/main" id="{8792C18C-F7D0-9121-F3F2-F40E06E575D0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    Fluxo de desenvolvimento</a:t>
            </a:r>
            <a:b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    Tópico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2B2E8C8-9FD2-EDF6-0C83-0C9FA547FBBC}"/>
              </a:ext>
            </a:extLst>
          </p:cNvPr>
          <p:cNvSpPr txBox="1"/>
          <p:nvPr/>
        </p:nvSpPr>
        <p:spPr>
          <a:xfrm>
            <a:off x="1257900" y="908100"/>
            <a:ext cx="78861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1" dirty="0"/>
              <a:t>1) Redimensionamento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/>
              <a:t>522×522 </a:t>
            </a:r>
            <a:r>
              <a:rPr lang="pt-BR" sz="1800" dirty="0" err="1"/>
              <a:t>px</a:t>
            </a:r>
            <a:r>
              <a:rPr lang="pt-BR" sz="1800" dirty="0"/>
              <a:t> → 224×224 </a:t>
            </a:r>
            <a:r>
              <a:rPr lang="pt-BR" sz="1800" dirty="0" err="1"/>
              <a:t>px</a:t>
            </a:r>
            <a:br>
              <a:rPr lang="pt-BR" sz="1800" dirty="0"/>
            </a:br>
            <a:endParaRPr lang="pt-BR" sz="1800" dirty="0"/>
          </a:p>
          <a:p>
            <a:pPr>
              <a:buNone/>
            </a:pPr>
            <a:r>
              <a:rPr lang="pt-BR" sz="1800" b="1" dirty="0">
                <a:solidFill>
                  <a:schemeClr val="tx1"/>
                </a:solidFill>
              </a:rPr>
              <a:t>2) Balanceamento das classes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A classe mais populosa tem </a:t>
            </a:r>
            <a:r>
              <a:rPr lang="pt-BR" sz="1800" b="1" dirty="0">
                <a:solidFill>
                  <a:schemeClr val="tx1"/>
                </a:solidFill>
              </a:rPr>
              <a:t>921 imagens</a:t>
            </a:r>
            <a:r>
              <a:rPr lang="pt-BR" sz="1800" dirty="0">
                <a:solidFill>
                  <a:schemeClr val="tx1"/>
                </a:solidFill>
              </a:rPr>
              <a:t>. Todas as demais foram aumentadas até atingir esse valor.</a:t>
            </a:r>
          </a:p>
          <a:p>
            <a:pPr>
              <a:buFont typeface="Arial" panose="020B0604020202020204" pitchFamily="34" charset="0"/>
              <a:buChar char="•"/>
            </a:pP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3) Aumento de dados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Rotação (±20°)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Deslocamentos horizontais/verticais (até 20%)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Cisalhamento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Zoom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Espelhamento horizontal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Variação de brilho (0,7–1,3)</a:t>
            </a:r>
            <a:br>
              <a:rPr lang="pt-BR" sz="1800" dirty="0">
                <a:solidFill>
                  <a:schemeClr val="bg1">
                    <a:lumMod val="75000"/>
                  </a:schemeClr>
                </a:solidFill>
              </a:rPr>
            </a:b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4) Limite de variações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No máximo </a:t>
            </a: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10 variações por imagem base</a:t>
            </a: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 → evita redundância.</a:t>
            </a:r>
          </a:p>
        </p:txBody>
      </p:sp>
    </p:spTree>
    <p:extLst>
      <p:ext uri="{BB962C8B-B14F-4D97-AF65-F5344CB8AC3E}">
        <p14:creationId xmlns:p14="http://schemas.microsoft.com/office/powerpoint/2010/main" val="31630989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C09A308A-5772-46C7-D937-096567640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C56FB406-4557-24B0-6622-ED16E31AAFFE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0943A0B1-5997-7AA3-B3E3-B632D18EEA83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AB7B1CF1-6ED7-4D6A-73F5-FD47954E5F2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C3638CEE-9CD6-3FF0-D879-214A623A042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890C505F-E93A-2719-8BD2-8195984291AF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4D48DDDA-4847-686F-5343-38EEC6D54C35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50736733-B175-55C3-E841-63F5591B71E3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Pré-processamento e aumento</a:t>
            </a:r>
            <a:endParaRPr lang="pt-BR" sz="3000" b="1" i="1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225;p19">
            <a:extLst>
              <a:ext uri="{FF2B5EF4-FFF2-40B4-BE49-F238E27FC236}">
                <a16:creationId xmlns:a16="http://schemas.microsoft.com/office/drawing/2014/main" id="{9E1F10CA-2E4E-E4A3-CB75-3A4FB8D05241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    Fluxo de desenvolvimento</a:t>
            </a:r>
            <a:b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    Tópico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B04501C-D352-9536-6219-11C1A46096FF}"/>
              </a:ext>
            </a:extLst>
          </p:cNvPr>
          <p:cNvSpPr txBox="1"/>
          <p:nvPr/>
        </p:nvSpPr>
        <p:spPr>
          <a:xfrm>
            <a:off x="1257900" y="908100"/>
            <a:ext cx="78861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1" dirty="0"/>
              <a:t>1) Redimensionamento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/>
              <a:t>522×522 </a:t>
            </a:r>
            <a:r>
              <a:rPr lang="pt-BR" sz="1800" dirty="0" err="1"/>
              <a:t>px</a:t>
            </a:r>
            <a:r>
              <a:rPr lang="pt-BR" sz="1800" dirty="0"/>
              <a:t> → 224×224 </a:t>
            </a:r>
            <a:r>
              <a:rPr lang="pt-BR" sz="1800" dirty="0" err="1"/>
              <a:t>px</a:t>
            </a:r>
            <a:br>
              <a:rPr lang="pt-BR" sz="1800" dirty="0"/>
            </a:br>
            <a:endParaRPr lang="pt-BR" sz="1800" dirty="0"/>
          </a:p>
          <a:p>
            <a:pPr>
              <a:buNone/>
            </a:pPr>
            <a:r>
              <a:rPr lang="pt-BR" sz="1800" b="1" dirty="0">
                <a:solidFill>
                  <a:schemeClr val="tx1"/>
                </a:solidFill>
              </a:rPr>
              <a:t>2) Balanceamento das classes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A classe mais populosa tem </a:t>
            </a:r>
            <a:r>
              <a:rPr lang="pt-BR" sz="1800" b="1" dirty="0">
                <a:solidFill>
                  <a:schemeClr val="tx1"/>
                </a:solidFill>
              </a:rPr>
              <a:t>921 imagens</a:t>
            </a:r>
            <a:r>
              <a:rPr lang="pt-BR" sz="1800" dirty="0">
                <a:solidFill>
                  <a:schemeClr val="tx1"/>
                </a:solidFill>
              </a:rPr>
              <a:t>. Todas as demais foram aumentadas até atingir esse valor.</a:t>
            </a:r>
          </a:p>
          <a:p>
            <a:pPr>
              <a:buFont typeface="Arial" panose="020B0604020202020204" pitchFamily="34" charset="0"/>
              <a:buChar char="•"/>
            </a:pP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tx1"/>
                </a:solidFill>
              </a:rPr>
              <a:t>3) Aumento de dados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Rotação (±20°)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Deslocamentos horizontais/verticais (até 20%)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Cisalhamento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Zoom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Espelhamento horizontal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Variação de brilho (0,7–1,3)</a:t>
            </a:r>
            <a:br>
              <a:rPr lang="pt-BR" sz="1800" dirty="0">
                <a:solidFill>
                  <a:schemeClr val="bg1">
                    <a:lumMod val="75000"/>
                  </a:schemeClr>
                </a:solidFill>
              </a:rPr>
            </a:b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4) Limite de variações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No máximo </a:t>
            </a: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10 variações por imagem base</a:t>
            </a: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 → evita redundância.</a:t>
            </a:r>
          </a:p>
        </p:txBody>
      </p:sp>
    </p:spTree>
    <p:extLst>
      <p:ext uri="{BB962C8B-B14F-4D97-AF65-F5344CB8AC3E}">
        <p14:creationId xmlns:p14="http://schemas.microsoft.com/office/powerpoint/2010/main" val="38567195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605DDC6E-A518-BA27-565E-7ED064328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88EF8C46-DC3C-BE10-F0AD-44FC42BAE5D8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3A5CF784-74C3-4E48-4960-C195595A1A96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90BDFC93-07E7-EF0C-1E75-E3C8995EBAC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CC57F31C-96E1-6478-6C86-53ACD59629C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250671EA-2566-402A-5CDC-3064790EA2F0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D5E34987-9E95-2A93-6F26-1D0640288311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137A53C3-1538-B044-BAF0-F8269C6B8CD2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Pré-processamento e aumento</a:t>
            </a:r>
            <a:endParaRPr lang="pt-BR" sz="3000" b="1" i="1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225;p19">
            <a:extLst>
              <a:ext uri="{FF2B5EF4-FFF2-40B4-BE49-F238E27FC236}">
                <a16:creationId xmlns:a16="http://schemas.microsoft.com/office/drawing/2014/main" id="{A9EA6E8E-5F9C-9CCE-0B61-3483600C6FA1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    Fluxo de desenvolvimento</a:t>
            </a:r>
            <a:b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    Tópico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569341-4046-DFDE-DE97-3D3BAB0951DB}"/>
              </a:ext>
            </a:extLst>
          </p:cNvPr>
          <p:cNvSpPr txBox="1"/>
          <p:nvPr/>
        </p:nvSpPr>
        <p:spPr>
          <a:xfrm>
            <a:off x="1257900" y="908100"/>
            <a:ext cx="78861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1" dirty="0"/>
              <a:t>1) Redimensionamento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/>
              <a:t>522×522 </a:t>
            </a:r>
            <a:r>
              <a:rPr lang="pt-BR" sz="1800" dirty="0" err="1"/>
              <a:t>px</a:t>
            </a:r>
            <a:r>
              <a:rPr lang="pt-BR" sz="1800" dirty="0"/>
              <a:t> → 224×224 </a:t>
            </a:r>
            <a:r>
              <a:rPr lang="pt-BR" sz="1800" dirty="0" err="1"/>
              <a:t>px</a:t>
            </a:r>
            <a:br>
              <a:rPr lang="pt-BR" sz="1800" dirty="0"/>
            </a:br>
            <a:endParaRPr lang="pt-BR" sz="1800" dirty="0"/>
          </a:p>
          <a:p>
            <a:pPr>
              <a:buNone/>
            </a:pPr>
            <a:r>
              <a:rPr lang="pt-BR" sz="1800" b="1" dirty="0">
                <a:solidFill>
                  <a:schemeClr val="tx1"/>
                </a:solidFill>
              </a:rPr>
              <a:t>2) Balanceamento das classes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A classe mais populosa tem </a:t>
            </a:r>
            <a:r>
              <a:rPr lang="pt-BR" sz="1800" b="1" dirty="0">
                <a:solidFill>
                  <a:schemeClr val="tx1"/>
                </a:solidFill>
              </a:rPr>
              <a:t>921 imagens</a:t>
            </a:r>
            <a:r>
              <a:rPr lang="pt-BR" sz="1800" dirty="0">
                <a:solidFill>
                  <a:schemeClr val="tx1"/>
                </a:solidFill>
              </a:rPr>
              <a:t>. Todas as demais foram aumentadas até atingir esse valor.</a:t>
            </a:r>
          </a:p>
          <a:p>
            <a:pPr>
              <a:buFont typeface="Arial" panose="020B0604020202020204" pitchFamily="34" charset="0"/>
              <a:buChar char="•"/>
            </a:pP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tx1"/>
                </a:solidFill>
              </a:rPr>
              <a:t>3) Aumento de dados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Rotação (±20°)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Deslocamentos horizontais/verticais (até 20%)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Cisalhamento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Zoom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Espelhamento horizontal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Variação de brilho (0,7–1,3)</a:t>
            </a:r>
            <a:br>
              <a:rPr lang="pt-BR" sz="1800" dirty="0">
                <a:solidFill>
                  <a:schemeClr val="bg1">
                    <a:lumMod val="75000"/>
                  </a:schemeClr>
                </a:solidFill>
              </a:rPr>
            </a:b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tx1"/>
                </a:solidFill>
              </a:rPr>
              <a:t>4) Limite de variações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No máximo </a:t>
            </a:r>
            <a:r>
              <a:rPr lang="pt-BR" sz="1800" b="1" dirty="0">
                <a:solidFill>
                  <a:schemeClr val="tx1"/>
                </a:solidFill>
              </a:rPr>
              <a:t>10 variações por imagem base</a:t>
            </a:r>
            <a:r>
              <a:rPr lang="pt-BR" sz="1800" dirty="0">
                <a:solidFill>
                  <a:schemeClr val="tx1"/>
                </a:solidFill>
              </a:rPr>
              <a:t> → evita redundância.</a:t>
            </a:r>
          </a:p>
        </p:txBody>
      </p:sp>
    </p:spTree>
    <p:extLst>
      <p:ext uri="{BB962C8B-B14F-4D97-AF65-F5344CB8AC3E}">
        <p14:creationId xmlns:p14="http://schemas.microsoft.com/office/powerpoint/2010/main" val="19526047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7097D250-329E-AFA6-F8A3-4CB6D63E7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EEBD6CF6-A910-092F-0998-AED2185F312D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4419DE92-7CD7-1C17-5613-7259E41CB02B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EC4302D7-C13A-F6CA-6F22-76245822B4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1B1D4DB0-51C3-2896-043D-4DA06A31205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45B9BC18-01A1-5EE7-EC02-41A6EA41ECBF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44912A90-BBAC-87D8-30FA-7D2659897643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B77D3B0B-1F20-2FC7-2293-09CD2281AB8C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225;p19">
            <a:extLst>
              <a:ext uri="{FF2B5EF4-FFF2-40B4-BE49-F238E27FC236}">
                <a16:creationId xmlns:a16="http://schemas.microsoft.com/office/drawing/2014/main" id="{735C3825-AB89-20E2-D646-E3F8514339B7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34" name="Agrupar 33">
            <a:extLst>
              <a:ext uri="{FF2B5EF4-FFF2-40B4-BE49-F238E27FC236}">
                <a16:creationId xmlns:a16="http://schemas.microsoft.com/office/drawing/2014/main" id="{08817C34-C677-3397-D4B7-A6465FC307A2}"/>
              </a:ext>
            </a:extLst>
          </p:cNvPr>
          <p:cNvGrpSpPr/>
          <p:nvPr/>
        </p:nvGrpSpPr>
        <p:grpSpPr>
          <a:xfrm>
            <a:off x="3487459" y="908100"/>
            <a:ext cx="3758600" cy="5637899"/>
            <a:chOff x="1442350" y="933500"/>
            <a:chExt cx="3758600" cy="5637899"/>
          </a:xfrm>
        </p:grpSpPr>
        <p:pic>
          <p:nvPicPr>
            <p:cNvPr id="17" name="Imagem 16" descr="Diagrama&#10;&#10;O conteúdo gerado por IA pode estar incorreto.">
              <a:extLst>
                <a:ext uri="{FF2B5EF4-FFF2-40B4-BE49-F238E27FC236}">
                  <a16:creationId xmlns:a16="http://schemas.microsoft.com/office/drawing/2014/main" id="{14147A7A-D9F0-B1C8-629C-3C49A7E21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42350" y="933500"/>
              <a:ext cx="3758600" cy="5637899"/>
            </a:xfrm>
            <a:prstGeom prst="rect">
              <a:avLst/>
            </a:prstGeom>
          </p:spPr>
        </p:pic>
        <p:grpSp>
          <p:nvGrpSpPr>
            <p:cNvPr id="33" name="Agrupar 32">
              <a:extLst>
                <a:ext uri="{FF2B5EF4-FFF2-40B4-BE49-F238E27FC236}">
                  <a16:creationId xmlns:a16="http://schemas.microsoft.com/office/drawing/2014/main" id="{CE9463AB-8A09-2FEF-5808-4B29772E9857}"/>
                </a:ext>
              </a:extLst>
            </p:cNvPr>
            <p:cNvGrpSpPr/>
            <p:nvPr/>
          </p:nvGrpSpPr>
          <p:grpSpPr>
            <a:xfrm>
              <a:off x="3731299" y="2485399"/>
              <a:ext cx="45360" cy="19800"/>
              <a:chOff x="3731299" y="2485399"/>
              <a:chExt cx="45360" cy="19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6">
                <p14:nvContentPartPr>
                  <p14:cNvPr id="31" name="Tinta 30">
                    <a:extLst>
                      <a:ext uri="{FF2B5EF4-FFF2-40B4-BE49-F238E27FC236}">
                        <a16:creationId xmlns:a16="http://schemas.microsoft.com/office/drawing/2014/main" id="{B6A21800-4B77-F01F-B275-9A2C37718F57}"/>
                      </a:ext>
                    </a:extLst>
                  </p14:cNvPr>
                  <p14:cNvContentPartPr/>
                  <p14:nvPr/>
                </p14:nvContentPartPr>
                <p14:xfrm>
                  <a:off x="3731299" y="2485399"/>
                  <a:ext cx="45360" cy="14040"/>
                </p14:xfrm>
              </p:contentPart>
            </mc:Choice>
            <mc:Fallback xmlns="">
              <p:pic>
                <p:nvPicPr>
                  <p:cNvPr id="31" name="Tinta 30">
                    <a:extLst>
                      <a:ext uri="{FF2B5EF4-FFF2-40B4-BE49-F238E27FC236}">
                        <a16:creationId xmlns:a16="http://schemas.microsoft.com/office/drawing/2014/main" id="{B6A21800-4B77-F01F-B275-9A2C37718F57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3726979" y="2481079"/>
                    <a:ext cx="54000" cy="226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32" name="Tinta 31">
                    <a:extLst>
                      <a:ext uri="{FF2B5EF4-FFF2-40B4-BE49-F238E27FC236}">
                        <a16:creationId xmlns:a16="http://schemas.microsoft.com/office/drawing/2014/main" id="{8F804219-FC01-7FF1-CE7B-2A917B022C23}"/>
                      </a:ext>
                    </a:extLst>
                  </p14:cNvPr>
                  <p14:cNvContentPartPr/>
                  <p14:nvPr/>
                </p14:nvContentPartPr>
                <p14:xfrm>
                  <a:off x="3731299" y="2495839"/>
                  <a:ext cx="28800" cy="9360"/>
                </p14:xfrm>
              </p:contentPart>
            </mc:Choice>
            <mc:Fallback xmlns="">
              <p:pic>
                <p:nvPicPr>
                  <p:cNvPr id="32" name="Tinta 31">
                    <a:extLst>
                      <a:ext uri="{FF2B5EF4-FFF2-40B4-BE49-F238E27FC236}">
                        <a16:creationId xmlns:a16="http://schemas.microsoft.com/office/drawing/2014/main" id="{8F804219-FC01-7FF1-CE7B-2A917B022C23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3726979" y="2491519"/>
                    <a:ext cx="37440" cy="1800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sp>
        <p:nvSpPr>
          <p:cNvPr id="35" name="Seta: para a Direita 34">
            <a:extLst>
              <a:ext uri="{FF2B5EF4-FFF2-40B4-BE49-F238E27FC236}">
                <a16:creationId xmlns:a16="http://schemas.microsoft.com/office/drawing/2014/main" id="{73697BF1-E948-D8F9-7175-B27991788D8E}"/>
              </a:ext>
            </a:extLst>
          </p:cNvPr>
          <p:cNvSpPr/>
          <p:nvPr/>
        </p:nvSpPr>
        <p:spPr>
          <a:xfrm>
            <a:off x="2448233" y="4061088"/>
            <a:ext cx="1319100" cy="5014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AQUI!</a:t>
            </a:r>
          </a:p>
        </p:txBody>
      </p:sp>
    </p:spTree>
    <p:extLst>
      <p:ext uri="{BB962C8B-B14F-4D97-AF65-F5344CB8AC3E}">
        <p14:creationId xmlns:p14="http://schemas.microsoft.com/office/powerpoint/2010/main" val="1248294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CE5299C0-2222-0B04-7818-6E633E29B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Imagem 127" descr="Desenho de um cachorro&#10;&#10;O conteúdo gerado por IA pode estar incorreto.">
            <a:extLst>
              <a:ext uri="{FF2B5EF4-FFF2-40B4-BE49-F238E27FC236}">
                <a16:creationId xmlns:a16="http://schemas.microsoft.com/office/drawing/2014/main" id="{8B907C95-0609-791F-0B4C-244CC0F7BC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862159" y="2818638"/>
            <a:ext cx="4064089" cy="2729169"/>
          </a:xfrm>
          <a:prstGeom prst="rect">
            <a:avLst/>
          </a:prstGeom>
        </p:spPr>
      </p:pic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15D7E81C-3EA7-EE45-408C-85DBA03C5044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FF9571C0-87E1-B489-C410-D24FAFAC71C2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D0F56EBF-A529-D510-14BB-37C0B413BC3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96D6CC6D-0BDE-5A7F-D111-597925B5608A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A911051A-9B0A-651D-F958-479F8578F319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98720012-AC26-B853-3F16-1F476435BD3C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95835179-845F-E2AA-8CE3-6BF138AA9606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Pré-processamento e aumento</a:t>
            </a:r>
            <a:endParaRPr lang="pt-BR" sz="3000" b="1" i="1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225;p19">
            <a:extLst>
              <a:ext uri="{FF2B5EF4-FFF2-40B4-BE49-F238E27FC236}">
                <a16:creationId xmlns:a16="http://schemas.microsoft.com/office/drawing/2014/main" id="{0F9BE74A-CA75-653B-01D7-96D030D276A1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    Fluxo de desenvolvimento</a:t>
            </a:r>
            <a:b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    Tópico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5B99563E-9A02-A566-6F77-8FAA7579468E}"/>
              </a:ext>
            </a:extLst>
          </p:cNvPr>
          <p:cNvSpPr txBox="1"/>
          <p:nvPr/>
        </p:nvSpPr>
        <p:spPr>
          <a:xfrm>
            <a:off x="1257900" y="908100"/>
            <a:ext cx="7886100" cy="456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 algn="l" rtl="0">
              <a:lnSpc>
                <a:spcPct val="150000"/>
              </a:lnSpc>
              <a:buNone/>
            </a:pPr>
            <a:r>
              <a:rPr lang="pt-BR" sz="1800" b="1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Componentes da Arquitetura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A3D7F40D-1C01-5578-AE0B-8F746558594D}"/>
              </a:ext>
            </a:extLst>
          </p:cNvPr>
          <p:cNvSpPr/>
          <p:nvPr/>
        </p:nvSpPr>
        <p:spPr>
          <a:xfrm>
            <a:off x="5681839" y="2341845"/>
            <a:ext cx="2366563" cy="551573"/>
          </a:xfrm>
          <a:prstGeom prst="roundRect">
            <a:avLst/>
          </a:prstGeom>
          <a:solidFill>
            <a:srgbClr val="292929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chemeClr val="bg1"/>
                </a:solidFill>
              </a:rPr>
              <a:t>MobileNetV2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F97FC1DB-2BC7-87DB-F755-F43C98F1E824}"/>
              </a:ext>
            </a:extLst>
          </p:cNvPr>
          <p:cNvSpPr/>
          <p:nvPr/>
        </p:nvSpPr>
        <p:spPr>
          <a:xfrm>
            <a:off x="5681839" y="4545848"/>
            <a:ext cx="2366563" cy="551573"/>
          </a:xfrm>
          <a:prstGeom prst="roundRect">
            <a:avLst/>
          </a:prstGeom>
          <a:solidFill>
            <a:srgbClr val="292929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b="1" dirty="0" err="1">
                <a:solidFill>
                  <a:schemeClr val="bg1"/>
                </a:solidFill>
              </a:rPr>
              <a:t>Dense</a:t>
            </a:r>
            <a:r>
              <a:rPr lang="pt-BR" b="1" dirty="0">
                <a:solidFill>
                  <a:schemeClr val="bg1"/>
                </a:solidFill>
              </a:rPr>
              <a:t> final (</a:t>
            </a:r>
            <a:r>
              <a:rPr lang="pt-BR" b="1" dirty="0" err="1">
                <a:solidFill>
                  <a:schemeClr val="bg1"/>
                </a:solidFill>
              </a:rPr>
              <a:t>Softmax</a:t>
            </a:r>
            <a:r>
              <a:rPr lang="pt-BR" b="1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F1D05042-F327-2F17-4F11-1BE7F3537016}"/>
              </a:ext>
            </a:extLst>
          </p:cNvPr>
          <p:cNvSpPr/>
          <p:nvPr/>
        </p:nvSpPr>
        <p:spPr>
          <a:xfrm>
            <a:off x="5681839" y="3996564"/>
            <a:ext cx="2366563" cy="551573"/>
          </a:xfrm>
          <a:prstGeom prst="roundRect">
            <a:avLst/>
          </a:prstGeom>
          <a:solidFill>
            <a:srgbClr val="292929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b="1" dirty="0" err="1">
                <a:solidFill>
                  <a:schemeClr val="bg1"/>
                </a:solidFill>
              </a:rPr>
              <a:t>Dense</a:t>
            </a:r>
            <a:r>
              <a:rPr lang="pt-BR" b="1" dirty="0">
                <a:solidFill>
                  <a:schemeClr val="bg1"/>
                </a:solidFill>
              </a:rPr>
              <a:t> 128 (</a:t>
            </a:r>
            <a:r>
              <a:rPr lang="pt-BR" b="1" dirty="0" err="1">
                <a:solidFill>
                  <a:schemeClr val="bg1"/>
                </a:solidFill>
              </a:rPr>
              <a:t>ReLU</a:t>
            </a:r>
            <a:r>
              <a:rPr lang="pt-BR" b="1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0C15B98A-239E-D946-CE16-DA03C82F758E}"/>
              </a:ext>
            </a:extLst>
          </p:cNvPr>
          <p:cNvSpPr/>
          <p:nvPr/>
        </p:nvSpPr>
        <p:spPr>
          <a:xfrm>
            <a:off x="5681839" y="3444991"/>
            <a:ext cx="2366563" cy="551573"/>
          </a:xfrm>
          <a:prstGeom prst="roundRect">
            <a:avLst/>
          </a:prstGeom>
          <a:solidFill>
            <a:srgbClr val="292929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b="1" dirty="0" err="1">
                <a:solidFill>
                  <a:schemeClr val="bg1"/>
                </a:solidFill>
              </a:rPr>
              <a:t>Dropout</a:t>
            </a:r>
            <a:r>
              <a:rPr lang="pt-BR" b="1" dirty="0">
                <a:solidFill>
                  <a:schemeClr val="bg1"/>
                </a:solidFill>
              </a:rPr>
              <a:t> (0,2)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CCF1C49D-C832-FCAF-D547-F327DA68F3B9}"/>
              </a:ext>
            </a:extLst>
          </p:cNvPr>
          <p:cNvSpPr/>
          <p:nvPr/>
        </p:nvSpPr>
        <p:spPr>
          <a:xfrm>
            <a:off x="5681839" y="2893418"/>
            <a:ext cx="2366563" cy="551573"/>
          </a:xfrm>
          <a:prstGeom prst="roundRect">
            <a:avLst/>
          </a:prstGeom>
          <a:solidFill>
            <a:srgbClr val="292929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chemeClr val="bg1"/>
                </a:solidFill>
              </a:rPr>
              <a:t>GlobalAveragePooling2D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7F59D9D5-E8D1-7C7F-7277-EB08DEBE1FD2}"/>
              </a:ext>
            </a:extLst>
          </p:cNvPr>
          <p:cNvSpPr/>
          <p:nvPr/>
        </p:nvSpPr>
        <p:spPr>
          <a:xfrm>
            <a:off x="6212621" y="5490178"/>
            <a:ext cx="289255" cy="551573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4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B4B4F620-3552-82C8-5185-80BDFE369BB0}"/>
              </a:ext>
            </a:extLst>
          </p:cNvPr>
          <p:cNvSpPr/>
          <p:nvPr/>
        </p:nvSpPr>
        <p:spPr>
          <a:xfrm>
            <a:off x="6704372" y="5469636"/>
            <a:ext cx="289255" cy="55157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5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4DB322BC-9EBE-D23C-4726-88C636BDAF98}"/>
              </a:ext>
            </a:extLst>
          </p:cNvPr>
          <p:cNvSpPr/>
          <p:nvPr/>
        </p:nvSpPr>
        <p:spPr>
          <a:xfrm>
            <a:off x="7136429" y="5490176"/>
            <a:ext cx="289255" cy="55157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6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3A9C7AF-1C06-40B5-1004-FFEBB1AAA3B6}"/>
              </a:ext>
            </a:extLst>
          </p:cNvPr>
          <p:cNvSpPr/>
          <p:nvPr/>
        </p:nvSpPr>
        <p:spPr>
          <a:xfrm>
            <a:off x="7598333" y="5490177"/>
            <a:ext cx="289255" cy="55157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7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27B30D6D-6F63-BCA5-0619-C82EA402A424}"/>
              </a:ext>
            </a:extLst>
          </p:cNvPr>
          <p:cNvSpPr/>
          <p:nvPr/>
        </p:nvSpPr>
        <p:spPr>
          <a:xfrm>
            <a:off x="8060237" y="5490176"/>
            <a:ext cx="289255" cy="55157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8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5DB48106-DA25-699B-A06A-DDE957714C84}"/>
              </a:ext>
            </a:extLst>
          </p:cNvPr>
          <p:cNvSpPr/>
          <p:nvPr/>
        </p:nvSpPr>
        <p:spPr>
          <a:xfrm>
            <a:off x="8522141" y="5492951"/>
            <a:ext cx="289255" cy="55157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9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A38C0668-3BD8-B84C-5532-7425F894ECDF}"/>
              </a:ext>
            </a:extLst>
          </p:cNvPr>
          <p:cNvSpPr/>
          <p:nvPr/>
        </p:nvSpPr>
        <p:spPr>
          <a:xfrm>
            <a:off x="4826909" y="5484630"/>
            <a:ext cx="289255" cy="55157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1</a:t>
            </a: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311CFD8E-C365-8315-A1EC-738E5FA1345C}"/>
              </a:ext>
            </a:extLst>
          </p:cNvPr>
          <p:cNvSpPr/>
          <p:nvPr/>
        </p:nvSpPr>
        <p:spPr>
          <a:xfrm>
            <a:off x="5288813" y="5484629"/>
            <a:ext cx="289255" cy="55157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2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E83B1F86-70CA-B02D-FE75-3D5111E39FA7}"/>
              </a:ext>
            </a:extLst>
          </p:cNvPr>
          <p:cNvSpPr/>
          <p:nvPr/>
        </p:nvSpPr>
        <p:spPr>
          <a:xfrm>
            <a:off x="5750717" y="5484628"/>
            <a:ext cx="289255" cy="551573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3</a:t>
            </a:r>
          </a:p>
        </p:txBody>
      </p: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4A322128-D1A7-49DB-9A48-6F3B75BAEF5E}"/>
              </a:ext>
            </a:extLst>
          </p:cNvPr>
          <p:cNvCxnSpPr>
            <a:cxnSpLocks/>
            <a:stCxn id="7" idx="2"/>
            <a:endCxn id="18" idx="0"/>
          </p:cNvCxnSpPr>
          <p:nvPr/>
        </p:nvCxnSpPr>
        <p:spPr>
          <a:xfrm flipH="1">
            <a:off x="4971537" y="5097421"/>
            <a:ext cx="1893584" cy="387209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Conector de Seta Reta 22">
            <a:extLst>
              <a:ext uri="{FF2B5EF4-FFF2-40B4-BE49-F238E27FC236}">
                <a16:creationId xmlns:a16="http://schemas.microsoft.com/office/drawing/2014/main" id="{01262E39-3A27-4F65-B63D-FDBFEC0399DC}"/>
              </a:ext>
            </a:extLst>
          </p:cNvPr>
          <p:cNvCxnSpPr>
            <a:cxnSpLocks/>
            <a:stCxn id="7" idx="2"/>
            <a:endCxn id="19" idx="0"/>
          </p:cNvCxnSpPr>
          <p:nvPr/>
        </p:nvCxnSpPr>
        <p:spPr>
          <a:xfrm flipH="1">
            <a:off x="5433441" y="5097421"/>
            <a:ext cx="1431680" cy="387208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8345C048-C650-910B-C026-13A2B6129548}"/>
              </a:ext>
            </a:extLst>
          </p:cNvPr>
          <p:cNvCxnSpPr>
            <a:cxnSpLocks/>
            <a:stCxn id="7" idx="2"/>
            <a:endCxn id="20" idx="0"/>
          </p:cNvCxnSpPr>
          <p:nvPr/>
        </p:nvCxnSpPr>
        <p:spPr>
          <a:xfrm flipH="1">
            <a:off x="5895345" y="5097421"/>
            <a:ext cx="969776" cy="387207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Conector de Seta Reta 24">
            <a:extLst>
              <a:ext uri="{FF2B5EF4-FFF2-40B4-BE49-F238E27FC236}">
                <a16:creationId xmlns:a16="http://schemas.microsoft.com/office/drawing/2014/main" id="{B58ADF49-5273-CA1C-D269-0F440F382460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 flipH="1">
            <a:off x="6357249" y="5097421"/>
            <a:ext cx="507872" cy="392757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F92D31DA-DCBD-5253-BBEA-ABBEC2F16EFD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 flipH="1">
            <a:off x="6849000" y="5097421"/>
            <a:ext cx="16121" cy="372215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Conector de Seta Reta 38">
            <a:extLst>
              <a:ext uri="{FF2B5EF4-FFF2-40B4-BE49-F238E27FC236}">
                <a16:creationId xmlns:a16="http://schemas.microsoft.com/office/drawing/2014/main" id="{0F6A74DE-0B40-810E-4DA2-1B19253F3718}"/>
              </a:ext>
            </a:extLst>
          </p:cNvPr>
          <p:cNvCxnSpPr>
            <a:cxnSpLocks/>
            <a:stCxn id="7" idx="2"/>
            <a:endCxn id="14" idx="0"/>
          </p:cNvCxnSpPr>
          <p:nvPr/>
        </p:nvCxnSpPr>
        <p:spPr>
          <a:xfrm>
            <a:off x="6865121" y="5097421"/>
            <a:ext cx="415936" cy="392755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2" name="Conector de Seta Reta 41">
            <a:extLst>
              <a:ext uri="{FF2B5EF4-FFF2-40B4-BE49-F238E27FC236}">
                <a16:creationId xmlns:a16="http://schemas.microsoft.com/office/drawing/2014/main" id="{F3DC45E4-3A10-CB07-7BD7-47360933FE36}"/>
              </a:ext>
            </a:extLst>
          </p:cNvPr>
          <p:cNvCxnSpPr>
            <a:cxnSpLocks/>
            <a:stCxn id="7" idx="2"/>
            <a:endCxn id="15" idx="0"/>
          </p:cNvCxnSpPr>
          <p:nvPr/>
        </p:nvCxnSpPr>
        <p:spPr>
          <a:xfrm>
            <a:off x="6865121" y="5097421"/>
            <a:ext cx="877840" cy="392756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5" name="Conector de Seta Reta 44">
            <a:extLst>
              <a:ext uri="{FF2B5EF4-FFF2-40B4-BE49-F238E27FC236}">
                <a16:creationId xmlns:a16="http://schemas.microsoft.com/office/drawing/2014/main" id="{A6AD9C2D-4C69-8F97-CF5A-9F7F026F8829}"/>
              </a:ext>
            </a:extLst>
          </p:cNvPr>
          <p:cNvCxnSpPr>
            <a:cxnSpLocks/>
            <a:stCxn id="7" idx="2"/>
            <a:endCxn id="16" idx="0"/>
          </p:cNvCxnSpPr>
          <p:nvPr/>
        </p:nvCxnSpPr>
        <p:spPr>
          <a:xfrm>
            <a:off x="6865121" y="5097421"/>
            <a:ext cx="1339744" cy="392755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8" name="Conector de Seta Reta 47">
            <a:extLst>
              <a:ext uri="{FF2B5EF4-FFF2-40B4-BE49-F238E27FC236}">
                <a16:creationId xmlns:a16="http://schemas.microsoft.com/office/drawing/2014/main" id="{EF5A2643-2063-7C78-2DBA-1420C3D63996}"/>
              </a:ext>
            </a:extLst>
          </p:cNvPr>
          <p:cNvCxnSpPr>
            <a:cxnSpLocks/>
            <a:stCxn id="7" idx="2"/>
            <a:endCxn id="17" idx="0"/>
          </p:cNvCxnSpPr>
          <p:nvPr/>
        </p:nvCxnSpPr>
        <p:spPr>
          <a:xfrm>
            <a:off x="6865121" y="5097421"/>
            <a:ext cx="1801648" cy="395530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52" name="Imagem 51" descr="Câmera fotográfica preta&#10;&#10;O conteúdo gerado por IA pode estar incorreto.">
            <a:extLst>
              <a:ext uri="{FF2B5EF4-FFF2-40B4-BE49-F238E27FC236}">
                <a16:creationId xmlns:a16="http://schemas.microsoft.com/office/drawing/2014/main" id="{76D589CE-6455-CD3E-8263-375EA7DC3B6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666" t="23683" r="13020" b="15224"/>
          <a:stretch>
            <a:fillRect/>
          </a:stretch>
        </p:blipFill>
        <p:spPr>
          <a:xfrm>
            <a:off x="3589135" y="2905912"/>
            <a:ext cx="1560188" cy="1217122"/>
          </a:xfrm>
          <a:prstGeom prst="rect">
            <a:avLst/>
          </a:prstGeom>
        </p:spPr>
      </p:pic>
      <p:pic>
        <p:nvPicPr>
          <p:cNvPr id="54" name="Imagem 53">
            <a:extLst>
              <a:ext uri="{FF2B5EF4-FFF2-40B4-BE49-F238E27FC236}">
                <a16:creationId xmlns:a16="http://schemas.microsoft.com/office/drawing/2014/main" id="{5D1D63E6-43EF-515A-6EF9-5CD278522D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09917" y="2320503"/>
            <a:ext cx="1798922" cy="1784177"/>
          </a:xfrm>
          <a:prstGeom prst="rect">
            <a:avLst/>
          </a:prstGeom>
        </p:spPr>
      </p:pic>
      <p:cxnSp>
        <p:nvCxnSpPr>
          <p:cNvPr id="56" name="Conector: Angulado 55">
            <a:extLst>
              <a:ext uri="{FF2B5EF4-FFF2-40B4-BE49-F238E27FC236}">
                <a16:creationId xmlns:a16="http://schemas.microsoft.com/office/drawing/2014/main" id="{2DDB3724-BF40-C160-AAFF-B939B8B10D62}"/>
              </a:ext>
            </a:extLst>
          </p:cNvPr>
          <p:cNvCxnSpPr>
            <a:cxnSpLocks/>
            <a:stCxn id="6" idx="0"/>
            <a:endCxn id="52" idx="3"/>
          </p:cNvCxnSpPr>
          <p:nvPr/>
        </p:nvCxnSpPr>
        <p:spPr>
          <a:xfrm rot="16200000" flipH="1" flipV="1">
            <a:off x="5420908" y="2070260"/>
            <a:ext cx="1172628" cy="1715798"/>
          </a:xfrm>
          <a:prstGeom prst="bentConnector4">
            <a:avLst>
              <a:gd name="adj1" fmla="val -19495"/>
              <a:gd name="adj2" fmla="val 84482"/>
            </a:avLst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" name="Conector reto 60">
            <a:extLst>
              <a:ext uri="{FF2B5EF4-FFF2-40B4-BE49-F238E27FC236}">
                <a16:creationId xmlns:a16="http://schemas.microsoft.com/office/drawing/2014/main" id="{6FDD6DDA-610E-DC43-2869-2DD6759D4A41}"/>
              </a:ext>
            </a:extLst>
          </p:cNvPr>
          <p:cNvCxnSpPr/>
          <p:nvPr/>
        </p:nvCxnSpPr>
        <p:spPr>
          <a:xfrm flipH="1" flipV="1">
            <a:off x="2143432" y="2210747"/>
            <a:ext cx="2015613" cy="825909"/>
          </a:xfrm>
          <a:prstGeom prst="line">
            <a:avLst/>
          </a:prstGeom>
          <a:ln w="28575" cap="flat" cmpd="sng" algn="ctr">
            <a:solidFill>
              <a:srgbClr val="00B0F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2" name="Conector reto 61">
            <a:extLst>
              <a:ext uri="{FF2B5EF4-FFF2-40B4-BE49-F238E27FC236}">
                <a16:creationId xmlns:a16="http://schemas.microsoft.com/office/drawing/2014/main" id="{8A26EEED-15D9-3038-9DA9-F825404830E1}"/>
              </a:ext>
            </a:extLst>
          </p:cNvPr>
          <p:cNvCxnSpPr>
            <a:cxnSpLocks/>
          </p:cNvCxnSpPr>
          <p:nvPr/>
        </p:nvCxnSpPr>
        <p:spPr>
          <a:xfrm flipH="1">
            <a:off x="2155048" y="3357314"/>
            <a:ext cx="2015613" cy="825909"/>
          </a:xfrm>
          <a:prstGeom prst="line">
            <a:avLst/>
          </a:prstGeom>
          <a:ln w="28575" cap="flat" cmpd="sng" algn="ctr">
            <a:solidFill>
              <a:srgbClr val="00B0F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02992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21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21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49" name="Google Shape;24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1"/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21"/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21"/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54" name="Google Shape;254;p21"/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55" name="Google Shape;255;p21"/>
          <p:cNvSpPr/>
          <p:nvPr/>
        </p:nvSpPr>
        <p:spPr>
          <a:xfrm>
            <a:off x="1638888" y="2974950"/>
            <a:ext cx="7124100" cy="9081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30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56" name="Google Shape;256;p21"/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2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2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4" name="Google Shape;26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2"/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2"/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22"/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69" name="Google Shape;269;p22"/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yy/xx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0" name="Google Shape;270;p22"/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3000" b="1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1" name="Google Shape;271;p22"/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2" name="Google Shape;272;p22"/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3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23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0" name="Google Shape;28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23"/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23"/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23"/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85" name="Google Shape;285;p23"/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yy/xx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86" name="Google Shape;286;p23"/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3000" b="1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87" name="Google Shape;287;p23"/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88" name="Google Shape;288;p23"/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4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24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6" name="Google Shape;29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24"/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24"/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24"/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01" name="Google Shape;301;p24"/>
          <p:cNvSpPr/>
          <p:nvPr/>
        </p:nvSpPr>
        <p:spPr>
          <a:xfrm>
            <a:off x="1638888" y="2974950"/>
            <a:ext cx="7124100" cy="9081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30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02" name="Google Shape;302;p24"/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03" name="Google Shape;303;p24"/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5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25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11" name="Google Shape;311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5"/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25"/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5"/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6" name="Google Shape;316;p25"/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3000" b="1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7" name="Google Shape;317;p25"/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8" name="Google Shape;318;p25"/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xx/xx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9" name="Google Shape;319;p25"/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26"/>
          <p:cNvSpPr/>
          <p:nvPr/>
        </p:nvSpPr>
        <p:spPr>
          <a:xfrm>
            <a:off x="0" y="0"/>
            <a:ext cx="9144000" cy="9081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26" name="Google Shape;326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26"/>
          <p:cNvSpPr txBox="1"/>
          <p:nvPr/>
        </p:nvSpPr>
        <p:spPr>
          <a:xfrm>
            <a:off x="0" y="6566225"/>
            <a:ext cx="91440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29" name="Google Shape;329;p26"/>
          <p:cNvSpPr/>
          <p:nvPr/>
        </p:nvSpPr>
        <p:spPr>
          <a:xfrm>
            <a:off x="1009938" y="2974950"/>
            <a:ext cx="7124100" cy="9081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Obrigado!</a:t>
            </a:r>
            <a:endParaRPr sz="30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30" name="Google Shape;330;p26"/>
          <p:cNvSpPr txBox="1"/>
          <p:nvPr/>
        </p:nvSpPr>
        <p:spPr>
          <a:xfrm>
            <a:off x="29840" y="4293096"/>
            <a:ext cx="9144000" cy="21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Nome do Aluno</a:t>
            </a:r>
            <a:br>
              <a:rPr lang="pt-BR" sz="16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600" b="1" u="sng">
                <a:solidFill>
                  <a:schemeClr val="hlink"/>
                </a:solidFill>
                <a:latin typeface="Helvetica Neue"/>
                <a:ea typeface="Helvetica Neue"/>
                <a:cs typeface="Helvetica Neue"/>
                <a:sym typeface="Helvetica Neue"/>
                <a:hlinkClick r:id="rId5"/>
              </a:rPr>
              <a:t>email.do.aluno@ufrgs.br</a:t>
            </a:r>
            <a:endParaRPr sz="1600" b="1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600" b="1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600" b="1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600" b="1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br>
              <a:rPr lang="pt-BR"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sz="18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6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br>
              <a:rPr lang="pt-BR"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br>
              <a:rPr lang="pt-BR"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sz="1800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endParaRPr sz="2200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31" name="Google Shape;331;p26"/>
          <p:cNvSpPr txBox="1"/>
          <p:nvPr/>
        </p:nvSpPr>
        <p:spPr>
          <a:xfrm>
            <a:off x="0" y="5704800"/>
            <a:ext cx="914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Outubro de 2022</a:t>
            </a:r>
            <a:endParaRPr sz="1600" b="1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28575" cap="flat" cmpd="sng" algn="ctr">
          <a:solidFill>
            <a:schemeClr val="dk1"/>
          </a:solidFill>
          <a:prstDash val="solid"/>
          <a:round/>
          <a:headEnd type="none" w="med" len="med"/>
          <a:tailEnd type="arrow" w="med" len="med"/>
        </a:ln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563</TotalTime>
  <Words>2231</Words>
  <Application>Microsoft Office PowerPoint</Application>
  <PresentationFormat>Apresentação na tela (4:3)</PresentationFormat>
  <Paragraphs>781</Paragraphs>
  <Slides>25</Slides>
  <Notes>25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25</vt:i4>
      </vt:variant>
    </vt:vector>
  </HeadingPairs>
  <TitlesOfParts>
    <vt:vector size="29" baseType="lpstr">
      <vt:lpstr>Helvetica Neue</vt:lpstr>
      <vt:lpstr>Arial</vt:lpstr>
      <vt:lpstr>Calibri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Maxwell Rodrigues</dc:creator>
  <cp:lastModifiedBy>Maxwell Rodrigues</cp:lastModifiedBy>
  <cp:revision>2</cp:revision>
  <dcterms:modified xsi:type="dcterms:W3CDTF">2025-11-30T11:46:31Z</dcterms:modified>
</cp:coreProperties>
</file>